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2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slide+xml" PartName="/ppt/slides/slide12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8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60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</p:sldIdLst>
  <p:sldSz cy="5143500" cx="9144000"/>
  <p:notesSz cx="6858000" cy="9144000"/>
  <p:embeddedFontLst>
    <p:embeddedFont>
      <p:font typeface="Play"/>
      <p:regular r:id="rId19"/>
      <p:bold r:id="rId20"/>
    </p:embeddedFont>
    <p:embeddedFont>
      <p:font typeface="Roboto"/>
      <p:regular r:id="rId21"/>
      <p:bold r:id="rId22"/>
      <p:italic r:id="rId23"/>
      <p:boldItalic r:id="rId24"/>
    </p:embeddedFont>
    <p:embeddedFont>
      <p:font typeface="Quattrocento Sans"/>
      <p:regular r:id="rId25"/>
      <p:bold r:id="rId26"/>
      <p:italic r:id="rId27"/>
      <p:boldItalic r:id="rId28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font" Target="fonts/Play-bold.fntdata"/><Relationship Id="rId22" Type="http://schemas.openxmlformats.org/officeDocument/2006/relationships/font" Target="fonts/Roboto-bold.fntdata"/><Relationship Id="rId21" Type="http://schemas.openxmlformats.org/officeDocument/2006/relationships/font" Target="fonts/Roboto-regular.fntdata"/><Relationship Id="rId24" Type="http://schemas.openxmlformats.org/officeDocument/2006/relationships/font" Target="fonts/Roboto-boldItalic.fntdata"/><Relationship Id="rId23" Type="http://schemas.openxmlformats.org/officeDocument/2006/relationships/font" Target="fonts/Roboto-italic.fntdata"/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26" Type="http://schemas.openxmlformats.org/officeDocument/2006/relationships/font" Target="fonts/QuattrocentoSans-bold.fntdata"/><Relationship Id="rId25" Type="http://schemas.openxmlformats.org/officeDocument/2006/relationships/font" Target="fonts/QuattrocentoSans-regular.fntdata"/><Relationship Id="rId28" Type="http://schemas.openxmlformats.org/officeDocument/2006/relationships/font" Target="fonts/QuattrocentoSans-boldItalic.fntdata"/><Relationship Id="rId27" Type="http://schemas.openxmlformats.org/officeDocument/2006/relationships/font" Target="fonts/QuattrocentoSans-italic.fntdata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8" Type="http://schemas.openxmlformats.org/officeDocument/2006/relationships/slide" Target="slides/slide3.xml"/><Relationship Id="rId11" Type="http://schemas.openxmlformats.org/officeDocument/2006/relationships/slide" Target="slides/slide6.xml"/><Relationship Id="rId10" Type="http://schemas.openxmlformats.org/officeDocument/2006/relationships/slide" Target="slides/slide5.xml"/><Relationship Id="rId13" Type="http://schemas.openxmlformats.org/officeDocument/2006/relationships/slide" Target="slides/slide8.xml"/><Relationship Id="rId12" Type="http://schemas.openxmlformats.org/officeDocument/2006/relationships/slide" Target="slides/slide7.xml"/><Relationship Id="rId15" Type="http://schemas.openxmlformats.org/officeDocument/2006/relationships/slide" Target="slides/slide10.xml"/><Relationship Id="rId14" Type="http://schemas.openxmlformats.org/officeDocument/2006/relationships/slide" Target="slides/slide9.xml"/><Relationship Id="rId17" Type="http://schemas.openxmlformats.org/officeDocument/2006/relationships/slide" Target="slides/slide12.xml"/><Relationship Id="rId16" Type="http://schemas.openxmlformats.org/officeDocument/2006/relationships/slide" Target="slides/slide11.xml"/><Relationship Id="rId19" Type="http://schemas.openxmlformats.org/officeDocument/2006/relationships/font" Target="fonts/Play-regular.fntdata"/><Relationship Id="rId18" Type="http://schemas.openxmlformats.org/officeDocument/2006/relationships/slide" Target="slides/slide1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4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6" name="Google Shape;56;p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0" name="Shape 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" name="Google Shape;61;g3f88b2d376c_0_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2" name="Google Shape;62;g3f88b2d376c_0_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6" name="Shape 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" name="Google Shape;67;g3f9be7d255f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8" name="Google Shape;68;g3f9be7d255f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2" name="Shape 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" name="Google Shape;73;g3f9be7d255f_0_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4" name="Google Shape;74;g3f9be7d255f_0_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8" name="Shape 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Google Shape;79;g3f8a7d18ae9_0_3:notes"/>
          <p:cNvSpPr/>
          <p:nvPr>
            <p:ph idx="2" type="sldImg"/>
          </p:nvPr>
        </p:nvSpPr>
        <p:spPr>
          <a:xfrm>
            <a:off x="685800" y="857250"/>
            <a:ext cx="5486400" cy="23145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80" name="Google Shape;80;g3f8a7d18ae9_0_3:notes"/>
          <p:cNvSpPr txBox="1"/>
          <p:nvPr>
            <p:ph idx="1" type="body"/>
          </p:nvPr>
        </p:nvSpPr>
        <p:spPr>
          <a:xfrm>
            <a:off x="685800" y="3300413"/>
            <a:ext cx="5486400" cy="27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1" name="Google Shape;81;g3f8a7d18ae9_0_3:notes"/>
          <p:cNvSpPr txBox="1"/>
          <p:nvPr>
            <p:ph idx="12" type="sldNum"/>
          </p:nvPr>
        </p:nvSpPr>
        <p:spPr>
          <a:xfrm>
            <a:off x="3884613" y="6513910"/>
            <a:ext cx="2971800" cy="3441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2" name="Shape 1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" name="Google Shape;153;g3f8a7d18ae9_0_76:notes"/>
          <p:cNvSpPr/>
          <p:nvPr>
            <p:ph idx="2" type="sldImg"/>
          </p:nvPr>
        </p:nvSpPr>
        <p:spPr>
          <a:xfrm>
            <a:off x="685800" y="857250"/>
            <a:ext cx="5486400" cy="23145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54" name="Google Shape;154;g3f8a7d18ae9_0_76:notes"/>
          <p:cNvSpPr txBox="1"/>
          <p:nvPr>
            <p:ph idx="1" type="body"/>
          </p:nvPr>
        </p:nvSpPr>
        <p:spPr>
          <a:xfrm>
            <a:off x="685800" y="3300413"/>
            <a:ext cx="5486400" cy="27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5" name="Google Shape;155;g3f8a7d18ae9_0_76:notes"/>
          <p:cNvSpPr txBox="1"/>
          <p:nvPr>
            <p:ph idx="12" type="sldNum"/>
          </p:nvPr>
        </p:nvSpPr>
        <p:spPr>
          <a:xfrm>
            <a:off x="3884613" y="6513910"/>
            <a:ext cx="2971800" cy="3441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4" name="Shape 2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" name="Google Shape;225;g3f8a7d18ae9_0_149:notes"/>
          <p:cNvSpPr/>
          <p:nvPr>
            <p:ph idx="2" type="sldImg"/>
          </p:nvPr>
        </p:nvSpPr>
        <p:spPr>
          <a:xfrm>
            <a:off x="685800" y="857250"/>
            <a:ext cx="5486400" cy="23145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26" name="Google Shape;226;g3f8a7d18ae9_0_149:notes"/>
          <p:cNvSpPr txBox="1"/>
          <p:nvPr>
            <p:ph idx="1" type="body"/>
          </p:nvPr>
        </p:nvSpPr>
        <p:spPr>
          <a:xfrm>
            <a:off x="685800" y="3300413"/>
            <a:ext cx="5486400" cy="27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7" name="Google Shape;227;g3f8a7d18ae9_0_149:notes"/>
          <p:cNvSpPr txBox="1"/>
          <p:nvPr>
            <p:ph idx="12" type="sldNum"/>
          </p:nvPr>
        </p:nvSpPr>
        <p:spPr>
          <a:xfrm>
            <a:off x="3884613" y="6513910"/>
            <a:ext cx="2971800" cy="3441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99" name="Shape 2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0" name="Google Shape;300;g3f8a7d18ae9_0_224:notes"/>
          <p:cNvSpPr/>
          <p:nvPr>
            <p:ph idx="2" type="sldImg"/>
          </p:nvPr>
        </p:nvSpPr>
        <p:spPr>
          <a:xfrm>
            <a:off x="685800" y="857250"/>
            <a:ext cx="5486400" cy="23145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01" name="Google Shape;301;g3f8a7d18ae9_0_224:notes"/>
          <p:cNvSpPr txBox="1"/>
          <p:nvPr>
            <p:ph idx="1" type="body"/>
          </p:nvPr>
        </p:nvSpPr>
        <p:spPr>
          <a:xfrm>
            <a:off x="685800" y="3300413"/>
            <a:ext cx="5486400" cy="27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02" name="Google Shape;302;g3f8a7d18ae9_0_224:notes"/>
          <p:cNvSpPr txBox="1"/>
          <p:nvPr>
            <p:ph idx="12" type="sldNum"/>
          </p:nvPr>
        </p:nvSpPr>
        <p:spPr>
          <a:xfrm>
            <a:off x="3884613" y="6513910"/>
            <a:ext cx="2971800" cy="3441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64" name="Shape 3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5" name="Google Shape;365;g3fa23de312d_0_6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66" name="Google Shape;366;g3fa23de312d_0_6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15" name="Shape 6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6" name="Google Shape;616;g3fa49c9c492_0_12:notes"/>
          <p:cNvSpPr/>
          <p:nvPr>
            <p:ph idx="2" type="sldImg"/>
          </p:nvPr>
        </p:nvSpPr>
        <p:spPr>
          <a:xfrm>
            <a:off x="685727" y="857273"/>
            <a:ext cx="5486400" cy="23145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17" name="Google Shape;617;g3fa49c9c492_0_12:notes"/>
          <p:cNvSpPr txBox="1"/>
          <p:nvPr>
            <p:ph idx="1" type="body"/>
          </p:nvPr>
        </p:nvSpPr>
        <p:spPr>
          <a:xfrm>
            <a:off x="685800" y="3300500"/>
            <a:ext cx="5486400" cy="27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fr"/>
              <a:t>Message oral: cette slide résume les use cases prioritaires tirés de l’assessment. Le but n’est pas de dire « IA partout », mais de lier chaque problème à un moyen concret: scan, caméra 3D, OCR, RFID, robots, optimisation ou IA/ML quand la variabilité est élevée.</a:t>
            </a:r>
            <a:endParaRPr/>
          </a:p>
        </p:txBody>
      </p:sp>
      <p:sp>
        <p:nvSpPr>
          <p:cNvPr id="618" name="Google Shape;618;g3fa49c9c492_0_12:notes"/>
          <p:cNvSpPr txBox="1"/>
          <p:nvPr>
            <p:ph idx="12" type="sldNum"/>
          </p:nvPr>
        </p:nvSpPr>
        <p:spPr>
          <a:xfrm>
            <a:off x="3884613" y="6514083"/>
            <a:ext cx="2971800" cy="3441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15" name="Shape 7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6" name="Google Shape;716;g3fa49c9c492_0_117:notes"/>
          <p:cNvSpPr/>
          <p:nvPr>
            <p:ph idx="2" type="sldImg"/>
          </p:nvPr>
        </p:nvSpPr>
        <p:spPr>
          <a:xfrm>
            <a:off x="685727" y="857273"/>
            <a:ext cx="5486400" cy="23145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717" name="Google Shape;717;g3fa49c9c492_0_117:notes"/>
          <p:cNvSpPr txBox="1"/>
          <p:nvPr>
            <p:ph idx="1" type="body"/>
          </p:nvPr>
        </p:nvSpPr>
        <p:spPr>
          <a:xfrm>
            <a:off x="685800" y="3300500"/>
            <a:ext cx="5486400" cy="27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fr"/>
              <a:t>Message oral: en réception, il faut montrer que l’intelligence commence par la capture fiable de données: tapis roulant, scan, caméra 3D, OCR et règles d’exception. L’IA/ML est utile surtout pour prévoir la charge ou détecter des défauts complexes.</a:t>
            </a:r>
            <a:endParaRPr/>
          </a:p>
        </p:txBody>
      </p:sp>
      <p:sp>
        <p:nvSpPr>
          <p:cNvPr id="718" name="Google Shape;718;g3fa49c9c492_0_117:notes"/>
          <p:cNvSpPr txBox="1"/>
          <p:nvPr>
            <p:ph idx="12" type="sldNum"/>
          </p:nvPr>
        </p:nvSpPr>
        <p:spPr>
          <a:xfrm>
            <a:off x="3884613" y="6514083"/>
            <a:ext cx="2971800" cy="3441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40" name="Shape 8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1" name="Google Shape;841;g3fa49c9c492_0_231:notes"/>
          <p:cNvSpPr/>
          <p:nvPr>
            <p:ph idx="2" type="sldImg"/>
          </p:nvPr>
        </p:nvSpPr>
        <p:spPr>
          <a:xfrm>
            <a:off x="685727" y="857273"/>
            <a:ext cx="5486400" cy="23145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842" name="Google Shape;842;g3fa49c9c492_0_231:notes"/>
          <p:cNvSpPr txBox="1"/>
          <p:nvPr>
            <p:ph idx="1" type="body"/>
          </p:nvPr>
        </p:nvSpPr>
        <p:spPr>
          <a:xfrm>
            <a:off x="685800" y="3300500"/>
            <a:ext cx="5486400" cy="27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fr"/>
              <a:t>Message oral: en stockage, les meilleurs use cases concernent la fiabilité du stock, le choix d’emplacement, le réapprovisionnement et la congestion. Ici l’optimisation et le ML sont plus justifiés que la simple IA générative.</a:t>
            </a:r>
            <a:endParaRPr/>
          </a:p>
        </p:txBody>
      </p:sp>
      <p:sp>
        <p:nvSpPr>
          <p:cNvPr id="843" name="Google Shape;843;g3fa49c9c492_0_231:notes"/>
          <p:cNvSpPr txBox="1"/>
          <p:nvPr>
            <p:ph idx="12" type="sldNum"/>
          </p:nvPr>
        </p:nvSpPr>
        <p:spPr>
          <a:xfrm>
            <a:off x="3884613" y="6514083"/>
            <a:ext cx="2971800" cy="3441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49" name="Shape 9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0" name="Google Shape;950;g3fa49c9c492_0_345:notes"/>
          <p:cNvSpPr/>
          <p:nvPr>
            <p:ph idx="2" type="sldImg"/>
          </p:nvPr>
        </p:nvSpPr>
        <p:spPr>
          <a:xfrm>
            <a:off x="685727" y="857273"/>
            <a:ext cx="5486400" cy="23145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951" name="Google Shape;951;g3fa49c9c492_0_345:notes"/>
          <p:cNvSpPr txBox="1"/>
          <p:nvPr>
            <p:ph idx="1" type="body"/>
          </p:nvPr>
        </p:nvSpPr>
        <p:spPr>
          <a:xfrm>
            <a:off x="685800" y="3300500"/>
            <a:ext cx="5486400" cy="27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fr"/>
              <a:t>Message oral: en expédition, on se concentre sur l’orchestration: waves, allocation, affectation des tâches, parcours picking, contrôles packing et chargement. Les dispositifs sont RF, Pick-to-Light, balance, caméra et optimisation.</a:t>
            </a:r>
            <a:endParaRPr/>
          </a:p>
        </p:txBody>
      </p:sp>
      <p:sp>
        <p:nvSpPr>
          <p:cNvPr id="952" name="Google Shape;952;g3fa49c9c492_0_345:notes"/>
          <p:cNvSpPr txBox="1"/>
          <p:nvPr>
            <p:ph idx="12" type="sldNum"/>
          </p:nvPr>
        </p:nvSpPr>
        <p:spPr>
          <a:xfrm>
            <a:off x="3884613" y="6514083"/>
            <a:ext cx="2971800" cy="3441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"/>
              <a:t>‹#›</a:t>
            </a:fld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11" name="Google Shape;11;p2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12" name="Google Shape;12;p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3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5" name="Google Shape;15;p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8" name="Google Shape;18;p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9" name="Google Shape;19;p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2" name="Google Shape;22;p5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3" name="Google Shape;23;p5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4" name="Google Shape;24;p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7" name="Google Shape;27;p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30" name="Google Shape;30;p7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1" name="Google Shape;31;p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34" name="Google Shape;34;p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" name="Google Shape;37;p9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38" name="Google Shape;38;p9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39" name="Google Shape;39;p9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0" name="Google Shape;40;p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43" name="Google Shape;43;p1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7" name="Google Shape;47;p1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STER">
  <p:cSld name="MASTER">
    <p:bg>
      <p:bgPr>
        <a:solidFill>
          <a:srgbClr val="F7F9FC"/>
        </a:solidFill>
      </p:bgPr>
    </p:bg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13"/>
          <p:cNvSpPr/>
          <p:nvPr/>
        </p:nvSpPr>
        <p:spPr>
          <a:xfrm>
            <a:off x="0" y="0"/>
            <a:ext cx="9143700" cy="54900"/>
          </a:xfrm>
          <a:prstGeom prst="rect">
            <a:avLst/>
          </a:prstGeom>
          <a:solidFill>
            <a:srgbClr val="1B2A41"/>
          </a:solidFill>
          <a:ln cap="flat" cmpd="sng" w="9525">
            <a:solidFill>
              <a:srgbClr val="1B2A4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2" name="Google Shape;52;p13"/>
          <p:cNvSpPr/>
          <p:nvPr/>
        </p:nvSpPr>
        <p:spPr>
          <a:xfrm>
            <a:off x="308610" y="4889754"/>
            <a:ext cx="4046100" cy="12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B7280"/>
              </a:buClr>
              <a:buSzPts val="600"/>
              <a:buFont typeface="Arial"/>
              <a:buNone/>
            </a:pPr>
            <a:r>
              <a:rPr b="0" i="0" lang="fr" sz="600" u="none" cap="none" strike="noStrike">
                <a:solidFill>
                  <a:srgbClr val="6B7280"/>
                </a:solidFill>
                <a:latin typeface="Arial"/>
                <a:ea typeface="Arial"/>
                <a:cs typeface="Arial"/>
                <a:sym typeface="Arial"/>
              </a:rPr>
              <a:t>BENCHMARK • ARCHITECTURE FONCTIONNELLE WMS</a:t>
            </a:r>
            <a:endParaRPr b="0" i="0" sz="6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3" name="Google Shape;53;p13"/>
          <p:cNvSpPr txBox="1"/>
          <p:nvPr>
            <p:ph idx="12" type="sldNum"/>
          </p:nvPr>
        </p:nvSpPr>
        <p:spPr>
          <a:xfrm>
            <a:off x="8606790" y="4855464"/>
            <a:ext cx="600000" cy="2250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0" lvl="0" marL="0" marR="0" algn="l">
              <a:spcBef>
                <a:spcPts val="0"/>
              </a:spcBef>
              <a:buNone/>
              <a:defRPr b="0" i="0" sz="600" u="none" cap="none" strike="noStrike">
                <a:solidFill>
                  <a:srgbClr val="6B7280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l">
              <a:spcBef>
                <a:spcPts val="0"/>
              </a:spcBef>
              <a:buNone/>
              <a:defRPr b="0" i="0" sz="600" u="none" cap="none" strike="noStrike">
                <a:solidFill>
                  <a:srgbClr val="6B7280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l">
              <a:spcBef>
                <a:spcPts val="0"/>
              </a:spcBef>
              <a:buNone/>
              <a:defRPr b="0" i="0" sz="600" u="none" cap="none" strike="noStrike">
                <a:solidFill>
                  <a:srgbClr val="6B7280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l">
              <a:spcBef>
                <a:spcPts val="0"/>
              </a:spcBef>
              <a:buNone/>
              <a:defRPr b="0" i="0" sz="600" u="none" cap="none" strike="noStrike">
                <a:solidFill>
                  <a:srgbClr val="6B7280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l">
              <a:spcBef>
                <a:spcPts val="0"/>
              </a:spcBef>
              <a:buNone/>
              <a:defRPr b="0" i="0" sz="600" u="none" cap="none" strike="noStrike">
                <a:solidFill>
                  <a:srgbClr val="6B7280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l">
              <a:spcBef>
                <a:spcPts val="0"/>
              </a:spcBef>
              <a:buNone/>
              <a:defRPr b="0" i="0" sz="600" u="none" cap="none" strike="noStrike">
                <a:solidFill>
                  <a:srgbClr val="6B7280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l">
              <a:spcBef>
                <a:spcPts val="0"/>
              </a:spcBef>
              <a:buNone/>
              <a:defRPr b="0" i="0" sz="600" u="none" cap="none" strike="noStrike">
                <a:solidFill>
                  <a:srgbClr val="6B7280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l">
              <a:spcBef>
                <a:spcPts val="0"/>
              </a:spcBef>
              <a:buNone/>
              <a:defRPr b="0" i="0" sz="600" u="none" cap="none" strike="noStrike">
                <a:solidFill>
                  <a:srgbClr val="6B7280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l">
              <a:spcBef>
                <a:spcPts val="0"/>
              </a:spcBef>
              <a:buNone/>
              <a:defRPr b="0" i="0" sz="600" u="none" cap="none" strike="noStrike">
                <a:solidFill>
                  <a:srgbClr val="6B728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3" Type="http://schemas.openxmlformats.org/officeDocument/2006/relationships/theme" Target="../theme/theme1.xml"/><Relationship Id="rId12" Type="http://schemas.openxmlformats.org/officeDocument/2006/relationships/slideLayout" Target="../slideLayouts/slideLayout12.xml"/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indent="-3175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indent="-3175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indent="-3175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indent="-3175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indent="-3175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indent="-3175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indent="-3175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indent="-3175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1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13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7" name="Shape 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" name="Google Shape;58;p14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fr"/>
              <a:t>SMart warehouse Mgt Systems </a:t>
            </a:r>
            <a:endParaRPr/>
          </a:p>
        </p:txBody>
      </p:sp>
      <p:sp>
        <p:nvSpPr>
          <p:cNvPr id="59" name="Google Shape;59;p14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3" name="Shape 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" name="Google Shape;64;p1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fr"/>
              <a:t>WMS Bencharking solution </a:t>
            </a:r>
            <a:endParaRPr/>
          </a:p>
        </p:txBody>
      </p:sp>
      <p:sp>
        <p:nvSpPr>
          <p:cNvPr id="65" name="Google Shape;65;p15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fr"/>
              <a:t>-- Manhattan Associates : Reconnu pour sa solution Manhattan Active Warehouse Management, idéal pour les grands détaillants et les réseaux de distribution complexes.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fr"/>
              <a:t>- SAP : Propose SAP Extended Warehouse Management (EWM), une plateforme puissante conçue pour les entreprises utilisant déjà un écosystème SAP. 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fr"/>
              <a:t>- Oracle : Offre Oracle Fusion Cloud Warehouse Management, une solution native cloud adaptée aux chaînes d'approvisionnement étendues.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9" name="Shape 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" name="Google Shape;70;p1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71" name="Google Shape;71;p1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016875" y="1146300"/>
            <a:ext cx="6548451" cy="3820973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5" name="Shape 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" name="Google Shape;76;p17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7" name="Google Shape;77;p17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25000" lnSpcReduction="20000"/>
          </a:bodyPr>
          <a:lstStyle/>
          <a:p>
            <a:pPr indent="0" lvl="0" marL="0" rtl="0" algn="l">
              <a:lnSpc>
                <a:spcPct val="158333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61111"/>
              <a:buFont typeface="Arial"/>
              <a:buNone/>
            </a:pPr>
            <a:r>
              <a:rPr lang="fr">
                <a:solidFill>
                  <a:schemeClr val="dk1"/>
                </a:solidFill>
              </a:rPr>
              <a:t>Mandatory Features</a:t>
            </a:r>
            <a:endParaRPr>
              <a:solidFill>
                <a:schemeClr val="dk1"/>
              </a:solidFill>
            </a:endParaRPr>
          </a:p>
          <a:p>
            <a:pPr indent="-247650" lvl="0" marL="457200" rtl="0" algn="l">
              <a:spcBef>
                <a:spcPts val="600"/>
              </a:spcBef>
              <a:spcAft>
                <a:spcPts val="0"/>
              </a:spcAft>
              <a:buClr>
                <a:srgbClr val="2F3940"/>
              </a:buClr>
              <a:buSzPct val="100000"/>
              <a:buChar char="●"/>
            </a:pPr>
            <a:r>
              <a:rPr lang="fr" sz="1200">
                <a:solidFill>
                  <a:srgbClr val="2F3940"/>
                </a:solidFill>
              </a:rPr>
              <a:t>Receiving</a:t>
            </a:r>
            <a:endParaRPr sz="1200">
              <a:solidFill>
                <a:srgbClr val="2F3940"/>
              </a:solidFill>
            </a:endParaRPr>
          </a:p>
          <a:p>
            <a:pPr indent="-247650" lvl="0" marL="457200" rtl="0" algn="l">
              <a:spcBef>
                <a:spcPts val="0"/>
              </a:spcBef>
              <a:spcAft>
                <a:spcPts val="0"/>
              </a:spcAft>
              <a:buClr>
                <a:srgbClr val="2F3940"/>
              </a:buClr>
              <a:buSzPct val="100000"/>
              <a:buChar char="●"/>
            </a:pPr>
            <a:r>
              <a:rPr lang="fr" sz="1200">
                <a:solidFill>
                  <a:srgbClr val="2F3940"/>
                </a:solidFill>
              </a:rPr>
              <a:t>Inspection/quality</a:t>
            </a:r>
            <a:endParaRPr sz="1200">
              <a:solidFill>
                <a:srgbClr val="2F3940"/>
              </a:solidFill>
            </a:endParaRPr>
          </a:p>
          <a:p>
            <a:pPr indent="-247650" lvl="0" marL="457200" rtl="0" algn="l">
              <a:spcBef>
                <a:spcPts val="0"/>
              </a:spcBef>
              <a:spcAft>
                <a:spcPts val="0"/>
              </a:spcAft>
              <a:buClr>
                <a:srgbClr val="2F3940"/>
              </a:buClr>
              <a:buSzPct val="100000"/>
              <a:buChar char="●"/>
            </a:pPr>
            <a:r>
              <a:rPr lang="fr" sz="1200">
                <a:solidFill>
                  <a:srgbClr val="2F3940"/>
                </a:solidFill>
              </a:rPr>
              <a:t>Put-away</a:t>
            </a:r>
            <a:endParaRPr sz="1200">
              <a:solidFill>
                <a:srgbClr val="2F3940"/>
              </a:solidFill>
            </a:endParaRPr>
          </a:p>
          <a:p>
            <a:pPr indent="-247650" lvl="0" marL="457200" rtl="0" algn="l">
              <a:spcBef>
                <a:spcPts val="0"/>
              </a:spcBef>
              <a:spcAft>
                <a:spcPts val="0"/>
              </a:spcAft>
              <a:buClr>
                <a:srgbClr val="2F3940"/>
              </a:buClr>
              <a:buSzPct val="100000"/>
              <a:buChar char="●"/>
            </a:pPr>
            <a:r>
              <a:rPr lang="fr" sz="1200">
                <a:solidFill>
                  <a:srgbClr val="2F3940"/>
                </a:solidFill>
              </a:rPr>
              <a:t>Cross-docking</a:t>
            </a:r>
            <a:endParaRPr sz="1200">
              <a:solidFill>
                <a:srgbClr val="2F3940"/>
              </a:solidFill>
            </a:endParaRPr>
          </a:p>
          <a:p>
            <a:pPr indent="-247650" lvl="0" marL="457200" rtl="0" algn="l">
              <a:spcBef>
                <a:spcPts val="0"/>
              </a:spcBef>
              <a:spcAft>
                <a:spcPts val="0"/>
              </a:spcAft>
              <a:buClr>
                <a:srgbClr val="2F3940"/>
              </a:buClr>
              <a:buSzPct val="100000"/>
              <a:buChar char="●"/>
            </a:pPr>
            <a:r>
              <a:rPr lang="fr" sz="1200">
                <a:solidFill>
                  <a:srgbClr val="2F3940"/>
                </a:solidFill>
              </a:rPr>
              <a:t>Stock locating</a:t>
            </a:r>
            <a:endParaRPr sz="1200">
              <a:solidFill>
                <a:srgbClr val="2F3940"/>
              </a:solidFill>
            </a:endParaRPr>
          </a:p>
          <a:p>
            <a:pPr indent="-247650" lvl="0" marL="457200" rtl="0" algn="l">
              <a:spcBef>
                <a:spcPts val="0"/>
              </a:spcBef>
              <a:spcAft>
                <a:spcPts val="0"/>
              </a:spcAft>
              <a:buClr>
                <a:srgbClr val="2F3940"/>
              </a:buClr>
              <a:buSzPct val="100000"/>
              <a:buChar char="●"/>
            </a:pPr>
            <a:r>
              <a:rPr lang="fr" sz="1200">
                <a:solidFill>
                  <a:srgbClr val="2F3940"/>
                </a:solidFill>
              </a:rPr>
              <a:t>Inventory management</a:t>
            </a:r>
            <a:endParaRPr sz="1200">
              <a:solidFill>
                <a:srgbClr val="2F3940"/>
              </a:solidFill>
            </a:endParaRPr>
          </a:p>
          <a:p>
            <a:pPr indent="-247650" lvl="0" marL="457200" rtl="0" algn="l">
              <a:spcBef>
                <a:spcPts val="0"/>
              </a:spcBef>
              <a:spcAft>
                <a:spcPts val="0"/>
              </a:spcAft>
              <a:buClr>
                <a:srgbClr val="2F3940"/>
              </a:buClr>
              <a:buSzPct val="100000"/>
              <a:buChar char="●"/>
            </a:pPr>
            <a:r>
              <a:rPr lang="fr" sz="1200">
                <a:solidFill>
                  <a:srgbClr val="2F3940"/>
                </a:solidFill>
              </a:rPr>
              <a:t>Location management</a:t>
            </a:r>
            <a:endParaRPr sz="1200">
              <a:solidFill>
                <a:srgbClr val="2F3940"/>
              </a:solidFill>
            </a:endParaRPr>
          </a:p>
          <a:p>
            <a:pPr indent="-247650" lvl="0" marL="457200" rtl="0" algn="l">
              <a:spcBef>
                <a:spcPts val="0"/>
              </a:spcBef>
              <a:spcAft>
                <a:spcPts val="0"/>
              </a:spcAft>
              <a:buClr>
                <a:srgbClr val="2F3940"/>
              </a:buClr>
              <a:buSzPct val="100000"/>
              <a:buChar char="●"/>
            </a:pPr>
            <a:r>
              <a:rPr lang="fr" sz="1200">
                <a:solidFill>
                  <a:srgbClr val="2F3940"/>
                </a:solidFill>
              </a:rPr>
              <a:t>Replenishment</a:t>
            </a:r>
            <a:endParaRPr sz="1200">
              <a:solidFill>
                <a:srgbClr val="2F3940"/>
              </a:solidFill>
            </a:endParaRPr>
          </a:p>
          <a:p>
            <a:pPr indent="-247650" lvl="0" marL="457200" rtl="0" algn="l">
              <a:spcBef>
                <a:spcPts val="0"/>
              </a:spcBef>
              <a:spcAft>
                <a:spcPts val="0"/>
              </a:spcAft>
              <a:buClr>
                <a:srgbClr val="2F3940"/>
              </a:buClr>
              <a:buSzPct val="100000"/>
              <a:buChar char="●"/>
            </a:pPr>
            <a:r>
              <a:rPr lang="fr" sz="1200">
                <a:solidFill>
                  <a:srgbClr val="2F3940"/>
                </a:solidFill>
              </a:rPr>
              <a:t>Order allocation</a:t>
            </a:r>
            <a:endParaRPr sz="1200">
              <a:solidFill>
                <a:srgbClr val="2F3940"/>
              </a:solidFill>
            </a:endParaRPr>
          </a:p>
          <a:p>
            <a:pPr indent="-247650" lvl="0" marL="457200" rtl="0" algn="l">
              <a:spcBef>
                <a:spcPts val="0"/>
              </a:spcBef>
              <a:spcAft>
                <a:spcPts val="0"/>
              </a:spcAft>
              <a:buClr>
                <a:srgbClr val="2F3940"/>
              </a:buClr>
              <a:buSzPct val="100000"/>
              <a:buChar char="●"/>
            </a:pPr>
            <a:r>
              <a:rPr lang="fr" sz="1200">
                <a:solidFill>
                  <a:srgbClr val="2F3940"/>
                </a:solidFill>
              </a:rPr>
              <a:t>Picking</a:t>
            </a:r>
            <a:endParaRPr sz="1200">
              <a:solidFill>
                <a:srgbClr val="2F3940"/>
              </a:solidFill>
            </a:endParaRPr>
          </a:p>
          <a:p>
            <a:pPr indent="-247650" lvl="0" marL="457200" rtl="0" algn="l">
              <a:spcBef>
                <a:spcPts val="0"/>
              </a:spcBef>
              <a:spcAft>
                <a:spcPts val="0"/>
              </a:spcAft>
              <a:buClr>
                <a:srgbClr val="2F3940"/>
              </a:buClr>
              <a:buSzPct val="100000"/>
              <a:buChar char="●"/>
            </a:pPr>
            <a:r>
              <a:rPr lang="fr" sz="1200">
                <a:solidFill>
                  <a:srgbClr val="2F3940"/>
                </a:solidFill>
              </a:rPr>
              <a:t>Wave planning/management</a:t>
            </a:r>
            <a:endParaRPr sz="1200">
              <a:solidFill>
                <a:srgbClr val="2F3940"/>
              </a:solidFill>
            </a:endParaRPr>
          </a:p>
          <a:p>
            <a:pPr indent="-247650" lvl="0" marL="457200" rtl="0" algn="l">
              <a:spcBef>
                <a:spcPts val="0"/>
              </a:spcBef>
              <a:spcAft>
                <a:spcPts val="0"/>
              </a:spcAft>
              <a:buClr>
                <a:srgbClr val="2F3940"/>
              </a:buClr>
              <a:buSzPct val="100000"/>
              <a:buChar char="●"/>
            </a:pPr>
            <a:r>
              <a:rPr lang="fr" sz="1200">
                <a:solidFill>
                  <a:srgbClr val="2F3940"/>
                </a:solidFill>
              </a:rPr>
              <a:t>Staging</a:t>
            </a:r>
            <a:endParaRPr sz="1200">
              <a:solidFill>
                <a:srgbClr val="2F3940"/>
              </a:solidFill>
            </a:endParaRPr>
          </a:p>
          <a:p>
            <a:pPr indent="-247650" lvl="0" marL="457200" rtl="0" algn="l">
              <a:spcBef>
                <a:spcPts val="0"/>
              </a:spcBef>
              <a:spcAft>
                <a:spcPts val="0"/>
              </a:spcAft>
              <a:buClr>
                <a:srgbClr val="2F3940"/>
              </a:buClr>
              <a:buSzPct val="100000"/>
              <a:buChar char="●"/>
            </a:pPr>
            <a:r>
              <a:rPr lang="fr" sz="1200">
                <a:solidFill>
                  <a:srgbClr val="2F3940"/>
                </a:solidFill>
              </a:rPr>
              <a:t>Packing</a:t>
            </a:r>
            <a:endParaRPr sz="1200">
              <a:solidFill>
                <a:srgbClr val="2F3940"/>
              </a:solidFill>
            </a:endParaRPr>
          </a:p>
          <a:p>
            <a:pPr indent="-247650" lvl="0" marL="457200" rtl="0" algn="l">
              <a:spcBef>
                <a:spcPts val="0"/>
              </a:spcBef>
              <a:spcAft>
                <a:spcPts val="0"/>
              </a:spcAft>
              <a:buClr>
                <a:srgbClr val="2F3940"/>
              </a:buClr>
              <a:buSzPct val="100000"/>
              <a:buChar char="●"/>
            </a:pPr>
            <a:r>
              <a:rPr lang="fr" sz="1200">
                <a:solidFill>
                  <a:srgbClr val="2F3940"/>
                </a:solidFill>
              </a:rPr>
              <a:t>Truck loading</a:t>
            </a:r>
            <a:endParaRPr sz="1200">
              <a:solidFill>
                <a:srgbClr val="2F3940"/>
              </a:solidFill>
            </a:endParaRPr>
          </a:p>
          <a:p>
            <a:pPr indent="-247650" lvl="0" marL="457200" rtl="0" algn="l">
              <a:spcBef>
                <a:spcPts val="0"/>
              </a:spcBef>
              <a:spcAft>
                <a:spcPts val="0"/>
              </a:spcAft>
              <a:buClr>
                <a:srgbClr val="2F3940"/>
              </a:buClr>
              <a:buSzPct val="100000"/>
              <a:buChar char="●"/>
            </a:pPr>
            <a:r>
              <a:rPr lang="fr" sz="1200">
                <a:solidFill>
                  <a:srgbClr val="2F3940"/>
                </a:solidFill>
              </a:rPr>
              <a:t>Manifesting</a:t>
            </a:r>
            <a:endParaRPr sz="1200">
              <a:solidFill>
                <a:srgbClr val="2F3940"/>
              </a:solidFill>
            </a:endParaRPr>
          </a:p>
          <a:p>
            <a:pPr indent="-247650" lvl="0" marL="457200" rtl="0" algn="l">
              <a:spcBef>
                <a:spcPts val="0"/>
              </a:spcBef>
              <a:spcAft>
                <a:spcPts val="0"/>
              </a:spcAft>
              <a:buClr>
                <a:srgbClr val="2F3940"/>
              </a:buClr>
              <a:buSzPct val="100000"/>
              <a:buChar char="●"/>
            </a:pPr>
            <a:r>
              <a:rPr lang="fr" sz="1200">
                <a:solidFill>
                  <a:srgbClr val="2F3940"/>
                </a:solidFill>
              </a:rPr>
              <a:t>Cycle counting</a:t>
            </a:r>
            <a:endParaRPr sz="1200">
              <a:solidFill>
                <a:srgbClr val="2F3940"/>
              </a:solidFill>
            </a:endParaRPr>
          </a:p>
          <a:p>
            <a:pPr indent="-247650" lvl="0" marL="457200" rtl="0" algn="l">
              <a:spcBef>
                <a:spcPts val="0"/>
              </a:spcBef>
              <a:spcAft>
                <a:spcPts val="0"/>
              </a:spcAft>
              <a:buClr>
                <a:srgbClr val="2F3940"/>
              </a:buClr>
              <a:buSzPct val="100000"/>
              <a:buChar char="●"/>
            </a:pPr>
            <a:r>
              <a:rPr lang="fr" sz="1200">
                <a:solidFill>
                  <a:srgbClr val="2F3940"/>
                </a:solidFill>
              </a:rPr>
              <a:t>Shipping</a:t>
            </a:r>
            <a:endParaRPr sz="1200">
              <a:solidFill>
                <a:srgbClr val="2F3940"/>
              </a:solidFill>
            </a:endParaRPr>
          </a:p>
          <a:p>
            <a:pPr indent="-247650" lvl="0" marL="457200" rtl="0" algn="l">
              <a:spcBef>
                <a:spcPts val="0"/>
              </a:spcBef>
              <a:spcAft>
                <a:spcPts val="0"/>
              </a:spcAft>
              <a:buClr>
                <a:srgbClr val="2F3940"/>
              </a:buClr>
              <a:buSzPct val="100000"/>
              <a:buChar char="●"/>
            </a:pPr>
            <a:r>
              <a:rPr lang="fr" sz="1200">
                <a:solidFill>
                  <a:srgbClr val="2F3940"/>
                </a:solidFill>
              </a:rPr>
              <a:t>Automated material handling equipment (MHE) interfaces</a:t>
            </a:r>
            <a:endParaRPr sz="1200">
              <a:solidFill>
                <a:srgbClr val="2F3940"/>
              </a:solidFill>
            </a:endParaRPr>
          </a:p>
          <a:p>
            <a:pPr indent="0" lvl="0" marL="0" rtl="0" algn="l">
              <a:lnSpc>
                <a:spcPct val="158333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ct val="61111"/>
              <a:buFont typeface="Arial"/>
              <a:buNone/>
            </a:pPr>
            <a:r>
              <a:rPr lang="fr">
                <a:solidFill>
                  <a:schemeClr val="dk1"/>
                </a:solidFill>
              </a:rPr>
              <a:t>Common Features</a:t>
            </a:r>
            <a:endParaRPr>
              <a:solidFill>
                <a:schemeClr val="dk1"/>
              </a:solidFill>
            </a:endParaRPr>
          </a:p>
          <a:p>
            <a:pPr indent="-247650" lvl="0" marL="457200" rtl="0" algn="l">
              <a:spcBef>
                <a:spcPts val="600"/>
              </a:spcBef>
              <a:spcAft>
                <a:spcPts val="0"/>
              </a:spcAft>
              <a:buClr>
                <a:srgbClr val="2F3940"/>
              </a:buClr>
              <a:buSzPct val="100000"/>
              <a:buChar char="●"/>
            </a:pPr>
            <a:r>
              <a:rPr lang="fr" sz="1200">
                <a:solidFill>
                  <a:srgbClr val="2F3940"/>
                </a:solidFill>
              </a:rPr>
              <a:t>Workforce/labor management</a:t>
            </a:r>
            <a:endParaRPr sz="1200">
              <a:solidFill>
                <a:srgbClr val="2F3940"/>
              </a:solidFill>
            </a:endParaRPr>
          </a:p>
          <a:p>
            <a:pPr indent="-247650" lvl="0" marL="457200" rtl="0" algn="l">
              <a:spcBef>
                <a:spcPts val="0"/>
              </a:spcBef>
              <a:spcAft>
                <a:spcPts val="0"/>
              </a:spcAft>
              <a:buClr>
                <a:srgbClr val="2F3940"/>
              </a:buClr>
              <a:buSzPct val="100000"/>
              <a:buChar char="●"/>
            </a:pPr>
            <a:r>
              <a:rPr lang="fr" sz="1200">
                <a:solidFill>
                  <a:srgbClr val="2F3940"/>
                </a:solidFill>
              </a:rPr>
              <a:t>Task interleaving</a:t>
            </a:r>
            <a:endParaRPr sz="1200">
              <a:solidFill>
                <a:srgbClr val="2F3940"/>
              </a:solidFill>
            </a:endParaRPr>
          </a:p>
          <a:p>
            <a:pPr indent="-247650" lvl="0" marL="457200" rtl="0" algn="l">
              <a:spcBef>
                <a:spcPts val="0"/>
              </a:spcBef>
              <a:spcAft>
                <a:spcPts val="0"/>
              </a:spcAft>
              <a:buClr>
                <a:srgbClr val="2F3940"/>
              </a:buClr>
              <a:buSzPct val="100000"/>
              <a:buChar char="●"/>
            </a:pPr>
            <a:r>
              <a:rPr lang="fr" sz="1200">
                <a:solidFill>
                  <a:srgbClr val="2F3940"/>
                </a:solidFill>
              </a:rPr>
              <a:t>Slotting</a:t>
            </a:r>
            <a:endParaRPr sz="1200">
              <a:solidFill>
                <a:srgbClr val="2F3940"/>
              </a:solidFill>
            </a:endParaRPr>
          </a:p>
          <a:p>
            <a:pPr indent="-247650" lvl="0" marL="457200" rtl="0" algn="l">
              <a:spcBef>
                <a:spcPts val="0"/>
              </a:spcBef>
              <a:spcAft>
                <a:spcPts val="0"/>
              </a:spcAft>
              <a:buClr>
                <a:srgbClr val="2F3940"/>
              </a:buClr>
              <a:buSzPct val="100000"/>
              <a:buChar char="●"/>
            </a:pPr>
            <a:r>
              <a:rPr lang="fr" sz="1200">
                <a:solidFill>
                  <a:srgbClr val="2F3940"/>
                </a:solidFill>
              </a:rPr>
              <a:t>Yard management</a:t>
            </a:r>
            <a:endParaRPr sz="1200">
              <a:solidFill>
                <a:srgbClr val="2F3940"/>
              </a:solidFill>
            </a:endParaRPr>
          </a:p>
          <a:p>
            <a:pPr indent="-247650" lvl="0" marL="457200" rtl="0" algn="l">
              <a:spcBef>
                <a:spcPts val="0"/>
              </a:spcBef>
              <a:spcAft>
                <a:spcPts val="0"/>
              </a:spcAft>
              <a:buClr>
                <a:srgbClr val="2F3940"/>
              </a:buClr>
              <a:buSzPct val="100000"/>
              <a:buChar char="●"/>
            </a:pPr>
            <a:r>
              <a:rPr lang="fr" sz="1200">
                <a:solidFill>
                  <a:srgbClr val="2F3940"/>
                </a:solidFill>
              </a:rPr>
              <a:t>Dock appointment scheduling</a:t>
            </a:r>
            <a:endParaRPr sz="1200">
              <a:solidFill>
                <a:srgbClr val="2F3940"/>
              </a:solidFill>
            </a:endParaRPr>
          </a:p>
          <a:p>
            <a:pPr indent="-247650" lvl="0" marL="457200" rtl="0" algn="l">
              <a:spcBef>
                <a:spcPts val="0"/>
              </a:spcBef>
              <a:spcAft>
                <a:spcPts val="0"/>
              </a:spcAft>
              <a:buClr>
                <a:srgbClr val="2F3940"/>
              </a:buClr>
              <a:buSzPct val="100000"/>
              <a:buChar char="●"/>
            </a:pPr>
            <a:r>
              <a:rPr lang="fr" sz="1200">
                <a:solidFill>
                  <a:srgbClr val="2F3940"/>
                </a:solidFill>
              </a:rPr>
              <a:t>Voice picking</a:t>
            </a:r>
            <a:endParaRPr sz="1200">
              <a:solidFill>
                <a:srgbClr val="2F3940"/>
              </a:solidFill>
            </a:endParaRPr>
          </a:p>
          <a:p>
            <a:pPr indent="-247650" lvl="0" marL="457200" rtl="0" algn="l">
              <a:spcBef>
                <a:spcPts val="0"/>
              </a:spcBef>
              <a:spcAft>
                <a:spcPts val="0"/>
              </a:spcAft>
              <a:buClr>
                <a:srgbClr val="2F3940"/>
              </a:buClr>
              <a:buSzPct val="100000"/>
              <a:buChar char="●"/>
            </a:pPr>
            <a:r>
              <a:rPr lang="fr" sz="1200">
                <a:solidFill>
                  <a:srgbClr val="2F3940"/>
                </a:solidFill>
              </a:rPr>
              <a:t>Parcel manifesting</a:t>
            </a:r>
            <a:endParaRPr sz="1200">
              <a:solidFill>
                <a:srgbClr val="2F3940"/>
              </a:solidFill>
            </a:endParaRPr>
          </a:p>
          <a:p>
            <a:pPr indent="-247650" lvl="0" marL="457200" rtl="0" algn="l">
              <a:spcBef>
                <a:spcPts val="0"/>
              </a:spcBef>
              <a:spcAft>
                <a:spcPts val="0"/>
              </a:spcAft>
              <a:buClr>
                <a:srgbClr val="2F3940"/>
              </a:buClr>
              <a:buSzPct val="100000"/>
              <a:buChar char="●"/>
            </a:pPr>
            <a:r>
              <a:rPr lang="fr" sz="1200">
                <a:solidFill>
                  <a:srgbClr val="2F3940"/>
                </a:solidFill>
              </a:rPr>
              <a:t>Value-added services, such as light manufacturing/kitting</a:t>
            </a:r>
            <a:endParaRPr sz="1200">
              <a:solidFill>
                <a:srgbClr val="2F3940"/>
              </a:solidFill>
            </a:endParaRPr>
          </a:p>
          <a:p>
            <a:pPr indent="-247650" lvl="0" marL="457200" rtl="0" algn="l">
              <a:spcBef>
                <a:spcPts val="0"/>
              </a:spcBef>
              <a:spcAft>
                <a:spcPts val="0"/>
              </a:spcAft>
              <a:buClr>
                <a:srgbClr val="2F3940"/>
              </a:buClr>
              <a:buSzPct val="100000"/>
              <a:buChar char="●"/>
            </a:pPr>
            <a:r>
              <a:rPr lang="fr" sz="1200">
                <a:solidFill>
                  <a:srgbClr val="2F3940"/>
                </a:solidFill>
              </a:rPr>
              <a:t>Third-party logistics (3PL) billing</a:t>
            </a:r>
            <a:endParaRPr sz="1200">
              <a:solidFill>
                <a:srgbClr val="2F3940"/>
              </a:solidFill>
            </a:endParaRPr>
          </a:p>
          <a:p>
            <a:pPr indent="0" lvl="0" marL="0" rtl="0" algn="l">
              <a:lnSpc>
                <a:spcPct val="158333"/>
              </a:lnSpc>
              <a:spcBef>
                <a:spcPts val="600"/>
              </a:spcBef>
              <a:spcAft>
                <a:spcPts val="0"/>
              </a:spcAft>
              <a:buNone/>
            </a:pPr>
            <a:r>
              <a:rPr lang="fr">
                <a:solidFill>
                  <a:schemeClr val="dk1"/>
                </a:solidFill>
              </a:rPr>
              <a:t>Mandatory Features</a:t>
            </a:r>
            <a:endParaRPr>
              <a:solidFill>
                <a:schemeClr val="dk1"/>
              </a:solidFill>
            </a:endParaRPr>
          </a:p>
          <a:p>
            <a:pPr indent="-247650" lvl="0" marL="457200" rtl="0" algn="l">
              <a:spcBef>
                <a:spcPts val="600"/>
              </a:spcBef>
              <a:spcAft>
                <a:spcPts val="0"/>
              </a:spcAft>
              <a:buClr>
                <a:srgbClr val="2F3940"/>
              </a:buClr>
              <a:buSzPct val="100000"/>
              <a:buChar char="●"/>
            </a:pPr>
            <a:r>
              <a:rPr lang="fr" sz="1200">
                <a:solidFill>
                  <a:srgbClr val="2F3940"/>
                </a:solidFill>
              </a:rPr>
              <a:t>Receiving</a:t>
            </a:r>
            <a:endParaRPr sz="1200">
              <a:solidFill>
                <a:srgbClr val="2F3940"/>
              </a:solidFill>
            </a:endParaRPr>
          </a:p>
          <a:p>
            <a:pPr indent="-247650" lvl="0" marL="457200" rtl="0" algn="l">
              <a:spcBef>
                <a:spcPts val="0"/>
              </a:spcBef>
              <a:spcAft>
                <a:spcPts val="0"/>
              </a:spcAft>
              <a:buClr>
                <a:srgbClr val="2F3940"/>
              </a:buClr>
              <a:buSzPct val="100000"/>
              <a:buChar char="●"/>
            </a:pPr>
            <a:r>
              <a:rPr lang="fr" sz="1200">
                <a:solidFill>
                  <a:srgbClr val="2F3940"/>
                </a:solidFill>
              </a:rPr>
              <a:t>Inspection/quality</a:t>
            </a:r>
            <a:endParaRPr sz="1200">
              <a:solidFill>
                <a:srgbClr val="2F3940"/>
              </a:solidFill>
            </a:endParaRPr>
          </a:p>
          <a:p>
            <a:pPr indent="-247650" lvl="0" marL="457200" rtl="0" algn="l">
              <a:spcBef>
                <a:spcPts val="0"/>
              </a:spcBef>
              <a:spcAft>
                <a:spcPts val="0"/>
              </a:spcAft>
              <a:buClr>
                <a:srgbClr val="2F3940"/>
              </a:buClr>
              <a:buSzPct val="100000"/>
              <a:buChar char="●"/>
            </a:pPr>
            <a:r>
              <a:rPr lang="fr" sz="1200">
                <a:solidFill>
                  <a:srgbClr val="2F3940"/>
                </a:solidFill>
              </a:rPr>
              <a:t>Put-away</a:t>
            </a:r>
            <a:endParaRPr sz="1200">
              <a:solidFill>
                <a:srgbClr val="2F3940"/>
              </a:solidFill>
            </a:endParaRPr>
          </a:p>
          <a:p>
            <a:pPr indent="-247650" lvl="0" marL="457200" rtl="0" algn="l">
              <a:spcBef>
                <a:spcPts val="0"/>
              </a:spcBef>
              <a:spcAft>
                <a:spcPts val="0"/>
              </a:spcAft>
              <a:buClr>
                <a:srgbClr val="2F3940"/>
              </a:buClr>
              <a:buSzPct val="100000"/>
              <a:buChar char="●"/>
            </a:pPr>
            <a:r>
              <a:rPr lang="fr" sz="1200">
                <a:solidFill>
                  <a:srgbClr val="2F3940"/>
                </a:solidFill>
              </a:rPr>
              <a:t>Cross-docking</a:t>
            </a:r>
            <a:endParaRPr sz="1200">
              <a:solidFill>
                <a:srgbClr val="2F3940"/>
              </a:solidFill>
            </a:endParaRPr>
          </a:p>
          <a:p>
            <a:pPr indent="-247650" lvl="0" marL="457200" rtl="0" algn="l">
              <a:spcBef>
                <a:spcPts val="0"/>
              </a:spcBef>
              <a:spcAft>
                <a:spcPts val="0"/>
              </a:spcAft>
              <a:buClr>
                <a:srgbClr val="2F3940"/>
              </a:buClr>
              <a:buSzPct val="100000"/>
              <a:buChar char="●"/>
            </a:pPr>
            <a:r>
              <a:rPr lang="fr" sz="1200">
                <a:solidFill>
                  <a:srgbClr val="2F3940"/>
                </a:solidFill>
              </a:rPr>
              <a:t>Stock locating</a:t>
            </a:r>
            <a:endParaRPr sz="1200">
              <a:solidFill>
                <a:srgbClr val="2F3940"/>
              </a:solidFill>
            </a:endParaRPr>
          </a:p>
          <a:p>
            <a:pPr indent="-247650" lvl="0" marL="457200" rtl="0" algn="l">
              <a:spcBef>
                <a:spcPts val="0"/>
              </a:spcBef>
              <a:spcAft>
                <a:spcPts val="0"/>
              </a:spcAft>
              <a:buClr>
                <a:srgbClr val="2F3940"/>
              </a:buClr>
              <a:buSzPct val="100000"/>
              <a:buChar char="●"/>
            </a:pPr>
            <a:r>
              <a:rPr lang="fr" sz="1200">
                <a:solidFill>
                  <a:srgbClr val="2F3940"/>
                </a:solidFill>
              </a:rPr>
              <a:t>Inventory management</a:t>
            </a:r>
            <a:endParaRPr sz="1200">
              <a:solidFill>
                <a:srgbClr val="2F3940"/>
              </a:solidFill>
            </a:endParaRPr>
          </a:p>
          <a:p>
            <a:pPr indent="-247650" lvl="0" marL="457200" rtl="0" algn="l">
              <a:spcBef>
                <a:spcPts val="0"/>
              </a:spcBef>
              <a:spcAft>
                <a:spcPts val="0"/>
              </a:spcAft>
              <a:buClr>
                <a:srgbClr val="2F3940"/>
              </a:buClr>
              <a:buSzPct val="100000"/>
              <a:buChar char="●"/>
            </a:pPr>
            <a:r>
              <a:rPr lang="fr" sz="1200">
                <a:solidFill>
                  <a:srgbClr val="2F3940"/>
                </a:solidFill>
              </a:rPr>
              <a:t>Location management</a:t>
            </a:r>
            <a:endParaRPr sz="1200">
              <a:solidFill>
                <a:srgbClr val="2F3940"/>
              </a:solidFill>
            </a:endParaRPr>
          </a:p>
          <a:p>
            <a:pPr indent="-247650" lvl="0" marL="457200" rtl="0" algn="l">
              <a:spcBef>
                <a:spcPts val="0"/>
              </a:spcBef>
              <a:spcAft>
                <a:spcPts val="0"/>
              </a:spcAft>
              <a:buClr>
                <a:srgbClr val="2F3940"/>
              </a:buClr>
              <a:buSzPct val="100000"/>
              <a:buChar char="●"/>
            </a:pPr>
            <a:r>
              <a:rPr lang="fr" sz="1200">
                <a:solidFill>
                  <a:srgbClr val="2F3940"/>
                </a:solidFill>
              </a:rPr>
              <a:t>Replenishment</a:t>
            </a:r>
            <a:endParaRPr sz="1200">
              <a:solidFill>
                <a:srgbClr val="2F3940"/>
              </a:solidFill>
            </a:endParaRPr>
          </a:p>
          <a:p>
            <a:pPr indent="-247650" lvl="0" marL="457200" rtl="0" algn="l">
              <a:spcBef>
                <a:spcPts val="0"/>
              </a:spcBef>
              <a:spcAft>
                <a:spcPts val="0"/>
              </a:spcAft>
              <a:buClr>
                <a:srgbClr val="2F3940"/>
              </a:buClr>
              <a:buSzPct val="100000"/>
              <a:buChar char="●"/>
            </a:pPr>
            <a:r>
              <a:rPr lang="fr" sz="1200">
                <a:solidFill>
                  <a:srgbClr val="2F3940"/>
                </a:solidFill>
              </a:rPr>
              <a:t>Order allocation</a:t>
            </a:r>
            <a:endParaRPr sz="1200">
              <a:solidFill>
                <a:srgbClr val="2F3940"/>
              </a:solidFill>
            </a:endParaRPr>
          </a:p>
          <a:p>
            <a:pPr indent="-247650" lvl="0" marL="457200" rtl="0" algn="l">
              <a:spcBef>
                <a:spcPts val="0"/>
              </a:spcBef>
              <a:spcAft>
                <a:spcPts val="0"/>
              </a:spcAft>
              <a:buClr>
                <a:srgbClr val="2F3940"/>
              </a:buClr>
              <a:buSzPct val="100000"/>
              <a:buChar char="●"/>
            </a:pPr>
            <a:r>
              <a:rPr lang="fr" sz="1200">
                <a:solidFill>
                  <a:srgbClr val="2F3940"/>
                </a:solidFill>
              </a:rPr>
              <a:t>Picking</a:t>
            </a:r>
            <a:endParaRPr sz="1200">
              <a:solidFill>
                <a:srgbClr val="2F3940"/>
              </a:solidFill>
            </a:endParaRPr>
          </a:p>
          <a:p>
            <a:pPr indent="-247650" lvl="0" marL="457200" rtl="0" algn="l">
              <a:spcBef>
                <a:spcPts val="0"/>
              </a:spcBef>
              <a:spcAft>
                <a:spcPts val="0"/>
              </a:spcAft>
              <a:buClr>
                <a:srgbClr val="2F3940"/>
              </a:buClr>
              <a:buSzPct val="100000"/>
              <a:buChar char="●"/>
            </a:pPr>
            <a:r>
              <a:rPr lang="fr" sz="1200">
                <a:solidFill>
                  <a:srgbClr val="2F3940"/>
                </a:solidFill>
              </a:rPr>
              <a:t>Wave planning/management</a:t>
            </a:r>
            <a:endParaRPr sz="1200">
              <a:solidFill>
                <a:srgbClr val="2F3940"/>
              </a:solidFill>
            </a:endParaRPr>
          </a:p>
          <a:p>
            <a:pPr indent="-247650" lvl="0" marL="457200" rtl="0" algn="l">
              <a:spcBef>
                <a:spcPts val="0"/>
              </a:spcBef>
              <a:spcAft>
                <a:spcPts val="0"/>
              </a:spcAft>
              <a:buClr>
                <a:srgbClr val="2F3940"/>
              </a:buClr>
              <a:buSzPct val="100000"/>
              <a:buChar char="●"/>
            </a:pPr>
            <a:r>
              <a:rPr lang="fr" sz="1200">
                <a:solidFill>
                  <a:srgbClr val="2F3940"/>
                </a:solidFill>
              </a:rPr>
              <a:t>Staging</a:t>
            </a:r>
            <a:endParaRPr sz="1200">
              <a:solidFill>
                <a:srgbClr val="2F3940"/>
              </a:solidFill>
            </a:endParaRPr>
          </a:p>
          <a:p>
            <a:pPr indent="-247650" lvl="0" marL="457200" rtl="0" algn="l">
              <a:spcBef>
                <a:spcPts val="0"/>
              </a:spcBef>
              <a:spcAft>
                <a:spcPts val="0"/>
              </a:spcAft>
              <a:buClr>
                <a:srgbClr val="2F3940"/>
              </a:buClr>
              <a:buSzPct val="100000"/>
              <a:buChar char="●"/>
            </a:pPr>
            <a:r>
              <a:rPr lang="fr" sz="1200">
                <a:solidFill>
                  <a:srgbClr val="2F3940"/>
                </a:solidFill>
              </a:rPr>
              <a:t>Packing</a:t>
            </a:r>
            <a:endParaRPr sz="1200">
              <a:solidFill>
                <a:srgbClr val="2F3940"/>
              </a:solidFill>
            </a:endParaRPr>
          </a:p>
          <a:p>
            <a:pPr indent="-247650" lvl="0" marL="457200" rtl="0" algn="l">
              <a:spcBef>
                <a:spcPts val="0"/>
              </a:spcBef>
              <a:spcAft>
                <a:spcPts val="0"/>
              </a:spcAft>
              <a:buClr>
                <a:srgbClr val="2F3940"/>
              </a:buClr>
              <a:buSzPct val="100000"/>
              <a:buChar char="●"/>
            </a:pPr>
            <a:r>
              <a:rPr lang="fr" sz="1200">
                <a:solidFill>
                  <a:srgbClr val="2F3940"/>
                </a:solidFill>
              </a:rPr>
              <a:t>Truck loading</a:t>
            </a:r>
            <a:endParaRPr sz="1200">
              <a:solidFill>
                <a:srgbClr val="2F3940"/>
              </a:solidFill>
            </a:endParaRPr>
          </a:p>
          <a:p>
            <a:pPr indent="-247650" lvl="0" marL="457200" rtl="0" algn="l">
              <a:spcBef>
                <a:spcPts val="0"/>
              </a:spcBef>
              <a:spcAft>
                <a:spcPts val="0"/>
              </a:spcAft>
              <a:buClr>
                <a:srgbClr val="2F3940"/>
              </a:buClr>
              <a:buSzPct val="100000"/>
              <a:buChar char="●"/>
            </a:pPr>
            <a:r>
              <a:rPr lang="fr" sz="1200">
                <a:solidFill>
                  <a:srgbClr val="2F3940"/>
                </a:solidFill>
              </a:rPr>
              <a:t>Manifesting</a:t>
            </a:r>
            <a:endParaRPr sz="1200">
              <a:solidFill>
                <a:srgbClr val="2F3940"/>
              </a:solidFill>
            </a:endParaRPr>
          </a:p>
          <a:p>
            <a:pPr indent="-247650" lvl="0" marL="457200" rtl="0" algn="l">
              <a:spcBef>
                <a:spcPts val="0"/>
              </a:spcBef>
              <a:spcAft>
                <a:spcPts val="0"/>
              </a:spcAft>
              <a:buClr>
                <a:srgbClr val="2F3940"/>
              </a:buClr>
              <a:buSzPct val="100000"/>
              <a:buChar char="●"/>
            </a:pPr>
            <a:r>
              <a:rPr lang="fr" sz="1200">
                <a:solidFill>
                  <a:srgbClr val="2F3940"/>
                </a:solidFill>
              </a:rPr>
              <a:t>Cycle counting</a:t>
            </a:r>
            <a:endParaRPr sz="1200">
              <a:solidFill>
                <a:srgbClr val="2F3940"/>
              </a:solidFill>
            </a:endParaRPr>
          </a:p>
          <a:p>
            <a:pPr indent="-247650" lvl="0" marL="457200" rtl="0" algn="l">
              <a:spcBef>
                <a:spcPts val="0"/>
              </a:spcBef>
              <a:spcAft>
                <a:spcPts val="0"/>
              </a:spcAft>
              <a:buClr>
                <a:srgbClr val="2F3940"/>
              </a:buClr>
              <a:buSzPct val="100000"/>
              <a:buChar char="●"/>
            </a:pPr>
            <a:r>
              <a:rPr lang="fr" sz="1200">
                <a:solidFill>
                  <a:srgbClr val="2F3940"/>
                </a:solidFill>
              </a:rPr>
              <a:t>Shipping</a:t>
            </a:r>
            <a:endParaRPr sz="1200">
              <a:solidFill>
                <a:srgbClr val="2F3940"/>
              </a:solidFill>
            </a:endParaRPr>
          </a:p>
          <a:p>
            <a:pPr indent="-247650" lvl="0" marL="457200" rtl="0" algn="l">
              <a:spcBef>
                <a:spcPts val="0"/>
              </a:spcBef>
              <a:spcAft>
                <a:spcPts val="0"/>
              </a:spcAft>
              <a:buClr>
                <a:srgbClr val="2F3940"/>
              </a:buClr>
              <a:buSzPct val="100000"/>
              <a:buChar char="●"/>
            </a:pPr>
            <a:r>
              <a:rPr lang="fr" sz="1200">
                <a:solidFill>
                  <a:srgbClr val="2F3940"/>
                </a:solidFill>
              </a:rPr>
              <a:t>Automated material handling equipment (MHE) interfaces</a:t>
            </a:r>
            <a:endParaRPr sz="1200">
              <a:solidFill>
                <a:srgbClr val="2F3940"/>
              </a:solidFill>
            </a:endParaRPr>
          </a:p>
          <a:p>
            <a:pPr indent="0" lvl="0" marL="0" rtl="0" algn="l">
              <a:lnSpc>
                <a:spcPct val="158333"/>
              </a:lnSpc>
              <a:spcBef>
                <a:spcPts val="600"/>
              </a:spcBef>
              <a:spcAft>
                <a:spcPts val="0"/>
              </a:spcAft>
              <a:buNone/>
            </a:pPr>
            <a:r>
              <a:rPr lang="fr">
                <a:solidFill>
                  <a:schemeClr val="dk1"/>
                </a:solidFill>
              </a:rPr>
              <a:t>Common Features</a:t>
            </a:r>
            <a:endParaRPr>
              <a:solidFill>
                <a:schemeClr val="dk1"/>
              </a:solidFill>
            </a:endParaRPr>
          </a:p>
          <a:p>
            <a:pPr indent="-247650" lvl="0" marL="457200" rtl="0" algn="l">
              <a:spcBef>
                <a:spcPts val="600"/>
              </a:spcBef>
              <a:spcAft>
                <a:spcPts val="0"/>
              </a:spcAft>
              <a:buClr>
                <a:srgbClr val="2F3940"/>
              </a:buClr>
              <a:buSzPct val="100000"/>
              <a:buChar char="●"/>
            </a:pPr>
            <a:r>
              <a:rPr lang="fr" sz="1200">
                <a:solidFill>
                  <a:srgbClr val="2F3940"/>
                </a:solidFill>
              </a:rPr>
              <a:t>Workforce/labor management</a:t>
            </a:r>
            <a:endParaRPr sz="1200">
              <a:solidFill>
                <a:srgbClr val="2F3940"/>
              </a:solidFill>
            </a:endParaRPr>
          </a:p>
          <a:p>
            <a:pPr indent="-247650" lvl="0" marL="457200" rtl="0" algn="l">
              <a:spcBef>
                <a:spcPts val="0"/>
              </a:spcBef>
              <a:spcAft>
                <a:spcPts val="0"/>
              </a:spcAft>
              <a:buClr>
                <a:srgbClr val="2F3940"/>
              </a:buClr>
              <a:buSzPct val="100000"/>
              <a:buChar char="●"/>
            </a:pPr>
            <a:r>
              <a:rPr lang="fr" sz="1200">
                <a:solidFill>
                  <a:srgbClr val="2F3940"/>
                </a:solidFill>
              </a:rPr>
              <a:t>Task interleaving</a:t>
            </a:r>
            <a:endParaRPr sz="1200">
              <a:solidFill>
                <a:srgbClr val="2F3940"/>
              </a:solidFill>
            </a:endParaRPr>
          </a:p>
          <a:p>
            <a:pPr indent="-247650" lvl="0" marL="457200" rtl="0" algn="l">
              <a:spcBef>
                <a:spcPts val="0"/>
              </a:spcBef>
              <a:spcAft>
                <a:spcPts val="0"/>
              </a:spcAft>
              <a:buClr>
                <a:srgbClr val="2F3940"/>
              </a:buClr>
              <a:buSzPct val="100000"/>
              <a:buChar char="●"/>
            </a:pPr>
            <a:r>
              <a:rPr lang="fr" sz="1200">
                <a:solidFill>
                  <a:srgbClr val="2F3940"/>
                </a:solidFill>
              </a:rPr>
              <a:t>Slotting</a:t>
            </a:r>
            <a:endParaRPr sz="1200">
              <a:solidFill>
                <a:srgbClr val="2F3940"/>
              </a:solidFill>
            </a:endParaRPr>
          </a:p>
          <a:p>
            <a:pPr indent="-247650" lvl="0" marL="457200" rtl="0" algn="l">
              <a:spcBef>
                <a:spcPts val="0"/>
              </a:spcBef>
              <a:spcAft>
                <a:spcPts val="0"/>
              </a:spcAft>
              <a:buClr>
                <a:srgbClr val="2F3940"/>
              </a:buClr>
              <a:buSzPct val="100000"/>
              <a:buChar char="●"/>
            </a:pPr>
            <a:r>
              <a:rPr lang="fr" sz="1200">
                <a:solidFill>
                  <a:srgbClr val="2F3940"/>
                </a:solidFill>
              </a:rPr>
              <a:t>Yard management</a:t>
            </a:r>
            <a:endParaRPr sz="1200">
              <a:solidFill>
                <a:srgbClr val="2F3940"/>
              </a:solidFill>
            </a:endParaRPr>
          </a:p>
          <a:p>
            <a:pPr indent="-247650" lvl="0" marL="457200" rtl="0" algn="l">
              <a:spcBef>
                <a:spcPts val="0"/>
              </a:spcBef>
              <a:spcAft>
                <a:spcPts val="0"/>
              </a:spcAft>
              <a:buClr>
                <a:srgbClr val="2F3940"/>
              </a:buClr>
              <a:buSzPct val="100000"/>
              <a:buChar char="●"/>
            </a:pPr>
            <a:r>
              <a:rPr lang="fr" sz="1200">
                <a:solidFill>
                  <a:srgbClr val="2F3940"/>
                </a:solidFill>
              </a:rPr>
              <a:t>Dock appointment scheduling</a:t>
            </a:r>
            <a:endParaRPr sz="1200">
              <a:solidFill>
                <a:srgbClr val="2F3940"/>
              </a:solidFill>
            </a:endParaRPr>
          </a:p>
          <a:p>
            <a:pPr indent="-247650" lvl="0" marL="457200" rtl="0" algn="l">
              <a:spcBef>
                <a:spcPts val="0"/>
              </a:spcBef>
              <a:spcAft>
                <a:spcPts val="0"/>
              </a:spcAft>
              <a:buClr>
                <a:srgbClr val="2F3940"/>
              </a:buClr>
              <a:buSzPct val="100000"/>
              <a:buChar char="●"/>
            </a:pPr>
            <a:r>
              <a:rPr lang="fr" sz="1200">
                <a:solidFill>
                  <a:srgbClr val="2F3940"/>
                </a:solidFill>
              </a:rPr>
              <a:t>Voice picking</a:t>
            </a:r>
            <a:endParaRPr sz="1200">
              <a:solidFill>
                <a:srgbClr val="2F3940"/>
              </a:solidFill>
            </a:endParaRPr>
          </a:p>
          <a:p>
            <a:pPr indent="-247650" lvl="0" marL="457200" rtl="0" algn="l">
              <a:spcBef>
                <a:spcPts val="0"/>
              </a:spcBef>
              <a:spcAft>
                <a:spcPts val="0"/>
              </a:spcAft>
              <a:buClr>
                <a:srgbClr val="2F3940"/>
              </a:buClr>
              <a:buSzPct val="100000"/>
              <a:buChar char="●"/>
            </a:pPr>
            <a:r>
              <a:rPr lang="fr" sz="1200">
                <a:solidFill>
                  <a:srgbClr val="2F3940"/>
                </a:solidFill>
              </a:rPr>
              <a:t>Parcel manifesting</a:t>
            </a:r>
            <a:endParaRPr sz="1200">
              <a:solidFill>
                <a:srgbClr val="2F3940"/>
              </a:solidFill>
            </a:endParaRPr>
          </a:p>
          <a:p>
            <a:pPr indent="-247650" lvl="0" marL="457200" rtl="0" algn="l">
              <a:spcBef>
                <a:spcPts val="0"/>
              </a:spcBef>
              <a:spcAft>
                <a:spcPts val="0"/>
              </a:spcAft>
              <a:buClr>
                <a:srgbClr val="2F3940"/>
              </a:buClr>
              <a:buSzPct val="100000"/>
              <a:buChar char="●"/>
            </a:pPr>
            <a:r>
              <a:rPr lang="fr" sz="1200">
                <a:solidFill>
                  <a:srgbClr val="2F3940"/>
                </a:solidFill>
              </a:rPr>
              <a:t>Value-added services, such as light manufacturing/kitting</a:t>
            </a:r>
            <a:endParaRPr sz="1200">
              <a:solidFill>
                <a:srgbClr val="2F3940"/>
              </a:solidFill>
            </a:endParaRPr>
          </a:p>
          <a:p>
            <a:pPr indent="-247650" lvl="0" marL="457200" rtl="0" algn="l">
              <a:spcBef>
                <a:spcPts val="0"/>
              </a:spcBef>
              <a:spcAft>
                <a:spcPts val="0"/>
              </a:spcAft>
              <a:buClr>
                <a:srgbClr val="2F3940"/>
              </a:buClr>
              <a:buSzPct val="100000"/>
              <a:buChar char="●"/>
            </a:pPr>
            <a:r>
              <a:rPr lang="fr" sz="1200">
                <a:solidFill>
                  <a:srgbClr val="2F3940"/>
                </a:solidFill>
              </a:rPr>
              <a:t>Third-party logistics (3PL) billing</a:t>
            </a:r>
            <a:endParaRPr sz="1200">
              <a:solidFill>
                <a:srgbClr val="2F3940"/>
              </a:solidFill>
            </a:endParaRPr>
          </a:p>
          <a:p>
            <a:pPr indent="0" lvl="0" marL="0" rtl="0" algn="l">
              <a:spcBef>
                <a:spcPts val="60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2" name="Shape 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" name="Google Shape;83;p18"/>
          <p:cNvSpPr/>
          <p:nvPr/>
        </p:nvSpPr>
        <p:spPr>
          <a:xfrm>
            <a:off x="342900" y="185166"/>
            <a:ext cx="2331600" cy="150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E8A8A"/>
              </a:buClr>
              <a:buSzPts val="700"/>
              <a:buFont typeface="Arial"/>
              <a:buNone/>
            </a:pPr>
            <a:r>
              <a:rPr b="1" i="0" lang="fr" sz="700" u="none" cap="none" strike="noStrike">
                <a:solidFill>
                  <a:srgbClr val="0E8A8A"/>
                </a:solidFill>
                <a:latin typeface="Arial"/>
                <a:ea typeface="Arial"/>
                <a:cs typeface="Arial"/>
                <a:sym typeface="Arial"/>
              </a:rPr>
              <a:t>01 • LEADER BENCHMARK</a:t>
            </a:r>
            <a:endParaRPr b="0" i="0" sz="7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4" name="Google Shape;84;p18"/>
          <p:cNvSpPr/>
          <p:nvPr/>
        </p:nvSpPr>
        <p:spPr>
          <a:xfrm>
            <a:off x="342900" y="356616"/>
            <a:ext cx="8160900" cy="363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7324D"/>
              </a:buClr>
              <a:buSzPts val="1900"/>
              <a:buFont typeface="Arial"/>
              <a:buNone/>
            </a:pPr>
            <a:r>
              <a:rPr b="1" i="0" lang="fr" sz="1900" u="none" cap="none" strike="noStrike">
                <a:solidFill>
                  <a:srgbClr val="17324D"/>
                </a:solidFill>
                <a:latin typeface="Arial"/>
                <a:ea typeface="Arial"/>
                <a:cs typeface="Arial"/>
                <a:sym typeface="Arial"/>
              </a:rPr>
              <a:t>Manhattan Active — une exécution d’entrepôt unifiée</a:t>
            </a:r>
            <a:endParaRPr b="0" i="0" sz="19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5" name="Google Shape;85;p18"/>
          <p:cNvSpPr/>
          <p:nvPr/>
        </p:nvSpPr>
        <p:spPr>
          <a:xfrm>
            <a:off x="342900" y="740664"/>
            <a:ext cx="8160900" cy="246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67085"/>
              </a:buClr>
              <a:buSzPts val="900"/>
              <a:buFont typeface="Arial"/>
              <a:buNone/>
            </a:pPr>
            <a:r>
              <a:rPr b="0" i="0" lang="fr" sz="900" u="none" cap="none" strike="noStrike">
                <a:solidFill>
                  <a:srgbClr val="667085"/>
                </a:solidFill>
                <a:latin typeface="Arial"/>
                <a:ea typeface="Arial"/>
                <a:cs typeface="Arial"/>
                <a:sym typeface="Arial"/>
              </a:rPr>
              <a:t>Le WMS est relié aux stocks, aux tâches, aux opérateurs et à l’automatisation.</a:t>
            </a:r>
            <a:endParaRPr b="0" i="0" sz="9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6" name="Google Shape;86;p18"/>
          <p:cNvSpPr/>
          <p:nvPr/>
        </p:nvSpPr>
        <p:spPr>
          <a:xfrm>
            <a:off x="342900" y="1069848"/>
            <a:ext cx="1764900" cy="411600"/>
          </a:xfrm>
          <a:prstGeom prst="roundRect">
            <a:avLst>
              <a:gd fmla="val 20000" name="adj"/>
            </a:avLst>
          </a:prstGeom>
          <a:solidFill>
            <a:srgbClr val="FFFFFF"/>
          </a:solidFill>
          <a:ln cap="flat" cmpd="sng" w="9525">
            <a:solidFill>
              <a:srgbClr val="D9E2EC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7" name="Google Shape;87;p18"/>
          <p:cNvSpPr/>
          <p:nvPr/>
        </p:nvSpPr>
        <p:spPr>
          <a:xfrm>
            <a:off x="432054" y="1165860"/>
            <a:ext cx="219300" cy="219300"/>
          </a:xfrm>
          <a:prstGeom prst="ellipse">
            <a:avLst/>
          </a:prstGeom>
          <a:solidFill>
            <a:srgbClr val="0E8A8A"/>
          </a:solidFill>
          <a:ln cap="flat" cmpd="sng" w="9525">
            <a:solidFill>
              <a:srgbClr val="0E8A8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8" name="Google Shape;88;p18"/>
          <p:cNvSpPr/>
          <p:nvPr/>
        </p:nvSpPr>
        <p:spPr>
          <a:xfrm>
            <a:off x="432054" y="1165860"/>
            <a:ext cx="219300" cy="219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800"/>
              <a:buFont typeface="Arial"/>
              <a:buNone/>
            </a:pPr>
            <a:r>
              <a:rPr b="1" i="0" lang="fr" sz="8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1</a:t>
            </a:r>
            <a:endParaRPr b="0" i="0" sz="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9" name="Google Shape;89;p18"/>
          <p:cNvSpPr/>
          <p:nvPr/>
        </p:nvSpPr>
        <p:spPr>
          <a:xfrm>
            <a:off x="720090" y="1145286"/>
            <a:ext cx="1284900" cy="246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7324D"/>
              </a:buClr>
              <a:buSzPts val="900"/>
              <a:buFont typeface="Arial"/>
              <a:buNone/>
            </a:pPr>
            <a:r>
              <a:rPr b="1" i="0" lang="fr" sz="900" u="none" cap="none" strike="noStrike">
                <a:solidFill>
                  <a:srgbClr val="17324D"/>
                </a:solidFill>
                <a:latin typeface="Arial"/>
                <a:ea typeface="Arial"/>
                <a:cs typeface="Arial"/>
                <a:sym typeface="Arial"/>
              </a:rPr>
              <a:t>Réception</a:t>
            </a:r>
            <a:endParaRPr b="0" i="0" sz="9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90" name="Google Shape;90;p18"/>
          <p:cNvCxnSpPr/>
          <p:nvPr/>
        </p:nvCxnSpPr>
        <p:spPr>
          <a:xfrm>
            <a:off x="2114550" y="1275588"/>
            <a:ext cx="75300" cy="0"/>
          </a:xfrm>
          <a:prstGeom prst="straightConnector1">
            <a:avLst/>
          </a:prstGeom>
          <a:noFill/>
          <a:ln cap="flat" cmpd="sng" w="17150">
            <a:solidFill>
              <a:srgbClr val="9AA7B5"/>
            </a:solidFill>
            <a:prstDash val="solid"/>
            <a:round/>
            <a:headEnd len="sm" w="sm" type="none"/>
            <a:tailEnd len="med" w="med" type="triangle"/>
          </a:ln>
        </p:spPr>
      </p:cxnSp>
      <p:sp>
        <p:nvSpPr>
          <p:cNvPr id="91" name="Google Shape;91;p18"/>
          <p:cNvSpPr/>
          <p:nvPr/>
        </p:nvSpPr>
        <p:spPr>
          <a:xfrm>
            <a:off x="2203704" y="1069848"/>
            <a:ext cx="1764900" cy="411600"/>
          </a:xfrm>
          <a:prstGeom prst="roundRect">
            <a:avLst>
              <a:gd fmla="val 20000" name="adj"/>
            </a:avLst>
          </a:prstGeom>
          <a:solidFill>
            <a:srgbClr val="FFFFFF"/>
          </a:solidFill>
          <a:ln cap="flat" cmpd="sng" w="9525">
            <a:solidFill>
              <a:srgbClr val="D9E2EC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2" name="Google Shape;92;p18"/>
          <p:cNvSpPr/>
          <p:nvPr/>
        </p:nvSpPr>
        <p:spPr>
          <a:xfrm>
            <a:off x="2292858" y="1165860"/>
            <a:ext cx="219300" cy="219300"/>
          </a:xfrm>
          <a:prstGeom prst="ellipse">
            <a:avLst/>
          </a:prstGeom>
          <a:solidFill>
            <a:srgbClr val="0E8A8A"/>
          </a:solidFill>
          <a:ln cap="flat" cmpd="sng" w="9525">
            <a:solidFill>
              <a:srgbClr val="0E8A8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3" name="Google Shape;93;p18"/>
          <p:cNvSpPr/>
          <p:nvPr/>
        </p:nvSpPr>
        <p:spPr>
          <a:xfrm>
            <a:off x="2292858" y="1165860"/>
            <a:ext cx="219300" cy="219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800"/>
              <a:buFont typeface="Arial"/>
              <a:buNone/>
            </a:pPr>
            <a:r>
              <a:rPr b="1" i="0" lang="fr" sz="8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2</a:t>
            </a:r>
            <a:endParaRPr b="0" i="0" sz="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4" name="Google Shape;94;p18"/>
          <p:cNvSpPr/>
          <p:nvPr/>
        </p:nvSpPr>
        <p:spPr>
          <a:xfrm>
            <a:off x="2580894" y="1145286"/>
            <a:ext cx="1284900" cy="246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7324D"/>
              </a:buClr>
              <a:buSzPts val="900"/>
              <a:buFont typeface="Arial"/>
              <a:buNone/>
            </a:pPr>
            <a:r>
              <a:rPr b="1" i="0" lang="fr" sz="900" u="none" cap="none" strike="noStrike">
                <a:solidFill>
                  <a:srgbClr val="17324D"/>
                </a:solidFill>
                <a:latin typeface="Arial"/>
                <a:ea typeface="Arial"/>
                <a:cs typeface="Arial"/>
                <a:sym typeface="Arial"/>
              </a:rPr>
              <a:t>Stockage &amp; inventaire</a:t>
            </a:r>
            <a:endParaRPr b="0" i="0" sz="9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95" name="Google Shape;95;p18"/>
          <p:cNvCxnSpPr/>
          <p:nvPr/>
        </p:nvCxnSpPr>
        <p:spPr>
          <a:xfrm>
            <a:off x="3975354" y="1275588"/>
            <a:ext cx="75300" cy="0"/>
          </a:xfrm>
          <a:prstGeom prst="straightConnector1">
            <a:avLst/>
          </a:prstGeom>
          <a:noFill/>
          <a:ln cap="flat" cmpd="sng" w="17150">
            <a:solidFill>
              <a:srgbClr val="9AA7B5"/>
            </a:solidFill>
            <a:prstDash val="solid"/>
            <a:round/>
            <a:headEnd len="sm" w="sm" type="none"/>
            <a:tailEnd len="med" w="med" type="triangle"/>
          </a:ln>
        </p:spPr>
      </p:cxnSp>
      <p:sp>
        <p:nvSpPr>
          <p:cNvPr id="96" name="Google Shape;96;p18"/>
          <p:cNvSpPr/>
          <p:nvPr/>
        </p:nvSpPr>
        <p:spPr>
          <a:xfrm>
            <a:off x="4064508" y="1069848"/>
            <a:ext cx="1764900" cy="411600"/>
          </a:xfrm>
          <a:prstGeom prst="roundRect">
            <a:avLst>
              <a:gd fmla="val 20000" name="adj"/>
            </a:avLst>
          </a:prstGeom>
          <a:solidFill>
            <a:srgbClr val="FFFFFF"/>
          </a:solidFill>
          <a:ln cap="flat" cmpd="sng" w="9525">
            <a:solidFill>
              <a:srgbClr val="D9E2EC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7" name="Google Shape;97;p18"/>
          <p:cNvSpPr/>
          <p:nvPr/>
        </p:nvSpPr>
        <p:spPr>
          <a:xfrm>
            <a:off x="4153662" y="1165860"/>
            <a:ext cx="219300" cy="219300"/>
          </a:xfrm>
          <a:prstGeom prst="ellipse">
            <a:avLst/>
          </a:prstGeom>
          <a:solidFill>
            <a:srgbClr val="0E8A8A"/>
          </a:solidFill>
          <a:ln cap="flat" cmpd="sng" w="9525">
            <a:solidFill>
              <a:srgbClr val="0E8A8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8" name="Google Shape;98;p18"/>
          <p:cNvSpPr/>
          <p:nvPr/>
        </p:nvSpPr>
        <p:spPr>
          <a:xfrm>
            <a:off x="4153662" y="1165860"/>
            <a:ext cx="219300" cy="219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800"/>
              <a:buFont typeface="Arial"/>
              <a:buNone/>
            </a:pPr>
            <a:r>
              <a:rPr b="1" i="0" lang="fr" sz="8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3</a:t>
            </a:r>
            <a:endParaRPr b="0" i="0" sz="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9" name="Google Shape;99;p18"/>
          <p:cNvSpPr/>
          <p:nvPr/>
        </p:nvSpPr>
        <p:spPr>
          <a:xfrm>
            <a:off x="4441698" y="1145286"/>
            <a:ext cx="1284900" cy="246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7324D"/>
              </a:buClr>
              <a:buSzPts val="900"/>
              <a:buFont typeface="Arial"/>
              <a:buNone/>
            </a:pPr>
            <a:r>
              <a:rPr b="1" i="0" lang="fr" sz="900" u="none" cap="none" strike="noStrike">
                <a:solidFill>
                  <a:srgbClr val="17324D"/>
                </a:solidFill>
                <a:latin typeface="Arial"/>
                <a:ea typeface="Arial"/>
                <a:cs typeface="Arial"/>
                <a:sym typeface="Arial"/>
              </a:rPr>
              <a:t>Préparation &amp; expédition</a:t>
            </a:r>
            <a:endParaRPr b="0" i="0" sz="9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0" name="Google Shape;100;p18"/>
          <p:cNvSpPr/>
          <p:nvPr/>
        </p:nvSpPr>
        <p:spPr>
          <a:xfrm>
            <a:off x="342900" y="1632204"/>
            <a:ext cx="2880600" cy="164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E8A8A"/>
              </a:buClr>
              <a:buSzPts val="700"/>
              <a:buFont typeface="Arial"/>
              <a:buNone/>
            </a:pPr>
            <a:r>
              <a:rPr b="1" i="0" lang="fr" sz="700" u="none" cap="none" strike="noStrike">
                <a:solidFill>
                  <a:srgbClr val="0E8A8A"/>
                </a:solidFill>
                <a:latin typeface="Arial"/>
                <a:ea typeface="Arial"/>
                <a:cs typeface="Arial"/>
                <a:sym typeface="Arial"/>
              </a:rPr>
              <a:t>ARCHITECTURE FONCTIONNELLE SIMPLIFIÉE</a:t>
            </a:r>
            <a:endParaRPr b="0" i="0" sz="7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1" name="Google Shape;101;p18"/>
          <p:cNvSpPr/>
          <p:nvPr/>
        </p:nvSpPr>
        <p:spPr>
          <a:xfrm>
            <a:off x="342900" y="1851660"/>
            <a:ext cx="5658000" cy="1611600"/>
          </a:xfrm>
          <a:prstGeom prst="roundRect">
            <a:avLst>
              <a:gd fmla="val 5106" name="adj"/>
            </a:avLst>
          </a:prstGeom>
          <a:solidFill>
            <a:srgbClr val="FFFFFF"/>
          </a:solidFill>
          <a:ln cap="flat" cmpd="sng" w="9525">
            <a:solidFill>
              <a:srgbClr val="D7E0EA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2" name="Google Shape;102;p18"/>
          <p:cNvSpPr/>
          <p:nvPr/>
        </p:nvSpPr>
        <p:spPr>
          <a:xfrm>
            <a:off x="548640" y="2036826"/>
            <a:ext cx="1440300" cy="397800"/>
          </a:xfrm>
          <a:prstGeom prst="roundRect">
            <a:avLst>
              <a:gd fmla="val 20690" name="adj"/>
            </a:avLst>
          </a:prstGeom>
          <a:solidFill>
            <a:srgbClr val="DFF3F2"/>
          </a:solidFill>
          <a:ln cap="flat" cmpd="sng" w="9525">
            <a:solidFill>
              <a:srgbClr val="C9E8E6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3" name="Google Shape;103;p18"/>
          <p:cNvSpPr/>
          <p:nvPr/>
        </p:nvSpPr>
        <p:spPr>
          <a:xfrm>
            <a:off x="630936" y="2112264"/>
            <a:ext cx="1275600" cy="171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E8A8A"/>
              </a:buClr>
              <a:buSzPts val="900"/>
              <a:buFont typeface="Arial"/>
              <a:buNone/>
            </a:pPr>
            <a:r>
              <a:rPr b="1" i="0" lang="fr" sz="900" u="none" cap="none" strike="noStrike">
                <a:solidFill>
                  <a:srgbClr val="0E8A8A"/>
                </a:solidFill>
                <a:latin typeface="Arial"/>
                <a:ea typeface="Arial"/>
                <a:cs typeface="Arial"/>
                <a:sym typeface="Arial"/>
              </a:rPr>
              <a:t>MANHATTAN ACTIVE</a:t>
            </a:r>
            <a:endParaRPr b="0" i="0" sz="9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4" name="Google Shape;104;p18"/>
          <p:cNvSpPr/>
          <p:nvPr/>
        </p:nvSpPr>
        <p:spPr>
          <a:xfrm>
            <a:off x="630936" y="2269998"/>
            <a:ext cx="1275600" cy="137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667085"/>
              </a:buClr>
              <a:buSzPts val="700"/>
              <a:buFont typeface="Arial"/>
              <a:buNone/>
            </a:pPr>
            <a:r>
              <a:rPr b="0" i="0" lang="fr" sz="700" u="none" cap="none" strike="noStrike">
                <a:solidFill>
                  <a:srgbClr val="667085"/>
                </a:solidFill>
                <a:latin typeface="Arial"/>
                <a:ea typeface="Arial"/>
                <a:cs typeface="Arial"/>
                <a:sym typeface="Arial"/>
              </a:rPr>
              <a:t>Plateforme</a:t>
            </a:r>
            <a:endParaRPr b="0" i="0" sz="7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105" name="Google Shape;105;p18"/>
          <p:cNvCxnSpPr/>
          <p:nvPr/>
        </p:nvCxnSpPr>
        <p:spPr>
          <a:xfrm>
            <a:off x="2002536" y="2235708"/>
            <a:ext cx="294900" cy="0"/>
          </a:xfrm>
          <a:prstGeom prst="straightConnector1">
            <a:avLst/>
          </a:prstGeom>
          <a:noFill/>
          <a:ln cap="flat" cmpd="sng" w="19050">
            <a:solidFill>
              <a:srgbClr val="8CA2B5"/>
            </a:solidFill>
            <a:prstDash val="solid"/>
            <a:round/>
            <a:headEnd len="sm" w="sm" type="none"/>
            <a:tailEnd len="med" w="med" type="triangle"/>
          </a:ln>
        </p:spPr>
      </p:cxnSp>
      <p:sp>
        <p:nvSpPr>
          <p:cNvPr id="106" name="Google Shape;106;p18"/>
          <p:cNvSpPr/>
          <p:nvPr/>
        </p:nvSpPr>
        <p:spPr>
          <a:xfrm>
            <a:off x="2331720" y="1961388"/>
            <a:ext cx="1062900" cy="534900"/>
          </a:xfrm>
          <a:prstGeom prst="roundRect">
            <a:avLst>
              <a:gd fmla="val 15385" name="adj"/>
            </a:avLst>
          </a:prstGeom>
          <a:solidFill>
            <a:srgbClr val="E7F0F7"/>
          </a:solidFill>
          <a:ln cap="flat" cmpd="sng" w="9525">
            <a:solidFill>
              <a:srgbClr val="D0E0EC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7" name="Google Shape;107;p18"/>
          <p:cNvSpPr/>
          <p:nvPr/>
        </p:nvSpPr>
        <p:spPr>
          <a:xfrm>
            <a:off x="2331720" y="2036826"/>
            <a:ext cx="1062900" cy="171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2E6F9E"/>
              </a:buClr>
              <a:buSzPts val="1100"/>
              <a:buFont typeface="Arial"/>
              <a:buNone/>
            </a:pPr>
            <a:r>
              <a:rPr b="1" i="0" lang="fr" sz="1100" u="none" cap="none" strike="noStrike">
                <a:solidFill>
                  <a:srgbClr val="2E6F9E"/>
                </a:solidFill>
                <a:latin typeface="Arial"/>
                <a:ea typeface="Arial"/>
                <a:cs typeface="Arial"/>
                <a:sym typeface="Arial"/>
              </a:rPr>
              <a:t>WMS</a:t>
            </a:r>
            <a:endParaRPr b="0" i="0" sz="11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8" name="Google Shape;108;p18"/>
          <p:cNvSpPr/>
          <p:nvPr/>
        </p:nvSpPr>
        <p:spPr>
          <a:xfrm>
            <a:off x="2434590" y="2228850"/>
            <a:ext cx="857400" cy="137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667085"/>
              </a:buClr>
              <a:buSzPts val="700"/>
              <a:buFont typeface="Arial"/>
              <a:buNone/>
            </a:pPr>
            <a:r>
              <a:rPr b="0" i="0" lang="fr" sz="700" u="none" cap="none" strike="noStrike">
                <a:solidFill>
                  <a:srgbClr val="667085"/>
                </a:solidFill>
                <a:latin typeface="Arial"/>
                <a:ea typeface="Arial"/>
                <a:cs typeface="Arial"/>
                <a:sym typeface="Arial"/>
              </a:rPr>
              <a:t>stocks + commandes</a:t>
            </a:r>
            <a:endParaRPr b="0" i="0" sz="7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109" name="Google Shape;109;p18"/>
          <p:cNvCxnSpPr/>
          <p:nvPr/>
        </p:nvCxnSpPr>
        <p:spPr>
          <a:xfrm>
            <a:off x="3394710" y="2228850"/>
            <a:ext cx="226200" cy="0"/>
          </a:xfrm>
          <a:prstGeom prst="straightConnector1">
            <a:avLst/>
          </a:prstGeom>
          <a:noFill/>
          <a:ln cap="flat" cmpd="sng" w="19050">
            <a:solidFill>
              <a:srgbClr val="8CA2B5"/>
            </a:solidFill>
            <a:prstDash val="solid"/>
            <a:round/>
            <a:headEnd len="sm" w="sm" type="none"/>
            <a:tailEnd len="med" w="med" type="triangle"/>
          </a:ln>
        </p:spPr>
      </p:cxnSp>
      <p:sp>
        <p:nvSpPr>
          <p:cNvPr id="110" name="Google Shape;110;p18"/>
          <p:cNvSpPr/>
          <p:nvPr/>
        </p:nvSpPr>
        <p:spPr>
          <a:xfrm>
            <a:off x="3655314" y="1913382"/>
            <a:ext cx="1062900" cy="630900"/>
          </a:xfrm>
          <a:prstGeom prst="roundRect">
            <a:avLst>
              <a:gd fmla="val 13043" name="adj"/>
            </a:avLst>
          </a:prstGeom>
          <a:solidFill>
            <a:srgbClr val="EEEAF8"/>
          </a:solidFill>
          <a:ln cap="flat" cmpd="sng" w="9525">
            <a:solidFill>
              <a:srgbClr val="DDD4F2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1" name="Google Shape;111;p18"/>
          <p:cNvSpPr/>
          <p:nvPr/>
        </p:nvSpPr>
        <p:spPr>
          <a:xfrm>
            <a:off x="3655314" y="1975104"/>
            <a:ext cx="1062900" cy="164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6D5AA5"/>
              </a:buClr>
              <a:buSzPts val="1000"/>
              <a:buFont typeface="Arial"/>
              <a:buNone/>
            </a:pPr>
            <a:r>
              <a:rPr b="1" i="0" lang="fr" sz="1000" u="none" cap="none" strike="noStrike">
                <a:solidFill>
                  <a:srgbClr val="6D5AA5"/>
                </a:solidFill>
                <a:latin typeface="Arial"/>
                <a:ea typeface="Arial"/>
                <a:cs typeface="Arial"/>
                <a:sym typeface="Arial"/>
              </a:rPr>
              <a:t>Tâches</a:t>
            </a:r>
            <a:endParaRPr b="0" i="0" sz="10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2" name="Google Shape;112;p18"/>
          <p:cNvSpPr/>
          <p:nvPr/>
        </p:nvSpPr>
        <p:spPr>
          <a:xfrm>
            <a:off x="3730752" y="2180844"/>
            <a:ext cx="912300" cy="192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667085"/>
              </a:buClr>
              <a:buSzPts val="600"/>
              <a:buFont typeface="Arial"/>
              <a:buNone/>
            </a:pPr>
            <a:r>
              <a:rPr b="0" i="0" lang="fr" sz="600" u="none" cap="none" strike="noStrike">
                <a:solidFill>
                  <a:srgbClr val="667085"/>
                </a:solidFill>
                <a:latin typeface="Arial"/>
                <a:ea typeface="Arial"/>
                <a:cs typeface="Arial"/>
                <a:sym typeface="Arial"/>
              </a:rPr>
              <a:t>priorité • affectation</a:t>
            </a:r>
            <a:endParaRPr b="0" i="0" sz="6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113" name="Google Shape;113;p18"/>
          <p:cNvCxnSpPr/>
          <p:nvPr/>
        </p:nvCxnSpPr>
        <p:spPr>
          <a:xfrm>
            <a:off x="4718304" y="2228850"/>
            <a:ext cx="219300" cy="0"/>
          </a:xfrm>
          <a:prstGeom prst="straightConnector1">
            <a:avLst/>
          </a:prstGeom>
          <a:noFill/>
          <a:ln cap="flat" cmpd="sng" w="19050">
            <a:solidFill>
              <a:srgbClr val="8CA2B5"/>
            </a:solidFill>
            <a:prstDash val="solid"/>
            <a:round/>
            <a:headEnd len="sm" w="sm" type="none"/>
            <a:tailEnd len="med" w="med" type="triangle"/>
          </a:ln>
        </p:spPr>
      </p:cxnSp>
      <p:sp>
        <p:nvSpPr>
          <p:cNvPr id="114" name="Google Shape;114;p18"/>
          <p:cNvSpPr/>
          <p:nvPr/>
        </p:nvSpPr>
        <p:spPr>
          <a:xfrm>
            <a:off x="4951476" y="1913382"/>
            <a:ext cx="857400" cy="630900"/>
          </a:xfrm>
          <a:prstGeom prst="roundRect">
            <a:avLst>
              <a:gd fmla="val 13043" name="adj"/>
            </a:avLst>
          </a:prstGeom>
          <a:solidFill>
            <a:srgbClr val="FCEBDD"/>
          </a:solidFill>
          <a:ln cap="flat" cmpd="sng" w="9525">
            <a:solidFill>
              <a:srgbClr val="F0D6C1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5" name="Google Shape;115;p18"/>
          <p:cNvSpPr/>
          <p:nvPr/>
        </p:nvSpPr>
        <p:spPr>
          <a:xfrm>
            <a:off x="4951476" y="1988820"/>
            <a:ext cx="857400" cy="164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D97827"/>
              </a:buClr>
              <a:buSzPts val="900"/>
              <a:buFont typeface="Arial"/>
              <a:buNone/>
            </a:pPr>
            <a:r>
              <a:rPr b="1" i="0" lang="fr" sz="900" u="none" cap="none" strike="noStrike">
                <a:solidFill>
                  <a:srgbClr val="D97827"/>
                </a:solidFill>
                <a:latin typeface="Arial"/>
                <a:ea typeface="Arial"/>
                <a:cs typeface="Arial"/>
                <a:sym typeface="Arial"/>
              </a:rPr>
              <a:t>Exécution</a:t>
            </a:r>
            <a:endParaRPr b="0" i="0" sz="9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6" name="Google Shape;116;p18"/>
          <p:cNvSpPr/>
          <p:nvPr/>
        </p:nvSpPr>
        <p:spPr>
          <a:xfrm>
            <a:off x="5006340" y="2187702"/>
            <a:ext cx="733800" cy="164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667085"/>
              </a:buClr>
              <a:buSzPts val="600"/>
              <a:buFont typeface="Arial"/>
              <a:buNone/>
            </a:pPr>
            <a:r>
              <a:rPr b="0" i="0" lang="fr" sz="600" u="none" cap="none" strike="noStrike">
                <a:solidFill>
                  <a:srgbClr val="667085"/>
                </a:solidFill>
                <a:latin typeface="Arial"/>
                <a:ea typeface="Arial"/>
                <a:cs typeface="Arial"/>
                <a:sym typeface="Arial"/>
              </a:rPr>
              <a:t>humain + auto</a:t>
            </a:r>
            <a:endParaRPr b="0" i="0" sz="6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7" name="Google Shape;117;p18"/>
          <p:cNvSpPr/>
          <p:nvPr/>
        </p:nvSpPr>
        <p:spPr>
          <a:xfrm>
            <a:off x="548640" y="2640330"/>
            <a:ext cx="1611600" cy="877800"/>
          </a:xfrm>
          <a:prstGeom prst="roundRect">
            <a:avLst>
              <a:gd fmla="val 9375" name="adj"/>
            </a:avLst>
          </a:prstGeom>
          <a:solidFill>
            <a:srgbClr val="DFF3F2"/>
          </a:solidFill>
          <a:ln cap="flat" cmpd="sng" w="9525">
            <a:solidFill>
              <a:srgbClr val="D9E2EC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8" name="Google Shape;118;p18"/>
          <p:cNvSpPr/>
          <p:nvPr/>
        </p:nvSpPr>
        <p:spPr>
          <a:xfrm>
            <a:off x="651510" y="2722626"/>
            <a:ext cx="1405800" cy="157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E8A8A"/>
              </a:buClr>
              <a:buSzPts val="900"/>
              <a:buFont typeface="Arial"/>
              <a:buNone/>
            </a:pPr>
            <a:r>
              <a:rPr b="1" i="0" lang="fr" sz="900" u="none" cap="none" strike="noStrike">
                <a:solidFill>
                  <a:srgbClr val="0E8A8A"/>
                </a:solidFill>
                <a:latin typeface="Arial"/>
                <a:ea typeface="Arial"/>
                <a:cs typeface="Arial"/>
                <a:sym typeface="Arial"/>
              </a:rPr>
              <a:t>Inbound</a:t>
            </a:r>
            <a:endParaRPr b="0" i="0" sz="9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9" name="Google Shape;119;p18"/>
          <p:cNvSpPr/>
          <p:nvPr/>
        </p:nvSpPr>
        <p:spPr>
          <a:xfrm>
            <a:off x="651510" y="2921508"/>
            <a:ext cx="1419600" cy="137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F2937"/>
              </a:buClr>
              <a:buSzPts val="800"/>
              <a:buFont typeface="Arial"/>
              <a:buNone/>
            </a:pPr>
            <a:r>
              <a:rPr b="0" i="0" lang="fr" sz="800" u="none" cap="none" strike="noStrike">
                <a:solidFill>
                  <a:srgbClr val="1F2937"/>
                </a:solidFill>
                <a:latin typeface="Arial"/>
                <a:ea typeface="Arial"/>
                <a:cs typeface="Arial"/>
                <a:sym typeface="Arial"/>
              </a:rPr>
              <a:t>• Réception</a:t>
            </a:r>
            <a:endParaRPr b="0" i="0" sz="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0" name="Google Shape;120;p18"/>
          <p:cNvSpPr/>
          <p:nvPr/>
        </p:nvSpPr>
        <p:spPr>
          <a:xfrm>
            <a:off x="651510" y="3072384"/>
            <a:ext cx="1419600" cy="137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F2937"/>
              </a:buClr>
              <a:buSzPts val="800"/>
              <a:buFont typeface="Arial"/>
              <a:buNone/>
            </a:pPr>
            <a:r>
              <a:rPr b="0" i="0" lang="fr" sz="800" u="none" cap="none" strike="noStrike">
                <a:solidFill>
                  <a:srgbClr val="1F2937"/>
                </a:solidFill>
                <a:latin typeface="Arial"/>
                <a:ea typeface="Arial"/>
                <a:cs typeface="Arial"/>
                <a:sym typeface="Arial"/>
              </a:rPr>
              <a:t>• Putaway</a:t>
            </a:r>
            <a:endParaRPr b="0" i="0" sz="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1" name="Google Shape;121;p18"/>
          <p:cNvSpPr/>
          <p:nvPr/>
        </p:nvSpPr>
        <p:spPr>
          <a:xfrm>
            <a:off x="651510" y="3223260"/>
            <a:ext cx="1419600" cy="137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F2937"/>
              </a:buClr>
              <a:buSzPts val="800"/>
              <a:buFont typeface="Arial"/>
              <a:buNone/>
            </a:pPr>
            <a:r>
              <a:rPr b="0" i="0" lang="fr" sz="800" u="none" cap="none" strike="noStrike">
                <a:solidFill>
                  <a:srgbClr val="1F2937"/>
                </a:solidFill>
                <a:latin typeface="Arial"/>
                <a:ea typeface="Arial"/>
                <a:cs typeface="Arial"/>
                <a:sym typeface="Arial"/>
              </a:rPr>
              <a:t>• Cross-dock</a:t>
            </a:r>
            <a:endParaRPr b="0" i="0" sz="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2" name="Google Shape;122;p18"/>
          <p:cNvSpPr/>
          <p:nvPr/>
        </p:nvSpPr>
        <p:spPr>
          <a:xfrm>
            <a:off x="2228850" y="2640330"/>
            <a:ext cx="1611600" cy="877800"/>
          </a:xfrm>
          <a:prstGeom prst="roundRect">
            <a:avLst>
              <a:gd fmla="val 9375" name="adj"/>
            </a:avLst>
          </a:prstGeom>
          <a:solidFill>
            <a:srgbClr val="E7F0F7"/>
          </a:solidFill>
          <a:ln cap="flat" cmpd="sng" w="9525">
            <a:solidFill>
              <a:srgbClr val="D9E2EC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3" name="Google Shape;123;p18"/>
          <p:cNvSpPr/>
          <p:nvPr/>
        </p:nvSpPr>
        <p:spPr>
          <a:xfrm>
            <a:off x="2331720" y="2722626"/>
            <a:ext cx="1405800" cy="157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E6F9E"/>
              </a:buClr>
              <a:buSzPts val="900"/>
              <a:buFont typeface="Arial"/>
              <a:buNone/>
            </a:pPr>
            <a:r>
              <a:rPr b="1" i="0" lang="fr" sz="900" u="none" cap="none" strike="noStrike">
                <a:solidFill>
                  <a:srgbClr val="2E6F9E"/>
                </a:solidFill>
                <a:latin typeface="Arial"/>
                <a:ea typeface="Arial"/>
                <a:cs typeface="Arial"/>
                <a:sym typeface="Arial"/>
              </a:rPr>
              <a:t>Inventaire</a:t>
            </a:r>
            <a:endParaRPr b="0" i="0" sz="9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4" name="Google Shape;124;p18"/>
          <p:cNvSpPr/>
          <p:nvPr/>
        </p:nvSpPr>
        <p:spPr>
          <a:xfrm>
            <a:off x="2331720" y="2921508"/>
            <a:ext cx="1419600" cy="137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F2937"/>
              </a:buClr>
              <a:buSzPts val="800"/>
              <a:buFont typeface="Arial"/>
              <a:buNone/>
            </a:pPr>
            <a:r>
              <a:rPr b="0" i="0" lang="fr" sz="800" u="none" cap="none" strike="noStrike">
                <a:solidFill>
                  <a:srgbClr val="1F2937"/>
                </a:solidFill>
                <a:latin typeface="Arial"/>
                <a:ea typeface="Arial"/>
                <a:cs typeface="Arial"/>
                <a:sym typeface="Arial"/>
              </a:rPr>
              <a:t>• Stock</a:t>
            </a:r>
            <a:endParaRPr b="0" i="0" sz="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5" name="Google Shape;125;p18"/>
          <p:cNvSpPr/>
          <p:nvPr/>
        </p:nvSpPr>
        <p:spPr>
          <a:xfrm>
            <a:off x="2331720" y="3072384"/>
            <a:ext cx="1419600" cy="137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F2937"/>
              </a:buClr>
              <a:buSzPts val="800"/>
              <a:buFont typeface="Arial"/>
              <a:buNone/>
            </a:pPr>
            <a:r>
              <a:rPr b="0" i="0" lang="fr" sz="800" u="none" cap="none" strike="noStrike">
                <a:solidFill>
                  <a:srgbClr val="1F2937"/>
                </a:solidFill>
                <a:latin typeface="Arial"/>
                <a:ea typeface="Arial"/>
                <a:cs typeface="Arial"/>
                <a:sym typeface="Arial"/>
              </a:rPr>
              <a:t>• Réapprovisionnement</a:t>
            </a:r>
            <a:endParaRPr b="0" i="0" sz="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6" name="Google Shape;126;p18"/>
          <p:cNvSpPr/>
          <p:nvPr/>
        </p:nvSpPr>
        <p:spPr>
          <a:xfrm>
            <a:off x="2331720" y="3223260"/>
            <a:ext cx="1419600" cy="137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F2937"/>
              </a:buClr>
              <a:buSzPts val="800"/>
              <a:buFont typeface="Arial"/>
              <a:buNone/>
            </a:pPr>
            <a:r>
              <a:rPr b="0" i="0" lang="fr" sz="800" u="none" cap="none" strike="noStrike">
                <a:solidFill>
                  <a:srgbClr val="1F2937"/>
                </a:solidFill>
                <a:latin typeface="Arial"/>
                <a:ea typeface="Arial"/>
                <a:cs typeface="Arial"/>
                <a:sym typeface="Arial"/>
              </a:rPr>
              <a:t>• Inventaire</a:t>
            </a:r>
            <a:endParaRPr b="0" i="0" sz="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7" name="Google Shape;127;p18"/>
          <p:cNvSpPr/>
          <p:nvPr/>
        </p:nvSpPr>
        <p:spPr>
          <a:xfrm>
            <a:off x="3909060" y="2640330"/>
            <a:ext cx="1611600" cy="877800"/>
          </a:xfrm>
          <a:prstGeom prst="roundRect">
            <a:avLst>
              <a:gd fmla="val 9375" name="adj"/>
            </a:avLst>
          </a:prstGeom>
          <a:solidFill>
            <a:srgbClr val="FCEBDD"/>
          </a:solidFill>
          <a:ln cap="flat" cmpd="sng" w="9525">
            <a:solidFill>
              <a:srgbClr val="D9E2EC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8" name="Google Shape;128;p18"/>
          <p:cNvSpPr/>
          <p:nvPr/>
        </p:nvSpPr>
        <p:spPr>
          <a:xfrm>
            <a:off x="4011930" y="2722626"/>
            <a:ext cx="1405800" cy="157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D97827"/>
              </a:buClr>
              <a:buSzPts val="900"/>
              <a:buFont typeface="Arial"/>
              <a:buNone/>
            </a:pPr>
            <a:r>
              <a:rPr b="1" i="0" lang="fr" sz="900" u="none" cap="none" strike="noStrike">
                <a:solidFill>
                  <a:srgbClr val="D97827"/>
                </a:solidFill>
                <a:latin typeface="Arial"/>
                <a:ea typeface="Arial"/>
                <a:cs typeface="Arial"/>
                <a:sym typeface="Arial"/>
              </a:rPr>
              <a:t>Outbound</a:t>
            </a:r>
            <a:endParaRPr b="0" i="0" sz="9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9" name="Google Shape;129;p18"/>
          <p:cNvSpPr/>
          <p:nvPr/>
        </p:nvSpPr>
        <p:spPr>
          <a:xfrm>
            <a:off x="4011930" y="2921508"/>
            <a:ext cx="1419600" cy="137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F2937"/>
              </a:buClr>
              <a:buSzPts val="800"/>
              <a:buFont typeface="Arial"/>
              <a:buNone/>
            </a:pPr>
            <a:r>
              <a:rPr b="0" i="0" lang="fr" sz="800" u="none" cap="none" strike="noStrike">
                <a:solidFill>
                  <a:srgbClr val="1F2937"/>
                </a:solidFill>
                <a:latin typeface="Arial"/>
                <a:ea typeface="Arial"/>
                <a:cs typeface="Arial"/>
                <a:sym typeface="Arial"/>
              </a:rPr>
              <a:t>• Allocation</a:t>
            </a:r>
            <a:endParaRPr b="0" i="0" sz="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0" name="Google Shape;130;p18"/>
          <p:cNvSpPr/>
          <p:nvPr/>
        </p:nvSpPr>
        <p:spPr>
          <a:xfrm>
            <a:off x="4011930" y="3072384"/>
            <a:ext cx="1419600" cy="137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F2937"/>
              </a:buClr>
              <a:buSzPts val="800"/>
              <a:buFont typeface="Arial"/>
              <a:buNone/>
            </a:pPr>
            <a:r>
              <a:rPr b="0" i="0" lang="fr" sz="800" u="none" cap="none" strike="noStrike">
                <a:solidFill>
                  <a:srgbClr val="1F2937"/>
                </a:solidFill>
                <a:latin typeface="Arial"/>
                <a:ea typeface="Arial"/>
                <a:cs typeface="Arial"/>
                <a:sym typeface="Arial"/>
              </a:rPr>
              <a:t>• Picking</a:t>
            </a:r>
            <a:endParaRPr b="0" i="0" sz="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1" name="Google Shape;131;p18"/>
          <p:cNvSpPr/>
          <p:nvPr/>
        </p:nvSpPr>
        <p:spPr>
          <a:xfrm>
            <a:off x="4011930" y="3223260"/>
            <a:ext cx="1419600" cy="137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F2937"/>
              </a:buClr>
              <a:buSzPts val="800"/>
              <a:buFont typeface="Arial"/>
              <a:buNone/>
            </a:pPr>
            <a:r>
              <a:rPr b="0" i="0" lang="fr" sz="800" u="none" cap="none" strike="noStrike">
                <a:solidFill>
                  <a:srgbClr val="1F2937"/>
                </a:solidFill>
                <a:latin typeface="Arial"/>
                <a:ea typeface="Arial"/>
                <a:cs typeface="Arial"/>
                <a:sym typeface="Arial"/>
              </a:rPr>
              <a:t>• Packing / expédition</a:t>
            </a:r>
            <a:endParaRPr b="0" i="0" sz="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2" name="Google Shape;132;p18"/>
          <p:cNvSpPr/>
          <p:nvPr/>
        </p:nvSpPr>
        <p:spPr>
          <a:xfrm>
            <a:off x="6206490" y="1632204"/>
            <a:ext cx="2503200" cy="164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E8A8A"/>
              </a:buClr>
              <a:buSzPts val="700"/>
              <a:buFont typeface="Arial"/>
              <a:buNone/>
            </a:pPr>
            <a:r>
              <a:rPr b="1" i="0" lang="fr" sz="700" u="none" cap="none" strike="noStrike">
                <a:solidFill>
                  <a:srgbClr val="0E8A8A"/>
                </a:solidFill>
                <a:latin typeface="Arial"/>
                <a:ea typeface="Arial"/>
                <a:cs typeface="Arial"/>
                <a:sym typeface="Arial"/>
              </a:rPr>
              <a:t>CE QUE LA SOLUTION APPORTE</a:t>
            </a:r>
            <a:endParaRPr b="0" i="0" sz="7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3" name="Google Shape;133;p18"/>
          <p:cNvSpPr/>
          <p:nvPr/>
        </p:nvSpPr>
        <p:spPr>
          <a:xfrm>
            <a:off x="6206490" y="1851660"/>
            <a:ext cx="2592300" cy="877800"/>
          </a:xfrm>
          <a:prstGeom prst="roundRect">
            <a:avLst>
              <a:gd fmla="val 9375" name="adj"/>
            </a:avLst>
          </a:prstGeom>
          <a:solidFill>
            <a:srgbClr val="FFFFFF"/>
          </a:solidFill>
          <a:ln cap="flat" cmpd="sng" w="9525">
            <a:solidFill>
              <a:srgbClr val="D9E2EC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4" name="Google Shape;134;p18"/>
          <p:cNvSpPr/>
          <p:nvPr/>
        </p:nvSpPr>
        <p:spPr>
          <a:xfrm>
            <a:off x="6309360" y="1933956"/>
            <a:ext cx="2386500" cy="157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E8A8A"/>
              </a:buClr>
              <a:buSzPts val="900"/>
              <a:buFont typeface="Arial"/>
              <a:buNone/>
            </a:pPr>
            <a:r>
              <a:rPr b="1" i="0" lang="fr" sz="900" u="none" cap="none" strike="noStrike">
                <a:solidFill>
                  <a:srgbClr val="0E8A8A"/>
                </a:solidFill>
                <a:latin typeface="Arial"/>
                <a:ea typeface="Arial"/>
                <a:cs typeface="Arial"/>
                <a:sym typeface="Arial"/>
              </a:rPr>
              <a:t>Fonctions clés</a:t>
            </a:r>
            <a:endParaRPr b="0" i="0" sz="9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5" name="Google Shape;135;p18"/>
          <p:cNvSpPr/>
          <p:nvPr/>
        </p:nvSpPr>
        <p:spPr>
          <a:xfrm>
            <a:off x="6309360" y="2132838"/>
            <a:ext cx="2400300" cy="137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F2937"/>
              </a:buClr>
              <a:buSzPts val="800"/>
              <a:buFont typeface="Arial"/>
              <a:buNone/>
            </a:pPr>
            <a:r>
              <a:rPr b="0" i="0" lang="fr" sz="800" u="none" cap="none" strike="noStrike">
                <a:solidFill>
                  <a:srgbClr val="1F2937"/>
                </a:solidFill>
                <a:latin typeface="Arial"/>
                <a:ea typeface="Arial"/>
                <a:cs typeface="Arial"/>
                <a:sym typeface="Arial"/>
              </a:rPr>
              <a:t>• Gestion du stock</a:t>
            </a:r>
            <a:endParaRPr b="0" i="0" sz="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6" name="Google Shape;136;p18"/>
          <p:cNvSpPr/>
          <p:nvPr/>
        </p:nvSpPr>
        <p:spPr>
          <a:xfrm>
            <a:off x="6309360" y="2283714"/>
            <a:ext cx="2400300" cy="137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F2937"/>
              </a:buClr>
              <a:buSzPts val="800"/>
              <a:buFont typeface="Arial"/>
              <a:buNone/>
            </a:pPr>
            <a:r>
              <a:rPr b="0" i="0" lang="fr" sz="800" u="none" cap="none" strike="noStrike">
                <a:solidFill>
                  <a:srgbClr val="1F2937"/>
                </a:solidFill>
                <a:latin typeface="Arial"/>
                <a:ea typeface="Arial"/>
                <a:cs typeface="Arial"/>
                <a:sym typeface="Arial"/>
              </a:rPr>
              <a:t>• Gestion des tâches</a:t>
            </a:r>
            <a:endParaRPr b="0" i="0" sz="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7" name="Google Shape;137;p18"/>
          <p:cNvSpPr/>
          <p:nvPr/>
        </p:nvSpPr>
        <p:spPr>
          <a:xfrm>
            <a:off x="6309360" y="2434590"/>
            <a:ext cx="2400300" cy="137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F2937"/>
              </a:buClr>
              <a:buSzPts val="800"/>
              <a:buFont typeface="Arial"/>
              <a:buNone/>
            </a:pPr>
            <a:r>
              <a:rPr b="0" i="0" lang="fr" sz="800" u="none" cap="none" strike="noStrike">
                <a:solidFill>
                  <a:srgbClr val="1F2937"/>
                </a:solidFill>
                <a:latin typeface="Arial"/>
                <a:ea typeface="Arial"/>
                <a:cs typeface="Arial"/>
                <a:sym typeface="Arial"/>
              </a:rPr>
              <a:t>• Gestion du travail des opérateurs</a:t>
            </a:r>
            <a:endParaRPr b="0" i="0" sz="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8" name="Google Shape;138;p18"/>
          <p:cNvSpPr/>
          <p:nvPr/>
        </p:nvSpPr>
        <p:spPr>
          <a:xfrm>
            <a:off x="6309360" y="2585466"/>
            <a:ext cx="2400300" cy="137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F2937"/>
              </a:buClr>
              <a:buSzPts val="800"/>
              <a:buFont typeface="Arial"/>
              <a:buNone/>
            </a:pPr>
            <a:r>
              <a:rPr b="0" i="0" lang="fr" sz="800" u="none" cap="none" strike="noStrike">
                <a:solidFill>
                  <a:srgbClr val="1F2937"/>
                </a:solidFill>
                <a:latin typeface="Arial"/>
                <a:ea typeface="Arial"/>
                <a:cs typeface="Arial"/>
                <a:sym typeface="Arial"/>
              </a:rPr>
              <a:t>• Automatisation / robotique</a:t>
            </a:r>
            <a:endParaRPr b="0" i="0" sz="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9" name="Google Shape;139;p18"/>
          <p:cNvSpPr/>
          <p:nvPr/>
        </p:nvSpPr>
        <p:spPr>
          <a:xfrm>
            <a:off x="6206490" y="2846070"/>
            <a:ext cx="1200300" cy="576000"/>
          </a:xfrm>
          <a:prstGeom prst="roundRect">
            <a:avLst>
              <a:gd fmla="val 14286" name="adj"/>
            </a:avLst>
          </a:prstGeom>
          <a:solidFill>
            <a:srgbClr val="DFF3F2"/>
          </a:solidFill>
          <a:ln cap="flat" cmpd="sng" w="9525">
            <a:solidFill>
              <a:srgbClr val="D9E2EC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0" name="Google Shape;140;p18"/>
          <p:cNvSpPr/>
          <p:nvPr/>
        </p:nvSpPr>
        <p:spPr>
          <a:xfrm>
            <a:off x="6316218" y="2900934"/>
            <a:ext cx="980700" cy="178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E8A8A"/>
              </a:buClr>
              <a:buSzPts val="1400"/>
              <a:buFont typeface="Arial"/>
              <a:buNone/>
            </a:pPr>
            <a:r>
              <a:rPr b="1" i="0" lang="fr" sz="1400" u="none" cap="none" strike="noStrike">
                <a:solidFill>
                  <a:srgbClr val="0E8A8A"/>
                </a:solidFill>
                <a:latin typeface="Arial"/>
                <a:ea typeface="Arial"/>
                <a:cs typeface="Arial"/>
                <a:sym typeface="Arial"/>
              </a:rPr>
              <a:t>UNIFIÉE</a:t>
            </a:r>
            <a:endParaRPr b="0" i="0" sz="1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1" name="Google Shape;141;p18"/>
          <p:cNvSpPr/>
          <p:nvPr/>
        </p:nvSpPr>
        <p:spPr>
          <a:xfrm>
            <a:off x="6316218" y="3127248"/>
            <a:ext cx="994500" cy="150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67085"/>
              </a:buClr>
              <a:buSzPts val="700"/>
              <a:buFont typeface="Arial"/>
              <a:buNone/>
            </a:pPr>
            <a:r>
              <a:rPr b="1" i="0" lang="fr" sz="700" u="none" cap="none" strike="noStrike">
                <a:solidFill>
                  <a:srgbClr val="667085"/>
                </a:solidFill>
                <a:latin typeface="Arial"/>
                <a:ea typeface="Arial"/>
                <a:cs typeface="Arial"/>
                <a:sym typeface="Arial"/>
              </a:rPr>
              <a:t>Approche</a:t>
            </a:r>
            <a:endParaRPr b="0" i="0" sz="7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2" name="Google Shape;142;p18"/>
          <p:cNvSpPr/>
          <p:nvPr/>
        </p:nvSpPr>
        <p:spPr>
          <a:xfrm>
            <a:off x="7598664" y="2846070"/>
            <a:ext cx="1200300" cy="576000"/>
          </a:xfrm>
          <a:prstGeom prst="roundRect">
            <a:avLst>
              <a:gd fmla="val 14286" name="adj"/>
            </a:avLst>
          </a:prstGeom>
          <a:solidFill>
            <a:srgbClr val="EEF2F6"/>
          </a:solidFill>
          <a:ln cap="flat" cmpd="sng" w="9525">
            <a:solidFill>
              <a:srgbClr val="D9E2EC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3" name="Google Shape;143;p18"/>
          <p:cNvSpPr/>
          <p:nvPr/>
        </p:nvSpPr>
        <p:spPr>
          <a:xfrm>
            <a:off x="7708392" y="2900934"/>
            <a:ext cx="980700" cy="178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7324D"/>
              </a:buClr>
              <a:buSzPts val="1400"/>
              <a:buFont typeface="Arial"/>
              <a:buNone/>
            </a:pPr>
            <a:r>
              <a:rPr b="1" i="0" lang="fr" sz="1400" u="none" cap="none" strike="noStrike">
                <a:solidFill>
                  <a:srgbClr val="17324D"/>
                </a:solidFill>
                <a:latin typeface="Arial"/>
                <a:ea typeface="Arial"/>
                <a:cs typeface="Arial"/>
                <a:sym typeface="Arial"/>
              </a:rPr>
              <a:t>EXÉCUTION</a:t>
            </a:r>
            <a:endParaRPr b="0" i="0" sz="1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4" name="Google Shape;144;p18"/>
          <p:cNvSpPr/>
          <p:nvPr/>
        </p:nvSpPr>
        <p:spPr>
          <a:xfrm>
            <a:off x="7708392" y="3127248"/>
            <a:ext cx="994500" cy="150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67085"/>
              </a:buClr>
              <a:buSzPts val="700"/>
              <a:buFont typeface="Arial"/>
              <a:buNone/>
            </a:pPr>
            <a:r>
              <a:rPr b="1" i="0" lang="fr" sz="700" u="none" cap="none" strike="noStrike">
                <a:solidFill>
                  <a:srgbClr val="667085"/>
                </a:solidFill>
                <a:latin typeface="Arial"/>
                <a:ea typeface="Arial"/>
                <a:cs typeface="Arial"/>
                <a:sym typeface="Arial"/>
              </a:rPr>
              <a:t>Focus</a:t>
            </a:r>
            <a:endParaRPr b="0" i="0" sz="7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5" name="Google Shape;145;p18"/>
          <p:cNvSpPr/>
          <p:nvPr/>
        </p:nvSpPr>
        <p:spPr>
          <a:xfrm>
            <a:off x="6206490" y="3531870"/>
            <a:ext cx="2592300" cy="651600"/>
          </a:xfrm>
          <a:prstGeom prst="roundRect">
            <a:avLst>
              <a:gd fmla="val 12632" name="adj"/>
            </a:avLst>
          </a:prstGeom>
          <a:solidFill>
            <a:srgbClr val="17324D"/>
          </a:solidFill>
          <a:ln cap="flat" cmpd="sng" w="9525">
            <a:solidFill>
              <a:srgbClr val="18344B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6" name="Google Shape;146;p18"/>
          <p:cNvSpPr/>
          <p:nvPr/>
        </p:nvSpPr>
        <p:spPr>
          <a:xfrm>
            <a:off x="6309360" y="3627882"/>
            <a:ext cx="891600" cy="12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BEE8E6"/>
              </a:buClr>
              <a:buSzPts val="700"/>
              <a:buFont typeface="Arial"/>
              <a:buNone/>
            </a:pPr>
            <a:r>
              <a:rPr b="1" i="0" lang="fr" sz="700" u="none" cap="none" strike="noStrike">
                <a:solidFill>
                  <a:srgbClr val="BEE8E6"/>
                </a:solidFill>
                <a:latin typeface="Arial"/>
                <a:ea typeface="Arial"/>
                <a:cs typeface="Arial"/>
                <a:sym typeface="Arial"/>
              </a:rPr>
              <a:t>POINT FORT</a:t>
            </a:r>
            <a:endParaRPr b="0" i="0" sz="7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7" name="Google Shape;147;p18"/>
          <p:cNvSpPr/>
          <p:nvPr/>
        </p:nvSpPr>
        <p:spPr>
          <a:xfrm>
            <a:off x="6309360" y="3785616"/>
            <a:ext cx="2366100" cy="219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Arial"/>
              <a:buNone/>
            </a:pPr>
            <a:r>
              <a:rPr b="1" i="0" lang="fr" sz="10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Connecter la décision à l’exécution réelle.</a:t>
            </a:r>
            <a:endParaRPr b="0" i="0" sz="10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8" name="Google Shape;148;p18"/>
          <p:cNvSpPr/>
          <p:nvPr/>
        </p:nvSpPr>
        <p:spPr>
          <a:xfrm>
            <a:off x="6206490" y="4265676"/>
            <a:ext cx="2592300" cy="397800"/>
          </a:xfrm>
          <a:prstGeom prst="roundRect">
            <a:avLst>
              <a:gd fmla="val 20690" name="adj"/>
            </a:avLst>
          </a:prstGeom>
          <a:solidFill>
            <a:srgbClr val="FFFFFF"/>
          </a:solidFill>
          <a:ln cap="flat" cmpd="sng" w="9525">
            <a:solidFill>
              <a:srgbClr val="D7E0EA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9" name="Google Shape;149;p18"/>
          <p:cNvSpPr/>
          <p:nvPr/>
        </p:nvSpPr>
        <p:spPr>
          <a:xfrm>
            <a:off x="6309360" y="4327398"/>
            <a:ext cx="2386500" cy="260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F2937"/>
              </a:buClr>
              <a:buSzPts val="700"/>
              <a:buFont typeface="Arial"/>
              <a:buNone/>
            </a:pPr>
            <a:r>
              <a:rPr b="0" i="0" lang="fr" sz="700" u="none" cap="none" strike="noStrike">
                <a:solidFill>
                  <a:srgbClr val="1F2937"/>
                </a:solidFill>
                <a:latin typeface="Arial"/>
                <a:ea typeface="Arial"/>
                <a:cs typeface="Arial"/>
                <a:sym typeface="Arial"/>
              </a:rPr>
              <a:t>IA : agents pour aider à débloquer les commandes, rééquilibrer le travail et assister les opérateurs.</a:t>
            </a:r>
            <a:endParaRPr b="0" i="0" sz="7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0" name="Google Shape;150;p18"/>
          <p:cNvSpPr/>
          <p:nvPr/>
        </p:nvSpPr>
        <p:spPr>
          <a:xfrm>
            <a:off x="4114800" y="4882896"/>
            <a:ext cx="4183500" cy="12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7A8699"/>
              </a:buClr>
              <a:buSzPts val="600"/>
              <a:buFont typeface="Arial"/>
              <a:buNone/>
            </a:pPr>
            <a:r>
              <a:rPr b="0" i="1" lang="fr" sz="600" u="none" cap="none" strike="noStrike">
                <a:solidFill>
                  <a:srgbClr val="7A8699"/>
                </a:solidFill>
                <a:latin typeface="Arial"/>
                <a:ea typeface="Arial"/>
                <a:cs typeface="Arial"/>
                <a:sym typeface="Arial"/>
              </a:rPr>
              <a:t>Sources : Manhattan Associates — ActiveWarehouse / WMS / Active Agents.</a:t>
            </a:r>
            <a:endParaRPr b="0" i="0" sz="6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1" name="Google Shape;151;p18"/>
          <p:cNvSpPr txBox="1"/>
          <p:nvPr>
            <p:ph idx="4294967295" type="sldNum"/>
          </p:nvPr>
        </p:nvSpPr>
        <p:spPr>
          <a:xfrm>
            <a:off x="8606790" y="4855464"/>
            <a:ext cx="600000" cy="2250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0" i="0" lang="fr" sz="600" u="none" cap="none" strike="noStrike">
                <a:solidFill>
                  <a:srgbClr val="6B7280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b="0" i="0" sz="600" u="none" cap="none" strike="noStrike">
              <a:solidFill>
                <a:srgbClr val="6B728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6" name="Shape 1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7" name="Google Shape;157;p19"/>
          <p:cNvSpPr/>
          <p:nvPr/>
        </p:nvSpPr>
        <p:spPr>
          <a:xfrm>
            <a:off x="342900" y="185166"/>
            <a:ext cx="2331600" cy="150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E6F9E"/>
              </a:buClr>
              <a:buSzPts val="700"/>
              <a:buFont typeface="Arial"/>
              <a:buNone/>
            </a:pPr>
            <a:r>
              <a:rPr b="1" i="0" lang="fr" sz="700" u="none" cap="none" strike="noStrike">
                <a:solidFill>
                  <a:srgbClr val="2E6F9E"/>
                </a:solidFill>
                <a:latin typeface="Arial"/>
                <a:ea typeface="Arial"/>
                <a:cs typeface="Arial"/>
                <a:sym typeface="Arial"/>
              </a:rPr>
              <a:t>02 • LEADER BENCHMARK</a:t>
            </a:r>
            <a:endParaRPr b="0" i="0" sz="7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8" name="Google Shape;158;p19"/>
          <p:cNvSpPr/>
          <p:nvPr/>
        </p:nvSpPr>
        <p:spPr>
          <a:xfrm>
            <a:off x="342900" y="356616"/>
            <a:ext cx="8160900" cy="363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7324D"/>
              </a:buClr>
              <a:buSzPts val="1900"/>
              <a:buFont typeface="Arial"/>
              <a:buNone/>
            </a:pPr>
            <a:r>
              <a:rPr b="1" i="0" lang="fr" sz="1900" u="none" cap="none" strike="noStrike">
                <a:solidFill>
                  <a:srgbClr val="17324D"/>
                </a:solidFill>
                <a:latin typeface="Arial"/>
                <a:ea typeface="Arial"/>
                <a:cs typeface="Arial"/>
                <a:sym typeface="Arial"/>
              </a:rPr>
              <a:t>SAP EWM — une modélisation détaillée du processus d’entrepôt</a:t>
            </a:r>
            <a:endParaRPr b="0" i="0" sz="19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9" name="Google Shape;159;p19"/>
          <p:cNvSpPr/>
          <p:nvPr/>
        </p:nvSpPr>
        <p:spPr>
          <a:xfrm>
            <a:off x="342900" y="740664"/>
            <a:ext cx="8160900" cy="246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67085"/>
              </a:buClr>
              <a:buSzPts val="900"/>
              <a:buFont typeface="Arial"/>
              <a:buNone/>
            </a:pPr>
            <a:r>
              <a:rPr b="0" i="0" lang="fr" sz="900" u="none" cap="none" strike="noStrike">
                <a:solidFill>
                  <a:srgbClr val="667085"/>
                </a:solidFill>
                <a:latin typeface="Arial"/>
                <a:ea typeface="Arial"/>
                <a:cs typeface="Arial"/>
                <a:sym typeface="Arial"/>
              </a:rPr>
              <a:t>Le WMS décrit finement les produits, les emplacements, les stocks, les lots, les unités et les tâches.</a:t>
            </a:r>
            <a:endParaRPr b="0" i="0" sz="9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0" name="Google Shape;160;p19"/>
          <p:cNvSpPr/>
          <p:nvPr/>
        </p:nvSpPr>
        <p:spPr>
          <a:xfrm>
            <a:off x="342900" y="1069848"/>
            <a:ext cx="1764900" cy="411600"/>
          </a:xfrm>
          <a:prstGeom prst="roundRect">
            <a:avLst>
              <a:gd fmla="val 20000" name="adj"/>
            </a:avLst>
          </a:prstGeom>
          <a:solidFill>
            <a:srgbClr val="FFFFFF"/>
          </a:solidFill>
          <a:ln cap="flat" cmpd="sng" w="9525">
            <a:solidFill>
              <a:srgbClr val="D9E2EC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1" name="Google Shape;161;p19"/>
          <p:cNvSpPr/>
          <p:nvPr/>
        </p:nvSpPr>
        <p:spPr>
          <a:xfrm>
            <a:off x="432054" y="1165860"/>
            <a:ext cx="219300" cy="219300"/>
          </a:xfrm>
          <a:prstGeom prst="ellipse">
            <a:avLst/>
          </a:prstGeom>
          <a:solidFill>
            <a:srgbClr val="2E6F9E"/>
          </a:solidFill>
          <a:ln cap="flat" cmpd="sng" w="9525">
            <a:solidFill>
              <a:srgbClr val="2E6F9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2" name="Google Shape;162;p19"/>
          <p:cNvSpPr/>
          <p:nvPr/>
        </p:nvSpPr>
        <p:spPr>
          <a:xfrm>
            <a:off x="432054" y="1165860"/>
            <a:ext cx="219300" cy="219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800"/>
              <a:buFont typeface="Arial"/>
              <a:buNone/>
            </a:pPr>
            <a:r>
              <a:rPr b="1" i="0" lang="fr" sz="8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1</a:t>
            </a:r>
            <a:endParaRPr b="0" i="0" sz="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3" name="Google Shape;163;p19"/>
          <p:cNvSpPr/>
          <p:nvPr/>
        </p:nvSpPr>
        <p:spPr>
          <a:xfrm>
            <a:off x="720090" y="1145286"/>
            <a:ext cx="1284900" cy="246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7324D"/>
              </a:buClr>
              <a:buSzPts val="900"/>
              <a:buFont typeface="Arial"/>
              <a:buNone/>
            </a:pPr>
            <a:r>
              <a:rPr b="1" i="0" lang="fr" sz="900" u="none" cap="none" strike="noStrike">
                <a:solidFill>
                  <a:srgbClr val="17324D"/>
                </a:solidFill>
                <a:latin typeface="Arial"/>
                <a:ea typeface="Arial"/>
                <a:cs typeface="Arial"/>
                <a:sym typeface="Arial"/>
              </a:rPr>
              <a:t>Réception</a:t>
            </a:r>
            <a:endParaRPr b="0" i="0" sz="9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164" name="Google Shape;164;p19"/>
          <p:cNvCxnSpPr/>
          <p:nvPr/>
        </p:nvCxnSpPr>
        <p:spPr>
          <a:xfrm>
            <a:off x="2114550" y="1275588"/>
            <a:ext cx="75300" cy="0"/>
          </a:xfrm>
          <a:prstGeom prst="straightConnector1">
            <a:avLst/>
          </a:prstGeom>
          <a:noFill/>
          <a:ln cap="flat" cmpd="sng" w="17150">
            <a:solidFill>
              <a:srgbClr val="9AA7B5"/>
            </a:solidFill>
            <a:prstDash val="solid"/>
            <a:round/>
            <a:headEnd len="sm" w="sm" type="none"/>
            <a:tailEnd len="med" w="med" type="triangle"/>
          </a:ln>
        </p:spPr>
      </p:cxnSp>
      <p:sp>
        <p:nvSpPr>
          <p:cNvPr id="165" name="Google Shape;165;p19"/>
          <p:cNvSpPr/>
          <p:nvPr/>
        </p:nvSpPr>
        <p:spPr>
          <a:xfrm>
            <a:off x="2203704" y="1069848"/>
            <a:ext cx="1764900" cy="411600"/>
          </a:xfrm>
          <a:prstGeom prst="roundRect">
            <a:avLst>
              <a:gd fmla="val 20000" name="adj"/>
            </a:avLst>
          </a:prstGeom>
          <a:solidFill>
            <a:srgbClr val="FFFFFF"/>
          </a:solidFill>
          <a:ln cap="flat" cmpd="sng" w="9525">
            <a:solidFill>
              <a:srgbClr val="D9E2EC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6" name="Google Shape;166;p19"/>
          <p:cNvSpPr/>
          <p:nvPr/>
        </p:nvSpPr>
        <p:spPr>
          <a:xfrm>
            <a:off x="2292858" y="1165860"/>
            <a:ext cx="219300" cy="219300"/>
          </a:xfrm>
          <a:prstGeom prst="ellipse">
            <a:avLst/>
          </a:prstGeom>
          <a:solidFill>
            <a:srgbClr val="2E6F9E"/>
          </a:solidFill>
          <a:ln cap="flat" cmpd="sng" w="9525">
            <a:solidFill>
              <a:srgbClr val="2E6F9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7" name="Google Shape;167;p19"/>
          <p:cNvSpPr/>
          <p:nvPr/>
        </p:nvSpPr>
        <p:spPr>
          <a:xfrm>
            <a:off x="2292858" y="1165860"/>
            <a:ext cx="219300" cy="219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800"/>
              <a:buFont typeface="Arial"/>
              <a:buNone/>
            </a:pPr>
            <a:r>
              <a:rPr b="1" i="0" lang="fr" sz="8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2</a:t>
            </a:r>
            <a:endParaRPr b="0" i="0" sz="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8" name="Google Shape;168;p19"/>
          <p:cNvSpPr/>
          <p:nvPr/>
        </p:nvSpPr>
        <p:spPr>
          <a:xfrm>
            <a:off x="2580894" y="1145286"/>
            <a:ext cx="1284900" cy="246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7324D"/>
              </a:buClr>
              <a:buSzPts val="900"/>
              <a:buFont typeface="Arial"/>
              <a:buNone/>
            </a:pPr>
            <a:r>
              <a:rPr b="1" i="0" lang="fr" sz="900" u="none" cap="none" strike="noStrike">
                <a:solidFill>
                  <a:srgbClr val="17324D"/>
                </a:solidFill>
                <a:latin typeface="Arial"/>
                <a:ea typeface="Arial"/>
                <a:cs typeface="Arial"/>
                <a:sym typeface="Arial"/>
              </a:rPr>
              <a:t>Stockage &amp; opérations internes</a:t>
            </a:r>
            <a:endParaRPr b="0" i="0" sz="9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169" name="Google Shape;169;p19"/>
          <p:cNvCxnSpPr/>
          <p:nvPr/>
        </p:nvCxnSpPr>
        <p:spPr>
          <a:xfrm>
            <a:off x="3975354" y="1275588"/>
            <a:ext cx="75300" cy="0"/>
          </a:xfrm>
          <a:prstGeom prst="straightConnector1">
            <a:avLst/>
          </a:prstGeom>
          <a:noFill/>
          <a:ln cap="flat" cmpd="sng" w="17150">
            <a:solidFill>
              <a:srgbClr val="9AA7B5"/>
            </a:solidFill>
            <a:prstDash val="solid"/>
            <a:round/>
            <a:headEnd len="sm" w="sm" type="none"/>
            <a:tailEnd len="med" w="med" type="triangle"/>
          </a:ln>
        </p:spPr>
      </p:cxnSp>
      <p:sp>
        <p:nvSpPr>
          <p:cNvPr id="170" name="Google Shape;170;p19"/>
          <p:cNvSpPr/>
          <p:nvPr/>
        </p:nvSpPr>
        <p:spPr>
          <a:xfrm>
            <a:off x="4064508" y="1069848"/>
            <a:ext cx="1764900" cy="411600"/>
          </a:xfrm>
          <a:prstGeom prst="roundRect">
            <a:avLst>
              <a:gd fmla="val 20000" name="adj"/>
            </a:avLst>
          </a:prstGeom>
          <a:solidFill>
            <a:srgbClr val="FFFFFF"/>
          </a:solidFill>
          <a:ln cap="flat" cmpd="sng" w="9525">
            <a:solidFill>
              <a:srgbClr val="D9E2EC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1" name="Google Shape;171;p19"/>
          <p:cNvSpPr/>
          <p:nvPr/>
        </p:nvSpPr>
        <p:spPr>
          <a:xfrm>
            <a:off x="4153662" y="1165860"/>
            <a:ext cx="219300" cy="219300"/>
          </a:xfrm>
          <a:prstGeom prst="ellipse">
            <a:avLst/>
          </a:prstGeom>
          <a:solidFill>
            <a:srgbClr val="2E6F9E"/>
          </a:solidFill>
          <a:ln cap="flat" cmpd="sng" w="9525">
            <a:solidFill>
              <a:srgbClr val="2E6F9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2" name="Google Shape;172;p19"/>
          <p:cNvSpPr/>
          <p:nvPr/>
        </p:nvSpPr>
        <p:spPr>
          <a:xfrm>
            <a:off x="4153662" y="1165860"/>
            <a:ext cx="219300" cy="219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800"/>
              <a:buFont typeface="Arial"/>
              <a:buNone/>
            </a:pPr>
            <a:r>
              <a:rPr b="1" i="0" lang="fr" sz="8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3</a:t>
            </a:r>
            <a:endParaRPr b="0" i="0" sz="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3" name="Google Shape;173;p19"/>
          <p:cNvSpPr/>
          <p:nvPr/>
        </p:nvSpPr>
        <p:spPr>
          <a:xfrm>
            <a:off x="4441698" y="1145286"/>
            <a:ext cx="1284900" cy="246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7324D"/>
              </a:buClr>
              <a:buSzPts val="900"/>
              <a:buFont typeface="Arial"/>
              <a:buNone/>
            </a:pPr>
            <a:r>
              <a:rPr b="1" i="0" lang="fr" sz="900" u="none" cap="none" strike="noStrike">
                <a:solidFill>
                  <a:srgbClr val="17324D"/>
                </a:solidFill>
                <a:latin typeface="Arial"/>
                <a:ea typeface="Arial"/>
                <a:cs typeface="Arial"/>
                <a:sym typeface="Arial"/>
              </a:rPr>
              <a:t>Préparation &amp; expédition</a:t>
            </a:r>
            <a:endParaRPr b="0" i="0" sz="9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4" name="Google Shape;174;p19"/>
          <p:cNvSpPr/>
          <p:nvPr/>
        </p:nvSpPr>
        <p:spPr>
          <a:xfrm>
            <a:off x="342900" y="1632204"/>
            <a:ext cx="2880600" cy="164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E6F9E"/>
              </a:buClr>
              <a:buSzPts val="700"/>
              <a:buFont typeface="Arial"/>
              <a:buNone/>
            </a:pPr>
            <a:r>
              <a:rPr b="1" i="0" lang="fr" sz="700" u="none" cap="none" strike="noStrike">
                <a:solidFill>
                  <a:srgbClr val="2E6F9E"/>
                </a:solidFill>
                <a:latin typeface="Arial"/>
                <a:ea typeface="Arial"/>
                <a:cs typeface="Arial"/>
                <a:sym typeface="Arial"/>
              </a:rPr>
              <a:t>ARCHITECTURE FONCTIONNELLE SIMPLIFIÉE</a:t>
            </a:r>
            <a:endParaRPr b="0" i="0" sz="7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5" name="Google Shape;175;p19"/>
          <p:cNvSpPr/>
          <p:nvPr/>
        </p:nvSpPr>
        <p:spPr>
          <a:xfrm>
            <a:off x="342900" y="1851660"/>
            <a:ext cx="5658000" cy="1611600"/>
          </a:xfrm>
          <a:prstGeom prst="roundRect">
            <a:avLst>
              <a:gd fmla="val 5106" name="adj"/>
            </a:avLst>
          </a:prstGeom>
          <a:solidFill>
            <a:srgbClr val="FFFFFF"/>
          </a:solidFill>
          <a:ln cap="flat" cmpd="sng" w="9525">
            <a:solidFill>
              <a:srgbClr val="D7E0EA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6" name="Google Shape;176;p19"/>
          <p:cNvSpPr/>
          <p:nvPr/>
        </p:nvSpPr>
        <p:spPr>
          <a:xfrm>
            <a:off x="548640" y="2029968"/>
            <a:ext cx="1166100" cy="425100"/>
          </a:xfrm>
          <a:prstGeom prst="roundRect">
            <a:avLst>
              <a:gd fmla="val 19355" name="adj"/>
            </a:avLst>
          </a:prstGeom>
          <a:solidFill>
            <a:srgbClr val="E7F0F7"/>
          </a:solidFill>
          <a:ln cap="flat" cmpd="sng" w="9525">
            <a:solidFill>
              <a:srgbClr val="D0E0EC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7" name="Google Shape;177;p19"/>
          <p:cNvSpPr/>
          <p:nvPr/>
        </p:nvSpPr>
        <p:spPr>
          <a:xfrm>
            <a:off x="548640" y="2105406"/>
            <a:ext cx="1166100" cy="164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2E6F9E"/>
              </a:buClr>
              <a:buSzPts val="900"/>
              <a:buFont typeface="Arial"/>
              <a:buNone/>
            </a:pPr>
            <a:r>
              <a:rPr b="1" i="0" lang="fr" sz="900" u="none" cap="none" strike="noStrike">
                <a:solidFill>
                  <a:srgbClr val="2E6F9E"/>
                </a:solidFill>
                <a:latin typeface="Arial"/>
                <a:ea typeface="Arial"/>
                <a:cs typeface="Arial"/>
                <a:sym typeface="Arial"/>
              </a:rPr>
              <a:t>SAP S/4HANA</a:t>
            </a:r>
            <a:endParaRPr b="0" i="0" sz="9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8" name="Google Shape;178;p19"/>
          <p:cNvSpPr/>
          <p:nvPr/>
        </p:nvSpPr>
        <p:spPr>
          <a:xfrm>
            <a:off x="548640" y="2276856"/>
            <a:ext cx="1166100" cy="12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667085"/>
              </a:buClr>
              <a:buSzPts val="700"/>
              <a:buFont typeface="Arial"/>
              <a:buNone/>
            </a:pPr>
            <a:r>
              <a:rPr b="0" i="0" lang="fr" sz="700" u="none" cap="none" strike="noStrike">
                <a:solidFill>
                  <a:srgbClr val="667085"/>
                </a:solidFill>
                <a:latin typeface="Arial"/>
                <a:ea typeface="Arial"/>
                <a:cs typeface="Arial"/>
                <a:sym typeface="Arial"/>
              </a:rPr>
              <a:t>contexte métier</a:t>
            </a:r>
            <a:endParaRPr b="0" i="0" sz="7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179" name="Google Shape;179;p19"/>
          <p:cNvCxnSpPr/>
          <p:nvPr/>
        </p:nvCxnSpPr>
        <p:spPr>
          <a:xfrm>
            <a:off x="1728216" y="2235708"/>
            <a:ext cx="205800" cy="0"/>
          </a:xfrm>
          <a:prstGeom prst="straightConnector1">
            <a:avLst/>
          </a:prstGeom>
          <a:noFill/>
          <a:ln cap="flat" cmpd="sng" w="19050">
            <a:solidFill>
              <a:srgbClr val="8CA2B5"/>
            </a:solidFill>
            <a:prstDash val="solid"/>
            <a:round/>
            <a:headEnd len="sm" w="sm" type="none"/>
            <a:tailEnd len="med" w="med" type="triangle"/>
          </a:ln>
        </p:spPr>
      </p:cxnSp>
      <p:sp>
        <p:nvSpPr>
          <p:cNvPr id="180" name="Google Shape;180;p19"/>
          <p:cNvSpPr/>
          <p:nvPr/>
        </p:nvSpPr>
        <p:spPr>
          <a:xfrm>
            <a:off x="1961388" y="1961388"/>
            <a:ext cx="1042500" cy="548400"/>
          </a:xfrm>
          <a:prstGeom prst="roundRect">
            <a:avLst>
              <a:gd fmla="val 15000" name="adj"/>
            </a:avLst>
          </a:prstGeom>
          <a:solidFill>
            <a:srgbClr val="FFFFFF"/>
          </a:solidFill>
          <a:ln cap="flat" cmpd="sng" w="9525">
            <a:solidFill>
              <a:srgbClr val="C7D8E6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1" name="Google Shape;181;p19"/>
          <p:cNvSpPr/>
          <p:nvPr/>
        </p:nvSpPr>
        <p:spPr>
          <a:xfrm>
            <a:off x="1961388" y="2050542"/>
            <a:ext cx="1042500" cy="171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7324D"/>
              </a:buClr>
              <a:buSzPts val="1000"/>
              <a:buFont typeface="Arial"/>
              <a:buNone/>
            </a:pPr>
            <a:r>
              <a:rPr b="1" i="0" lang="fr" sz="1000" u="none" cap="none" strike="noStrike">
                <a:solidFill>
                  <a:srgbClr val="17324D"/>
                </a:solidFill>
                <a:latin typeface="Arial"/>
                <a:ea typeface="Arial"/>
                <a:cs typeface="Arial"/>
                <a:sym typeface="Arial"/>
              </a:rPr>
              <a:t>SAP EWM</a:t>
            </a:r>
            <a:endParaRPr b="0" i="0" sz="10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82" name="Google Shape;182;p19"/>
          <p:cNvSpPr/>
          <p:nvPr/>
        </p:nvSpPr>
        <p:spPr>
          <a:xfrm>
            <a:off x="2050542" y="2235708"/>
            <a:ext cx="857400" cy="137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667085"/>
              </a:buClr>
              <a:buSzPts val="700"/>
              <a:buFont typeface="Arial"/>
              <a:buNone/>
            </a:pPr>
            <a:r>
              <a:rPr b="0" i="0" lang="fr" sz="700" u="none" cap="none" strike="noStrike">
                <a:solidFill>
                  <a:srgbClr val="667085"/>
                </a:solidFill>
                <a:latin typeface="Arial"/>
                <a:ea typeface="Arial"/>
                <a:cs typeface="Arial"/>
                <a:sym typeface="Arial"/>
              </a:rPr>
              <a:t>règles + tâches</a:t>
            </a:r>
            <a:endParaRPr b="0" i="0" sz="7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183" name="Google Shape;183;p19"/>
          <p:cNvCxnSpPr/>
          <p:nvPr/>
        </p:nvCxnSpPr>
        <p:spPr>
          <a:xfrm>
            <a:off x="3017520" y="2235708"/>
            <a:ext cx="240000" cy="0"/>
          </a:xfrm>
          <a:prstGeom prst="straightConnector1">
            <a:avLst/>
          </a:prstGeom>
          <a:noFill/>
          <a:ln cap="flat" cmpd="sng" w="19050">
            <a:solidFill>
              <a:srgbClr val="8CA2B5"/>
            </a:solidFill>
            <a:prstDash val="solid"/>
            <a:round/>
            <a:headEnd len="sm" w="sm" type="none"/>
            <a:tailEnd len="med" w="med" type="triangle"/>
          </a:ln>
        </p:spPr>
      </p:cxnSp>
      <p:sp>
        <p:nvSpPr>
          <p:cNvPr id="184" name="Google Shape;184;p19"/>
          <p:cNvSpPr/>
          <p:nvPr/>
        </p:nvSpPr>
        <p:spPr>
          <a:xfrm>
            <a:off x="3278124" y="1906524"/>
            <a:ext cx="1062900" cy="651600"/>
          </a:xfrm>
          <a:prstGeom prst="roundRect">
            <a:avLst>
              <a:gd fmla="val 12632" name="adj"/>
            </a:avLst>
          </a:prstGeom>
          <a:solidFill>
            <a:srgbClr val="DFF3F2"/>
          </a:solidFill>
          <a:ln cap="flat" cmpd="sng" w="9525">
            <a:solidFill>
              <a:srgbClr val="C9E8E6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5" name="Google Shape;185;p19"/>
          <p:cNvSpPr/>
          <p:nvPr/>
        </p:nvSpPr>
        <p:spPr>
          <a:xfrm>
            <a:off x="3278124" y="1975104"/>
            <a:ext cx="1062900" cy="164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E8A8A"/>
              </a:buClr>
              <a:buSzPts val="900"/>
              <a:buFont typeface="Arial"/>
              <a:buNone/>
            </a:pPr>
            <a:r>
              <a:rPr b="1" i="0" lang="fr" sz="900" u="none" cap="none" strike="noStrike">
                <a:solidFill>
                  <a:srgbClr val="0E8A8A"/>
                </a:solidFill>
                <a:latin typeface="Arial"/>
                <a:ea typeface="Arial"/>
                <a:cs typeface="Arial"/>
                <a:sym typeface="Arial"/>
              </a:rPr>
              <a:t>Stock &amp; structure</a:t>
            </a:r>
            <a:endParaRPr b="0" i="0" sz="9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86" name="Google Shape;186;p19"/>
          <p:cNvSpPr/>
          <p:nvPr/>
        </p:nvSpPr>
        <p:spPr>
          <a:xfrm>
            <a:off x="3319272" y="2180844"/>
            <a:ext cx="980700" cy="171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667085"/>
              </a:buClr>
              <a:buSzPts val="600"/>
              <a:buFont typeface="Arial"/>
              <a:buNone/>
            </a:pPr>
            <a:r>
              <a:rPr b="0" i="0" lang="fr" sz="600" u="none" cap="none" strike="noStrike">
                <a:solidFill>
                  <a:srgbClr val="667085"/>
                </a:solidFill>
                <a:latin typeface="Arial"/>
                <a:ea typeface="Arial"/>
                <a:cs typeface="Arial"/>
                <a:sym typeface="Arial"/>
              </a:rPr>
              <a:t>emplacements • HU • lots</a:t>
            </a:r>
            <a:endParaRPr b="0" i="0" sz="6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187" name="Google Shape;187;p19"/>
          <p:cNvCxnSpPr/>
          <p:nvPr/>
        </p:nvCxnSpPr>
        <p:spPr>
          <a:xfrm>
            <a:off x="4354830" y="2235708"/>
            <a:ext cx="240000" cy="0"/>
          </a:xfrm>
          <a:prstGeom prst="straightConnector1">
            <a:avLst/>
          </a:prstGeom>
          <a:noFill/>
          <a:ln cap="flat" cmpd="sng" w="19050">
            <a:solidFill>
              <a:srgbClr val="8CA2B5"/>
            </a:solidFill>
            <a:prstDash val="solid"/>
            <a:round/>
            <a:headEnd len="sm" w="sm" type="none"/>
            <a:tailEnd len="med" w="med" type="triangle"/>
          </a:ln>
        </p:spPr>
      </p:cxnSp>
      <p:sp>
        <p:nvSpPr>
          <p:cNvPr id="188" name="Google Shape;188;p19"/>
          <p:cNvSpPr/>
          <p:nvPr/>
        </p:nvSpPr>
        <p:spPr>
          <a:xfrm>
            <a:off x="4622292" y="1906524"/>
            <a:ext cx="1042500" cy="651600"/>
          </a:xfrm>
          <a:prstGeom prst="roundRect">
            <a:avLst>
              <a:gd fmla="val 12632" name="adj"/>
            </a:avLst>
          </a:prstGeom>
          <a:solidFill>
            <a:srgbClr val="FCEBDD"/>
          </a:solidFill>
          <a:ln cap="flat" cmpd="sng" w="9525">
            <a:solidFill>
              <a:srgbClr val="F0D6C1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9" name="Google Shape;189;p19"/>
          <p:cNvSpPr/>
          <p:nvPr/>
        </p:nvSpPr>
        <p:spPr>
          <a:xfrm>
            <a:off x="4622292" y="1981962"/>
            <a:ext cx="1042500" cy="164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D97827"/>
              </a:buClr>
              <a:buSzPts val="1000"/>
              <a:buFont typeface="Arial"/>
              <a:buNone/>
            </a:pPr>
            <a:r>
              <a:rPr b="1" i="0" lang="fr" sz="1000" u="none" cap="none" strike="noStrike">
                <a:solidFill>
                  <a:srgbClr val="D97827"/>
                </a:solidFill>
                <a:latin typeface="Arial"/>
                <a:ea typeface="Arial"/>
                <a:cs typeface="Arial"/>
                <a:sym typeface="Arial"/>
              </a:rPr>
              <a:t>Exécution</a:t>
            </a:r>
            <a:endParaRPr b="0" i="0" sz="10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0" name="Google Shape;190;p19"/>
          <p:cNvSpPr/>
          <p:nvPr/>
        </p:nvSpPr>
        <p:spPr>
          <a:xfrm>
            <a:off x="4684014" y="2187702"/>
            <a:ext cx="925800" cy="164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667085"/>
              </a:buClr>
              <a:buSzPts val="600"/>
              <a:buFont typeface="Arial"/>
              <a:buNone/>
            </a:pPr>
            <a:r>
              <a:rPr b="0" i="0" lang="fr" sz="600" u="none" cap="none" strike="noStrike">
                <a:solidFill>
                  <a:srgbClr val="667085"/>
                </a:solidFill>
                <a:latin typeface="Arial"/>
                <a:ea typeface="Arial"/>
                <a:cs typeface="Arial"/>
                <a:sym typeface="Arial"/>
              </a:rPr>
              <a:t>opérateur + équipement</a:t>
            </a:r>
            <a:endParaRPr b="0" i="0" sz="6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1" name="Google Shape;191;p19"/>
          <p:cNvSpPr/>
          <p:nvPr/>
        </p:nvSpPr>
        <p:spPr>
          <a:xfrm>
            <a:off x="548640" y="2640330"/>
            <a:ext cx="1611600" cy="877800"/>
          </a:xfrm>
          <a:prstGeom prst="roundRect">
            <a:avLst>
              <a:gd fmla="val 9375" name="adj"/>
            </a:avLst>
          </a:prstGeom>
          <a:solidFill>
            <a:srgbClr val="E7F0F7"/>
          </a:solidFill>
          <a:ln cap="flat" cmpd="sng" w="9525">
            <a:solidFill>
              <a:srgbClr val="D9E2EC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2" name="Google Shape;192;p19"/>
          <p:cNvSpPr/>
          <p:nvPr/>
        </p:nvSpPr>
        <p:spPr>
          <a:xfrm>
            <a:off x="651510" y="2722626"/>
            <a:ext cx="1405800" cy="157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E6F9E"/>
              </a:buClr>
              <a:buSzPts val="900"/>
              <a:buFont typeface="Arial"/>
              <a:buNone/>
            </a:pPr>
            <a:r>
              <a:rPr b="1" i="0" lang="fr" sz="900" u="none" cap="none" strike="noStrike">
                <a:solidFill>
                  <a:srgbClr val="2E6F9E"/>
                </a:solidFill>
                <a:latin typeface="Arial"/>
                <a:ea typeface="Arial"/>
                <a:cs typeface="Arial"/>
                <a:sym typeface="Arial"/>
              </a:rPr>
              <a:t>Inbound</a:t>
            </a:r>
            <a:endParaRPr b="0" i="0" sz="9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3" name="Google Shape;193;p19"/>
          <p:cNvSpPr/>
          <p:nvPr/>
        </p:nvSpPr>
        <p:spPr>
          <a:xfrm>
            <a:off x="651510" y="2921508"/>
            <a:ext cx="1419600" cy="137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F2937"/>
              </a:buClr>
              <a:buSzPts val="800"/>
              <a:buFont typeface="Arial"/>
              <a:buNone/>
            </a:pPr>
            <a:r>
              <a:rPr b="0" i="0" lang="fr" sz="800" u="none" cap="none" strike="noStrike">
                <a:solidFill>
                  <a:srgbClr val="1F2937"/>
                </a:solidFill>
                <a:latin typeface="Arial"/>
                <a:ea typeface="Arial"/>
                <a:cs typeface="Arial"/>
                <a:sym typeface="Arial"/>
              </a:rPr>
              <a:t>• Réception</a:t>
            </a:r>
            <a:endParaRPr b="0" i="0" sz="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4" name="Google Shape;194;p19"/>
          <p:cNvSpPr/>
          <p:nvPr/>
        </p:nvSpPr>
        <p:spPr>
          <a:xfrm>
            <a:off x="651510" y="3072384"/>
            <a:ext cx="1419600" cy="137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F2937"/>
              </a:buClr>
              <a:buSzPts val="800"/>
              <a:buFont typeface="Arial"/>
              <a:buNone/>
            </a:pPr>
            <a:r>
              <a:rPr b="0" i="0" lang="fr" sz="800" u="none" cap="none" strike="noStrike">
                <a:solidFill>
                  <a:srgbClr val="1F2937"/>
                </a:solidFill>
                <a:latin typeface="Arial"/>
                <a:ea typeface="Arial"/>
                <a:cs typeface="Arial"/>
                <a:sym typeface="Arial"/>
              </a:rPr>
              <a:t>• Contrôle</a:t>
            </a:r>
            <a:endParaRPr b="0" i="0" sz="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5" name="Google Shape;195;p19"/>
          <p:cNvSpPr/>
          <p:nvPr/>
        </p:nvSpPr>
        <p:spPr>
          <a:xfrm>
            <a:off x="651510" y="3223260"/>
            <a:ext cx="1419600" cy="137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F2937"/>
              </a:buClr>
              <a:buSzPts val="800"/>
              <a:buFont typeface="Arial"/>
              <a:buNone/>
            </a:pPr>
            <a:r>
              <a:rPr b="0" i="0" lang="fr" sz="800" u="none" cap="none" strike="noStrike">
                <a:solidFill>
                  <a:srgbClr val="1F2937"/>
                </a:solidFill>
                <a:latin typeface="Arial"/>
                <a:ea typeface="Arial"/>
                <a:cs typeface="Arial"/>
                <a:sym typeface="Arial"/>
              </a:rPr>
              <a:t>• Mise en stock</a:t>
            </a:r>
            <a:endParaRPr b="0" i="0" sz="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6" name="Google Shape;196;p19"/>
          <p:cNvSpPr/>
          <p:nvPr/>
        </p:nvSpPr>
        <p:spPr>
          <a:xfrm>
            <a:off x="2228850" y="2640330"/>
            <a:ext cx="1611600" cy="877800"/>
          </a:xfrm>
          <a:prstGeom prst="roundRect">
            <a:avLst>
              <a:gd fmla="val 9375" name="adj"/>
            </a:avLst>
          </a:prstGeom>
          <a:solidFill>
            <a:srgbClr val="DFF3F2"/>
          </a:solidFill>
          <a:ln cap="flat" cmpd="sng" w="9525">
            <a:solidFill>
              <a:srgbClr val="D9E2EC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7" name="Google Shape;197;p19"/>
          <p:cNvSpPr/>
          <p:nvPr/>
        </p:nvSpPr>
        <p:spPr>
          <a:xfrm>
            <a:off x="2331720" y="2722626"/>
            <a:ext cx="1405800" cy="157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E8A8A"/>
              </a:buClr>
              <a:buSzPts val="900"/>
              <a:buFont typeface="Arial"/>
              <a:buNone/>
            </a:pPr>
            <a:r>
              <a:rPr b="1" i="0" lang="fr" sz="900" u="none" cap="none" strike="noStrike">
                <a:solidFill>
                  <a:srgbClr val="0E8A8A"/>
                </a:solidFill>
                <a:latin typeface="Arial"/>
                <a:ea typeface="Arial"/>
                <a:cs typeface="Arial"/>
                <a:sym typeface="Arial"/>
              </a:rPr>
              <a:t>Stock / interne</a:t>
            </a:r>
            <a:endParaRPr b="0" i="0" sz="9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8" name="Google Shape;198;p19"/>
          <p:cNvSpPr/>
          <p:nvPr/>
        </p:nvSpPr>
        <p:spPr>
          <a:xfrm>
            <a:off x="2331720" y="2921508"/>
            <a:ext cx="1419600" cy="137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F2937"/>
              </a:buClr>
              <a:buSzPts val="800"/>
              <a:buFont typeface="Arial"/>
              <a:buNone/>
            </a:pPr>
            <a:r>
              <a:rPr b="0" i="0" lang="fr" sz="800" u="none" cap="none" strike="noStrike">
                <a:solidFill>
                  <a:srgbClr val="1F2937"/>
                </a:solidFill>
                <a:latin typeface="Arial"/>
                <a:ea typeface="Arial"/>
                <a:cs typeface="Arial"/>
                <a:sym typeface="Arial"/>
              </a:rPr>
              <a:t>• Emplacements</a:t>
            </a:r>
            <a:endParaRPr b="0" i="0" sz="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9" name="Google Shape;199;p19"/>
          <p:cNvSpPr/>
          <p:nvPr/>
        </p:nvSpPr>
        <p:spPr>
          <a:xfrm>
            <a:off x="2331720" y="3072384"/>
            <a:ext cx="1419600" cy="137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F2937"/>
              </a:buClr>
              <a:buSzPts val="800"/>
              <a:buFont typeface="Arial"/>
              <a:buNone/>
            </a:pPr>
            <a:r>
              <a:rPr b="0" i="0" lang="fr" sz="800" u="none" cap="none" strike="noStrike">
                <a:solidFill>
                  <a:srgbClr val="1F2937"/>
                </a:solidFill>
                <a:latin typeface="Arial"/>
                <a:ea typeface="Arial"/>
                <a:cs typeface="Arial"/>
                <a:sym typeface="Arial"/>
              </a:rPr>
              <a:t>• Réapprovisionnement</a:t>
            </a:r>
            <a:endParaRPr b="0" i="0" sz="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00" name="Google Shape;200;p19"/>
          <p:cNvSpPr/>
          <p:nvPr/>
        </p:nvSpPr>
        <p:spPr>
          <a:xfrm>
            <a:off x="2331720" y="3223260"/>
            <a:ext cx="1419600" cy="137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F2937"/>
              </a:buClr>
              <a:buSzPts val="800"/>
              <a:buFont typeface="Arial"/>
              <a:buNone/>
            </a:pPr>
            <a:r>
              <a:rPr b="0" i="0" lang="fr" sz="800" u="none" cap="none" strike="noStrike">
                <a:solidFill>
                  <a:srgbClr val="1F2937"/>
                </a:solidFill>
                <a:latin typeface="Arial"/>
                <a:ea typeface="Arial"/>
                <a:cs typeface="Arial"/>
                <a:sym typeface="Arial"/>
              </a:rPr>
              <a:t>• Inventaire</a:t>
            </a:r>
            <a:endParaRPr b="0" i="0" sz="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01" name="Google Shape;201;p19"/>
          <p:cNvSpPr/>
          <p:nvPr/>
        </p:nvSpPr>
        <p:spPr>
          <a:xfrm>
            <a:off x="3909060" y="2640330"/>
            <a:ext cx="1611600" cy="877800"/>
          </a:xfrm>
          <a:prstGeom prst="roundRect">
            <a:avLst>
              <a:gd fmla="val 9375" name="adj"/>
            </a:avLst>
          </a:prstGeom>
          <a:solidFill>
            <a:srgbClr val="FCEBDD"/>
          </a:solidFill>
          <a:ln cap="flat" cmpd="sng" w="9525">
            <a:solidFill>
              <a:srgbClr val="D9E2EC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2" name="Google Shape;202;p19"/>
          <p:cNvSpPr/>
          <p:nvPr/>
        </p:nvSpPr>
        <p:spPr>
          <a:xfrm>
            <a:off x="4011930" y="2722626"/>
            <a:ext cx="1405800" cy="157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D97827"/>
              </a:buClr>
              <a:buSzPts val="900"/>
              <a:buFont typeface="Arial"/>
              <a:buNone/>
            </a:pPr>
            <a:r>
              <a:rPr b="1" i="0" lang="fr" sz="900" u="none" cap="none" strike="noStrike">
                <a:solidFill>
                  <a:srgbClr val="D97827"/>
                </a:solidFill>
                <a:latin typeface="Arial"/>
                <a:ea typeface="Arial"/>
                <a:cs typeface="Arial"/>
                <a:sym typeface="Arial"/>
              </a:rPr>
              <a:t>Outbound</a:t>
            </a:r>
            <a:endParaRPr b="0" i="0" sz="9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03" name="Google Shape;203;p19"/>
          <p:cNvSpPr/>
          <p:nvPr/>
        </p:nvSpPr>
        <p:spPr>
          <a:xfrm>
            <a:off x="4011930" y="2921508"/>
            <a:ext cx="1419600" cy="137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F2937"/>
              </a:buClr>
              <a:buSzPts val="800"/>
              <a:buFont typeface="Arial"/>
              <a:buNone/>
            </a:pPr>
            <a:r>
              <a:rPr b="0" i="0" lang="fr" sz="800" u="none" cap="none" strike="noStrike">
                <a:solidFill>
                  <a:srgbClr val="1F2937"/>
                </a:solidFill>
                <a:latin typeface="Arial"/>
                <a:ea typeface="Arial"/>
                <a:cs typeface="Arial"/>
                <a:sym typeface="Arial"/>
              </a:rPr>
              <a:t>• Vagues</a:t>
            </a:r>
            <a:endParaRPr b="0" i="0" sz="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04" name="Google Shape;204;p19"/>
          <p:cNvSpPr/>
          <p:nvPr/>
        </p:nvSpPr>
        <p:spPr>
          <a:xfrm>
            <a:off x="4011930" y="3072384"/>
            <a:ext cx="1419600" cy="137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F2937"/>
              </a:buClr>
              <a:buSzPts val="800"/>
              <a:buFont typeface="Arial"/>
              <a:buNone/>
            </a:pPr>
            <a:r>
              <a:rPr b="0" i="0" lang="fr" sz="800" u="none" cap="none" strike="noStrike">
                <a:solidFill>
                  <a:srgbClr val="1F2937"/>
                </a:solidFill>
                <a:latin typeface="Arial"/>
                <a:ea typeface="Arial"/>
                <a:cs typeface="Arial"/>
                <a:sym typeface="Arial"/>
              </a:rPr>
              <a:t>• Picking</a:t>
            </a:r>
            <a:endParaRPr b="0" i="0" sz="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05" name="Google Shape;205;p19"/>
          <p:cNvSpPr/>
          <p:nvPr/>
        </p:nvSpPr>
        <p:spPr>
          <a:xfrm>
            <a:off x="4011930" y="3223260"/>
            <a:ext cx="1419600" cy="137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F2937"/>
              </a:buClr>
              <a:buSzPts val="800"/>
              <a:buFont typeface="Arial"/>
              <a:buNone/>
            </a:pPr>
            <a:r>
              <a:rPr b="0" i="0" lang="fr" sz="800" u="none" cap="none" strike="noStrike">
                <a:solidFill>
                  <a:srgbClr val="1F2937"/>
                </a:solidFill>
                <a:latin typeface="Arial"/>
                <a:ea typeface="Arial"/>
                <a:cs typeface="Arial"/>
                <a:sym typeface="Arial"/>
              </a:rPr>
              <a:t>• Packing / expédition</a:t>
            </a:r>
            <a:endParaRPr b="0" i="0" sz="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06" name="Google Shape;206;p19"/>
          <p:cNvSpPr/>
          <p:nvPr/>
        </p:nvSpPr>
        <p:spPr>
          <a:xfrm>
            <a:off x="6206490" y="1632204"/>
            <a:ext cx="2503200" cy="164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E6F9E"/>
              </a:buClr>
              <a:buSzPts val="700"/>
              <a:buFont typeface="Arial"/>
              <a:buNone/>
            </a:pPr>
            <a:r>
              <a:rPr b="1" i="0" lang="fr" sz="700" u="none" cap="none" strike="noStrike">
                <a:solidFill>
                  <a:srgbClr val="2E6F9E"/>
                </a:solidFill>
                <a:latin typeface="Arial"/>
                <a:ea typeface="Arial"/>
                <a:cs typeface="Arial"/>
                <a:sym typeface="Arial"/>
              </a:rPr>
              <a:t>CE QUE LA SOLUTION APPORTE</a:t>
            </a:r>
            <a:endParaRPr b="0" i="0" sz="7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07" name="Google Shape;207;p19"/>
          <p:cNvSpPr/>
          <p:nvPr/>
        </p:nvSpPr>
        <p:spPr>
          <a:xfrm>
            <a:off x="6206490" y="1851660"/>
            <a:ext cx="2592300" cy="877800"/>
          </a:xfrm>
          <a:prstGeom prst="roundRect">
            <a:avLst>
              <a:gd fmla="val 9375" name="adj"/>
            </a:avLst>
          </a:prstGeom>
          <a:solidFill>
            <a:srgbClr val="FFFFFF"/>
          </a:solidFill>
          <a:ln cap="flat" cmpd="sng" w="9525">
            <a:solidFill>
              <a:srgbClr val="D9E2EC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8" name="Google Shape;208;p19"/>
          <p:cNvSpPr/>
          <p:nvPr/>
        </p:nvSpPr>
        <p:spPr>
          <a:xfrm>
            <a:off x="6309360" y="1933956"/>
            <a:ext cx="2386500" cy="157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E6F9E"/>
              </a:buClr>
              <a:buSzPts val="900"/>
              <a:buFont typeface="Arial"/>
              <a:buNone/>
            </a:pPr>
            <a:r>
              <a:rPr b="1" i="0" lang="fr" sz="900" u="none" cap="none" strike="noStrike">
                <a:solidFill>
                  <a:srgbClr val="2E6F9E"/>
                </a:solidFill>
                <a:latin typeface="Arial"/>
                <a:ea typeface="Arial"/>
                <a:cs typeface="Arial"/>
                <a:sym typeface="Arial"/>
              </a:rPr>
              <a:t>Fonctions clés</a:t>
            </a:r>
            <a:endParaRPr b="0" i="0" sz="9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09" name="Google Shape;209;p19"/>
          <p:cNvSpPr/>
          <p:nvPr/>
        </p:nvSpPr>
        <p:spPr>
          <a:xfrm>
            <a:off x="6309360" y="2132838"/>
            <a:ext cx="2400300" cy="137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F2937"/>
              </a:buClr>
              <a:buSzPts val="800"/>
              <a:buFont typeface="Arial"/>
              <a:buNone/>
            </a:pPr>
            <a:r>
              <a:rPr b="0" i="0" lang="fr" sz="800" u="none" cap="none" strike="noStrike">
                <a:solidFill>
                  <a:srgbClr val="1F2937"/>
                </a:solidFill>
                <a:latin typeface="Arial"/>
                <a:ea typeface="Arial"/>
                <a:cs typeface="Arial"/>
                <a:sym typeface="Arial"/>
              </a:rPr>
              <a:t>• Traçabilité lots / séries</a:t>
            </a:r>
            <a:endParaRPr b="0" i="0" sz="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10" name="Google Shape;210;p19"/>
          <p:cNvSpPr/>
          <p:nvPr/>
        </p:nvSpPr>
        <p:spPr>
          <a:xfrm>
            <a:off x="6309360" y="2283714"/>
            <a:ext cx="2400300" cy="137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F2937"/>
              </a:buClr>
              <a:buSzPts val="800"/>
              <a:buFont typeface="Arial"/>
              <a:buNone/>
            </a:pPr>
            <a:r>
              <a:rPr b="0" i="0" lang="fr" sz="800" u="none" cap="none" strike="noStrike">
                <a:solidFill>
                  <a:srgbClr val="1F2937"/>
                </a:solidFill>
                <a:latin typeface="Arial"/>
                <a:ea typeface="Arial"/>
                <a:cs typeface="Arial"/>
                <a:sym typeface="Arial"/>
              </a:rPr>
              <a:t>• Handling Units (palettes, cartons…)</a:t>
            </a:r>
            <a:endParaRPr b="0" i="0" sz="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11" name="Google Shape;211;p19"/>
          <p:cNvSpPr/>
          <p:nvPr/>
        </p:nvSpPr>
        <p:spPr>
          <a:xfrm>
            <a:off x="6309360" y="2434590"/>
            <a:ext cx="2400300" cy="137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F2937"/>
              </a:buClr>
              <a:buSzPts val="800"/>
              <a:buFont typeface="Arial"/>
              <a:buNone/>
            </a:pPr>
            <a:r>
              <a:rPr b="0" i="0" lang="fr" sz="800" u="none" cap="none" strike="noStrike">
                <a:solidFill>
                  <a:srgbClr val="1F2937"/>
                </a:solidFill>
                <a:latin typeface="Arial"/>
                <a:ea typeface="Arial"/>
                <a:cs typeface="Arial"/>
                <a:sym typeface="Arial"/>
              </a:rPr>
              <a:t>• Gestion des tâches et ressources</a:t>
            </a:r>
            <a:endParaRPr b="0" i="0" sz="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12" name="Google Shape;212;p19"/>
          <p:cNvSpPr/>
          <p:nvPr/>
        </p:nvSpPr>
        <p:spPr>
          <a:xfrm>
            <a:off x="6309360" y="2585466"/>
            <a:ext cx="2400300" cy="137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F2937"/>
              </a:buClr>
              <a:buSzPts val="800"/>
              <a:buFont typeface="Arial"/>
              <a:buNone/>
            </a:pPr>
            <a:r>
              <a:rPr b="0" i="0" lang="fr" sz="800" u="none" cap="none" strike="noStrike">
                <a:solidFill>
                  <a:srgbClr val="1F2937"/>
                </a:solidFill>
                <a:latin typeface="Arial"/>
                <a:ea typeface="Arial"/>
                <a:cs typeface="Arial"/>
                <a:sym typeface="Arial"/>
              </a:rPr>
              <a:t>• Yard / travail / automatisation</a:t>
            </a:r>
            <a:endParaRPr b="0" i="0" sz="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13" name="Google Shape;213;p19"/>
          <p:cNvSpPr/>
          <p:nvPr/>
        </p:nvSpPr>
        <p:spPr>
          <a:xfrm>
            <a:off x="6206490" y="2846070"/>
            <a:ext cx="1200300" cy="576000"/>
          </a:xfrm>
          <a:prstGeom prst="roundRect">
            <a:avLst>
              <a:gd fmla="val 14286" name="adj"/>
            </a:avLst>
          </a:prstGeom>
          <a:solidFill>
            <a:srgbClr val="E7F0F7"/>
          </a:solidFill>
          <a:ln cap="flat" cmpd="sng" w="9525">
            <a:solidFill>
              <a:srgbClr val="D9E2EC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4" name="Google Shape;214;p19"/>
          <p:cNvSpPr/>
          <p:nvPr/>
        </p:nvSpPr>
        <p:spPr>
          <a:xfrm>
            <a:off x="6316218" y="2900934"/>
            <a:ext cx="980700" cy="178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E6F9E"/>
              </a:buClr>
              <a:buSzPts val="1400"/>
              <a:buFont typeface="Arial"/>
              <a:buNone/>
            </a:pPr>
            <a:r>
              <a:rPr b="1" i="0" lang="fr" sz="1400" u="none" cap="none" strike="noStrike">
                <a:solidFill>
                  <a:srgbClr val="2E6F9E"/>
                </a:solidFill>
                <a:latin typeface="Arial"/>
                <a:ea typeface="Arial"/>
                <a:cs typeface="Arial"/>
                <a:sym typeface="Arial"/>
              </a:rPr>
              <a:t>RICHE</a:t>
            </a:r>
            <a:endParaRPr b="0" i="0" sz="1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15" name="Google Shape;215;p19"/>
          <p:cNvSpPr/>
          <p:nvPr/>
        </p:nvSpPr>
        <p:spPr>
          <a:xfrm>
            <a:off x="6316218" y="3127248"/>
            <a:ext cx="994500" cy="150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67085"/>
              </a:buClr>
              <a:buSzPts val="700"/>
              <a:buFont typeface="Arial"/>
              <a:buNone/>
            </a:pPr>
            <a:r>
              <a:rPr b="1" i="0" lang="fr" sz="700" u="none" cap="none" strike="noStrike">
                <a:solidFill>
                  <a:srgbClr val="667085"/>
                </a:solidFill>
                <a:latin typeface="Arial"/>
                <a:ea typeface="Arial"/>
                <a:cs typeface="Arial"/>
                <a:sym typeface="Arial"/>
              </a:rPr>
              <a:t>Approche</a:t>
            </a:r>
            <a:endParaRPr b="0" i="0" sz="7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16" name="Google Shape;216;p19"/>
          <p:cNvSpPr/>
          <p:nvPr/>
        </p:nvSpPr>
        <p:spPr>
          <a:xfrm>
            <a:off x="7598664" y="2846070"/>
            <a:ext cx="1200300" cy="576000"/>
          </a:xfrm>
          <a:prstGeom prst="roundRect">
            <a:avLst>
              <a:gd fmla="val 14286" name="adj"/>
            </a:avLst>
          </a:prstGeom>
          <a:solidFill>
            <a:srgbClr val="EEF2F6"/>
          </a:solidFill>
          <a:ln cap="flat" cmpd="sng" w="9525">
            <a:solidFill>
              <a:srgbClr val="D9E2EC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7" name="Google Shape;217;p19"/>
          <p:cNvSpPr/>
          <p:nvPr/>
        </p:nvSpPr>
        <p:spPr>
          <a:xfrm>
            <a:off x="7708392" y="2900934"/>
            <a:ext cx="980700" cy="178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7324D"/>
              </a:buClr>
              <a:buSzPts val="1400"/>
              <a:buFont typeface="Arial"/>
              <a:buNone/>
            </a:pPr>
            <a:r>
              <a:rPr b="1" i="0" lang="fr" sz="1400" u="none" cap="none" strike="noStrike">
                <a:solidFill>
                  <a:srgbClr val="17324D"/>
                </a:solidFill>
                <a:latin typeface="Arial"/>
                <a:ea typeface="Arial"/>
                <a:cs typeface="Arial"/>
                <a:sym typeface="Arial"/>
              </a:rPr>
              <a:t>CONTEXTE</a:t>
            </a:r>
            <a:endParaRPr b="0" i="0" sz="1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18" name="Google Shape;218;p19"/>
          <p:cNvSpPr/>
          <p:nvPr/>
        </p:nvSpPr>
        <p:spPr>
          <a:xfrm>
            <a:off x="7708392" y="3127248"/>
            <a:ext cx="994500" cy="150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67085"/>
              </a:buClr>
              <a:buSzPts val="700"/>
              <a:buFont typeface="Arial"/>
              <a:buNone/>
            </a:pPr>
            <a:r>
              <a:rPr b="1" i="0" lang="fr" sz="700" u="none" cap="none" strike="noStrike">
                <a:solidFill>
                  <a:srgbClr val="667085"/>
                </a:solidFill>
                <a:latin typeface="Arial"/>
                <a:ea typeface="Arial"/>
                <a:cs typeface="Arial"/>
                <a:sym typeface="Arial"/>
              </a:rPr>
              <a:t>Focus</a:t>
            </a:r>
            <a:endParaRPr b="0" i="0" sz="7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19" name="Google Shape;219;p19"/>
          <p:cNvSpPr/>
          <p:nvPr/>
        </p:nvSpPr>
        <p:spPr>
          <a:xfrm>
            <a:off x="6206490" y="3531870"/>
            <a:ext cx="2592300" cy="651600"/>
          </a:xfrm>
          <a:prstGeom prst="roundRect">
            <a:avLst>
              <a:gd fmla="val 12632" name="adj"/>
            </a:avLst>
          </a:prstGeom>
          <a:solidFill>
            <a:srgbClr val="17324D"/>
          </a:solidFill>
          <a:ln cap="flat" cmpd="sng" w="9525">
            <a:solidFill>
              <a:srgbClr val="18344B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0" name="Google Shape;220;p19"/>
          <p:cNvSpPr/>
          <p:nvPr/>
        </p:nvSpPr>
        <p:spPr>
          <a:xfrm>
            <a:off x="6309360" y="3627882"/>
            <a:ext cx="891600" cy="12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BEE8E6"/>
              </a:buClr>
              <a:buSzPts val="700"/>
              <a:buFont typeface="Arial"/>
              <a:buNone/>
            </a:pPr>
            <a:r>
              <a:rPr b="1" i="0" lang="fr" sz="700" u="none" cap="none" strike="noStrike">
                <a:solidFill>
                  <a:srgbClr val="BEE8E6"/>
                </a:solidFill>
                <a:latin typeface="Arial"/>
                <a:ea typeface="Arial"/>
                <a:cs typeface="Arial"/>
                <a:sym typeface="Arial"/>
              </a:rPr>
              <a:t>POINT FORT</a:t>
            </a:r>
            <a:endParaRPr b="0" i="0" sz="7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21" name="Google Shape;221;p19"/>
          <p:cNvSpPr/>
          <p:nvPr/>
        </p:nvSpPr>
        <p:spPr>
          <a:xfrm>
            <a:off x="6309360" y="3785616"/>
            <a:ext cx="2366100" cy="219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Arial"/>
              <a:buNone/>
            </a:pPr>
            <a:r>
              <a:rPr b="1" i="0" lang="fr" sz="10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Modéliser précisément l’état du stock et du processus.</a:t>
            </a:r>
            <a:endParaRPr b="0" i="0" sz="10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22" name="Google Shape;222;p19"/>
          <p:cNvSpPr/>
          <p:nvPr/>
        </p:nvSpPr>
        <p:spPr>
          <a:xfrm>
            <a:off x="4114800" y="4882896"/>
            <a:ext cx="4183500" cy="12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7A8699"/>
              </a:buClr>
              <a:buSzPts val="600"/>
              <a:buFont typeface="Arial"/>
              <a:buNone/>
            </a:pPr>
            <a:r>
              <a:rPr b="0" i="1" lang="fr" sz="600" u="none" cap="none" strike="noStrike">
                <a:solidFill>
                  <a:srgbClr val="7A8699"/>
                </a:solidFill>
                <a:latin typeface="Arial"/>
                <a:ea typeface="Arial"/>
                <a:cs typeface="Arial"/>
                <a:sym typeface="Arial"/>
              </a:rPr>
              <a:t>Sources : SAP — Extended Warehouse Management / fonctionnalités EWM / S/4HANA.</a:t>
            </a:r>
            <a:endParaRPr b="0" i="0" sz="6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23" name="Google Shape;223;p19"/>
          <p:cNvSpPr txBox="1"/>
          <p:nvPr>
            <p:ph idx="4294967295" type="sldNum"/>
          </p:nvPr>
        </p:nvSpPr>
        <p:spPr>
          <a:xfrm>
            <a:off x="8606790" y="4855464"/>
            <a:ext cx="600000" cy="2250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0" i="0" lang="fr" sz="600" u="none" cap="none" strike="noStrike">
                <a:solidFill>
                  <a:srgbClr val="6B7280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b="0" i="0" sz="600" u="none" cap="none" strike="noStrike">
              <a:solidFill>
                <a:srgbClr val="6B728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28" name="Shape 2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9" name="Google Shape;229;p20"/>
          <p:cNvSpPr/>
          <p:nvPr/>
        </p:nvSpPr>
        <p:spPr>
          <a:xfrm>
            <a:off x="342900" y="185166"/>
            <a:ext cx="2331600" cy="150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D97827"/>
              </a:buClr>
              <a:buSzPts val="700"/>
              <a:buFont typeface="Arial"/>
              <a:buNone/>
            </a:pPr>
            <a:r>
              <a:rPr b="1" i="0" lang="fr" sz="700" u="none" cap="none" strike="noStrike">
                <a:solidFill>
                  <a:srgbClr val="D97827"/>
                </a:solidFill>
                <a:latin typeface="Arial"/>
                <a:ea typeface="Arial"/>
                <a:cs typeface="Arial"/>
                <a:sym typeface="Arial"/>
              </a:rPr>
              <a:t>03 • LEADER BENCHMARK</a:t>
            </a:r>
            <a:endParaRPr b="0" i="0" sz="7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30" name="Google Shape;230;p20"/>
          <p:cNvSpPr/>
          <p:nvPr/>
        </p:nvSpPr>
        <p:spPr>
          <a:xfrm>
            <a:off x="342900" y="356616"/>
            <a:ext cx="8160900" cy="363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7324D"/>
              </a:buClr>
              <a:buSzPts val="1900"/>
              <a:buFont typeface="Arial"/>
              <a:buNone/>
            </a:pPr>
            <a:r>
              <a:rPr b="1" i="0" lang="fr" sz="1900" u="none" cap="none" strike="noStrike">
                <a:solidFill>
                  <a:srgbClr val="17324D"/>
                </a:solidFill>
                <a:latin typeface="Arial"/>
                <a:ea typeface="Arial"/>
                <a:cs typeface="Arial"/>
                <a:sym typeface="Arial"/>
              </a:rPr>
              <a:t>Oracle WMS Cloud — orchestrer les commandes, les tâches et l’exécution</a:t>
            </a:r>
            <a:endParaRPr b="0" i="0" sz="19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31" name="Google Shape;231;p20"/>
          <p:cNvSpPr/>
          <p:nvPr/>
        </p:nvSpPr>
        <p:spPr>
          <a:xfrm>
            <a:off x="342900" y="740664"/>
            <a:ext cx="8160900" cy="246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67085"/>
              </a:buClr>
              <a:buSzPts val="900"/>
              <a:buFont typeface="Arial"/>
              <a:buNone/>
            </a:pPr>
            <a:r>
              <a:rPr b="0" i="0" lang="fr" sz="900" u="none" cap="none" strike="noStrike">
                <a:solidFill>
                  <a:srgbClr val="667085"/>
                </a:solidFill>
                <a:latin typeface="Arial"/>
                <a:ea typeface="Arial"/>
                <a:cs typeface="Arial"/>
                <a:sym typeface="Arial"/>
              </a:rPr>
              <a:t>Le WMS transforme la demande en actions : vague → allocation → tâches → exécution.</a:t>
            </a:r>
            <a:endParaRPr b="0" i="0" sz="9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32" name="Google Shape;232;p20"/>
          <p:cNvSpPr/>
          <p:nvPr/>
        </p:nvSpPr>
        <p:spPr>
          <a:xfrm>
            <a:off x="342900" y="1069848"/>
            <a:ext cx="1764900" cy="411600"/>
          </a:xfrm>
          <a:prstGeom prst="roundRect">
            <a:avLst>
              <a:gd fmla="val 20000" name="adj"/>
            </a:avLst>
          </a:prstGeom>
          <a:solidFill>
            <a:srgbClr val="FFFFFF"/>
          </a:solidFill>
          <a:ln cap="flat" cmpd="sng" w="9525">
            <a:solidFill>
              <a:srgbClr val="D9E2EC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3" name="Google Shape;233;p20"/>
          <p:cNvSpPr/>
          <p:nvPr/>
        </p:nvSpPr>
        <p:spPr>
          <a:xfrm>
            <a:off x="432054" y="1165860"/>
            <a:ext cx="219300" cy="219300"/>
          </a:xfrm>
          <a:prstGeom prst="ellipse">
            <a:avLst/>
          </a:prstGeom>
          <a:solidFill>
            <a:srgbClr val="D97827"/>
          </a:solidFill>
          <a:ln cap="flat" cmpd="sng" w="9525">
            <a:solidFill>
              <a:srgbClr val="D9782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4" name="Google Shape;234;p20"/>
          <p:cNvSpPr/>
          <p:nvPr/>
        </p:nvSpPr>
        <p:spPr>
          <a:xfrm>
            <a:off x="432054" y="1165860"/>
            <a:ext cx="219300" cy="219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800"/>
              <a:buFont typeface="Arial"/>
              <a:buNone/>
            </a:pPr>
            <a:r>
              <a:rPr b="1" i="0" lang="fr" sz="8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1</a:t>
            </a:r>
            <a:endParaRPr b="0" i="0" sz="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35" name="Google Shape;235;p20"/>
          <p:cNvSpPr/>
          <p:nvPr/>
        </p:nvSpPr>
        <p:spPr>
          <a:xfrm>
            <a:off x="720090" y="1145286"/>
            <a:ext cx="1284900" cy="246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7324D"/>
              </a:buClr>
              <a:buSzPts val="900"/>
              <a:buFont typeface="Arial"/>
              <a:buNone/>
            </a:pPr>
            <a:r>
              <a:rPr b="1" i="0" lang="fr" sz="900" u="none" cap="none" strike="noStrike">
                <a:solidFill>
                  <a:srgbClr val="17324D"/>
                </a:solidFill>
                <a:latin typeface="Arial"/>
                <a:ea typeface="Arial"/>
                <a:cs typeface="Arial"/>
                <a:sym typeface="Arial"/>
              </a:rPr>
              <a:t>Réception</a:t>
            </a:r>
            <a:endParaRPr b="0" i="0" sz="9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236" name="Google Shape;236;p20"/>
          <p:cNvCxnSpPr/>
          <p:nvPr/>
        </p:nvCxnSpPr>
        <p:spPr>
          <a:xfrm>
            <a:off x="2114550" y="1275588"/>
            <a:ext cx="75300" cy="0"/>
          </a:xfrm>
          <a:prstGeom prst="straightConnector1">
            <a:avLst/>
          </a:prstGeom>
          <a:noFill/>
          <a:ln cap="flat" cmpd="sng" w="17150">
            <a:solidFill>
              <a:srgbClr val="9AA7B5"/>
            </a:solidFill>
            <a:prstDash val="solid"/>
            <a:round/>
            <a:headEnd len="sm" w="sm" type="none"/>
            <a:tailEnd len="med" w="med" type="triangle"/>
          </a:ln>
        </p:spPr>
      </p:cxnSp>
      <p:sp>
        <p:nvSpPr>
          <p:cNvPr id="237" name="Google Shape;237;p20"/>
          <p:cNvSpPr/>
          <p:nvPr/>
        </p:nvSpPr>
        <p:spPr>
          <a:xfrm>
            <a:off x="2203704" y="1069848"/>
            <a:ext cx="1764900" cy="411600"/>
          </a:xfrm>
          <a:prstGeom prst="roundRect">
            <a:avLst>
              <a:gd fmla="val 20000" name="adj"/>
            </a:avLst>
          </a:prstGeom>
          <a:solidFill>
            <a:srgbClr val="FFFFFF"/>
          </a:solidFill>
          <a:ln cap="flat" cmpd="sng" w="9525">
            <a:solidFill>
              <a:srgbClr val="D9E2EC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8" name="Google Shape;238;p20"/>
          <p:cNvSpPr/>
          <p:nvPr/>
        </p:nvSpPr>
        <p:spPr>
          <a:xfrm>
            <a:off x="2292858" y="1165860"/>
            <a:ext cx="219300" cy="219300"/>
          </a:xfrm>
          <a:prstGeom prst="ellipse">
            <a:avLst/>
          </a:prstGeom>
          <a:solidFill>
            <a:srgbClr val="D97827"/>
          </a:solidFill>
          <a:ln cap="flat" cmpd="sng" w="9525">
            <a:solidFill>
              <a:srgbClr val="D9782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9" name="Google Shape;239;p20"/>
          <p:cNvSpPr/>
          <p:nvPr/>
        </p:nvSpPr>
        <p:spPr>
          <a:xfrm>
            <a:off x="2292858" y="1165860"/>
            <a:ext cx="219300" cy="219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800"/>
              <a:buFont typeface="Arial"/>
              <a:buNone/>
            </a:pPr>
            <a:r>
              <a:rPr b="1" i="0" lang="fr" sz="8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2</a:t>
            </a:r>
            <a:endParaRPr b="0" i="0" sz="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40" name="Google Shape;240;p20"/>
          <p:cNvSpPr/>
          <p:nvPr/>
        </p:nvSpPr>
        <p:spPr>
          <a:xfrm>
            <a:off x="2580894" y="1145286"/>
            <a:ext cx="1284900" cy="246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7324D"/>
              </a:buClr>
              <a:buSzPts val="900"/>
              <a:buFont typeface="Arial"/>
              <a:buNone/>
            </a:pPr>
            <a:r>
              <a:rPr b="1" i="0" lang="fr" sz="900" u="none" cap="none" strike="noStrike">
                <a:solidFill>
                  <a:srgbClr val="17324D"/>
                </a:solidFill>
                <a:latin typeface="Arial"/>
                <a:ea typeface="Arial"/>
                <a:cs typeface="Arial"/>
                <a:sym typeface="Arial"/>
              </a:rPr>
              <a:t>Stockage &amp; inventaire</a:t>
            </a:r>
            <a:endParaRPr b="0" i="0" sz="9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241" name="Google Shape;241;p20"/>
          <p:cNvCxnSpPr/>
          <p:nvPr/>
        </p:nvCxnSpPr>
        <p:spPr>
          <a:xfrm>
            <a:off x="3975354" y="1275588"/>
            <a:ext cx="75300" cy="0"/>
          </a:xfrm>
          <a:prstGeom prst="straightConnector1">
            <a:avLst/>
          </a:prstGeom>
          <a:noFill/>
          <a:ln cap="flat" cmpd="sng" w="17150">
            <a:solidFill>
              <a:srgbClr val="9AA7B5"/>
            </a:solidFill>
            <a:prstDash val="solid"/>
            <a:round/>
            <a:headEnd len="sm" w="sm" type="none"/>
            <a:tailEnd len="med" w="med" type="triangle"/>
          </a:ln>
        </p:spPr>
      </p:cxnSp>
      <p:sp>
        <p:nvSpPr>
          <p:cNvPr id="242" name="Google Shape;242;p20"/>
          <p:cNvSpPr/>
          <p:nvPr/>
        </p:nvSpPr>
        <p:spPr>
          <a:xfrm>
            <a:off x="4064508" y="1069848"/>
            <a:ext cx="1764900" cy="411600"/>
          </a:xfrm>
          <a:prstGeom prst="roundRect">
            <a:avLst>
              <a:gd fmla="val 20000" name="adj"/>
            </a:avLst>
          </a:prstGeom>
          <a:solidFill>
            <a:srgbClr val="FFFFFF"/>
          </a:solidFill>
          <a:ln cap="flat" cmpd="sng" w="9525">
            <a:solidFill>
              <a:srgbClr val="D9E2EC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3" name="Google Shape;243;p20"/>
          <p:cNvSpPr/>
          <p:nvPr/>
        </p:nvSpPr>
        <p:spPr>
          <a:xfrm>
            <a:off x="4153662" y="1165860"/>
            <a:ext cx="219300" cy="219300"/>
          </a:xfrm>
          <a:prstGeom prst="ellipse">
            <a:avLst/>
          </a:prstGeom>
          <a:solidFill>
            <a:srgbClr val="D97827"/>
          </a:solidFill>
          <a:ln cap="flat" cmpd="sng" w="9525">
            <a:solidFill>
              <a:srgbClr val="D9782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4" name="Google Shape;244;p20"/>
          <p:cNvSpPr/>
          <p:nvPr/>
        </p:nvSpPr>
        <p:spPr>
          <a:xfrm>
            <a:off x="4153662" y="1165860"/>
            <a:ext cx="219300" cy="219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800"/>
              <a:buFont typeface="Arial"/>
              <a:buNone/>
            </a:pPr>
            <a:r>
              <a:rPr b="1" i="0" lang="fr" sz="8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3</a:t>
            </a:r>
            <a:endParaRPr b="0" i="0" sz="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45" name="Google Shape;245;p20"/>
          <p:cNvSpPr/>
          <p:nvPr/>
        </p:nvSpPr>
        <p:spPr>
          <a:xfrm>
            <a:off x="4441698" y="1145286"/>
            <a:ext cx="1284900" cy="246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7324D"/>
              </a:buClr>
              <a:buSzPts val="900"/>
              <a:buFont typeface="Arial"/>
              <a:buNone/>
            </a:pPr>
            <a:r>
              <a:rPr b="1" i="0" lang="fr" sz="900" u="none" cap="none" strike="noStrike">
                <a:solidFill>
                  <a:srgbClr val="17324D"/>
                </a:solidFill>
                <a:latin typeface="Arial"/>
                <a:ea typeface="Arial"/>
                <a:cs typeface="Arial"/>
                <a:sym typeface="Arial"/>
              </a:rPr>
              <a:t>Préparation &amp; expédition</a:t>
            </a:r>
            <a:endParaRPr b="0" i="0" sz="9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46" name="Google Shape;246;p20"/>
          <p:cNvSpPr/>
          <p:nvPr/>
        </p:nvSpPr>
        <p:spPr>
          <a:xfrm>
            <a:off x="342900" y="1632204"/>
            <a:ext cx="2880600" cy="164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D97827"/>
              </a:buClr>
              <a:buSzPts val="700"/>
              <a:buFont typeface="Arial"/>
              <a:buNone/>
            </a:pPr>
            <a:r>
              <a:rPr b="1" i="0" lang="fr" sz="700" u="none" cap="none" strike="noStrike">
                <a:solidFill>
                  <a:srgbClr val="D97827"/>
                </a:solidFill>
                <a:latin typeface="Arial"/>
                <a:ea typeface="Arial"/>
                <a:cs typeface="Arial"/>
                <a:sym typeface="Arial"/>
              </a:rPr>
              <a:t>ARCHITECTURE FONCTIONNELLE SIMPLIFIÉE</a:t>
            </a:r>
            <a:endParaRPr b="0" i="0" sz="7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47" name="Google Shape;247;p20"/>
          <p:cNvSpPr/>
          <p:nvPr/>
        </p:nvSpPr>
        <p:spPr>
          <a:xfrm>
            <a:off x="342900" y="1851660"/>
            <a:ext cx="5658000" cy="1611600"/>
          </a:xfrm>
          <a:prstGeom prst="roundRect">
            <a:avLst>
              <a:gd fmla="val 5106" name="adj"/>
            </a:avLst>
          </a:prstGeom>
          <a:solidFill>
            <a:srgbClr val="FFFFFF"/>
          </a:solidFill>
          <a:ln cap="flat" cmpd="sng" w="9525">
            <a:solidFill>
              <a:srgbClr val="D7E0EA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8" name="Google Shape;248;p20"/>
          <p:cNvSpPr/>
          <p:nvPr/>
        </p:nvSpPr>
        <p:spPr>
          <a:xfrm>
            <a:off x="548640" y="2043684"/>
            <a:ext cx="1062900" cy="397800"/>
          </a:xfrm>
          <a:prstGeom prst="roundRect">
            <a:avLst>
              <a:gd fmla="val 20690" name="adj"/>
            </a:avLst>
          </a:prstGeom>
          <a:solidFill>
            <a:srgbClr val="FCEBDD"/>
          </a:solidFill>
          <a:ln cap="flat" cmpd="sng" w="9525">
            <a:solidFill>
              <a:srgbClr val="F0D6C1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9" name="Google Shape;249;p20"/>
          <p:cNvSpPr/>
          <p:nvPr/>
        </p:nvSpPr>
        <p:spPr>
          <a:xfrm>
            <a:off x="548640" y="2125980"/>
            <a:ext cx="1062900" cy="150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D97827"/>
              </a:buClr>
              <a:buSzPts val="800"/>
              <a:buFont typeface="Arial"/>
              <a:buNone/>
            </a:pPr>
            <a:r>
              <a:rPr b="1" i="0" lang="fr" sz="800" u="none" cap="none" strike="noStrike">
                <a:solidFill>
                  <a:srgbClr val="D97827"/>
                </a:solidFill>
                <a:latin typeface="Arial"/>
                <a:ea typeface="Arial"/>
                <a:cs typeface="Arial"/>
                <a:sym typeface="Arial"/>
              </a:rPr>
              <a:t>COMMANDES</a:t>
            </a:r>
            <a:endParaRPr b="0" i="0" sz="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250" name="Google Shape;250;p20"/>
          <p:cNvCxnSpPr/>
          <p:nvPr/>
        </p:nvCxnSpPr>
        <p:spPr>
          <a:xfrm>
            <a:off x="1618488" y="2242566"/>
            <a:ext cx="233100" cy="0"/>
          </a:xfrm>
          <a:prstGeom prst="straightConnector1">
            <a:avLst/>
          </a:prstGeom>
          <a:noFill/>
          <a:ln cap="flat" cmpd="sng" w="19050">
            <a:solidFill>
              <a:srgbClr val="8CA2B5"/>
            </a:solidFill>
            <a:prstDash val="solid"/>
            <a:round/>
            <a:headEnd len="sm" w="sm" type="none"/>
            <a:tailEnd len="med" w="med" type="triangle"/>
          </a:ln>
        </p:spPr>
      </p:cxnSp>
      <p:sp>
        <p:nvSpPr>
          <p:cNvPr id="251" name="Google Shape;251;p20"/>
          <p:cNvSpPr/>
          <p:nvPr/>
        </p:nvSpPr>
        <p:spPr>
          <a:xfrm>
            <a:off x="1879092" y="1975104"/>
            <a:ext cx="925800" cy="534900"/>
          </a:xfrm>
          <a:prstGeom prst="roundRect">
            <a:avLst>
              <a:gd fmla="val 15385" name="adj"/>
            </a:avLst>
          </a:prstGeom>
          <a:solidFill>
            <a:srgbClr val="EEEAF8"/>
          </a:solidFill>
          <a:ln cap="flat" cmpd="sng" w="9525">
            <a:solidFill>
              <a:srgbClr val="DDD4F2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2" name="Google Shape;252;p20"/>
          <p:cNvSpPr/>
          <p:nvPr/>
        </p:nvSpPr>
        <p:spPr>
          <a:xfrm>
            <a:off x="1879092" y="2050542"/>
            <a:ext cx="925800" cy="157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6D5AA5"/>
              </a:buClr>
              <a:buSzPts val="1000"/>
              <a:buFont typeface="Arial"/>
              <a:buNone/>
            </a:pPr>
            <a:r>
              <a:rPr b="1" i="0" lang="fr" sz="1000" u="none" cap="none" strike="noStrike">
                <a:solidFill>
                  <a:srgbClr val="6D5AA5"/>
                </a:solidFill>
                <a:latin typeface="Arial"/>
                <a:ea typeface="Arial"/>
                <a:cs typeface="Arial"/>
                <a:sym typeface="Arial"/>
              </a:rPr>
              <a:t>WAVE</a:t>
            </a:r>
            <a:endParaRPr b="0" i="0" sz="10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53" name="Google Shape;253;p20"/>
          <p:cNvSpPr/>
          <p:nvPr/>
        </p:nvSpPr>
        <p:spPr>
          <a:xfrm>
            <a:off x="1879092" y="2235708"/>
            <a:ext cx="925800" cy="12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667085"/>
              </a:buClr>
              <a:buSzPts val="600"/>
              <a:buFont typeface="Arial"/>
              <a:buNone/>
            </a:pPr>
            <a:r>
              <a:rPr b="0" i="0" lang="fr" sz="600" u="none" cap="none" strike="noStrike">
                <a:solidFill>
                  <a:srgbClr val="667085"/>
                </a:solidFill>
                <a:latin typeface="Arial"/>
                <a:ea typeface="Arial"/>
                <a:cs typeface="Arial"/>
                <a:sym typeface="Arial"/>
              </a:rPr>
              <a:t>regrouper</a:t>
            </a:r>
            <a:endParaRPr b="0" i="0" sz="6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254" name="Google Shape;254;p20"/>
          <p:cNvCxnSpPr/>
          <p:nvPr/>
        </p:nvCxnSpPr>
        <p:spPr>
          <a:xfrm>
            <a:off x="2811780" y="2242566"/>
            <a:ext cx="219300" cy="0"/>
          </a:xfrm>
          <a:prstGeom prst="straightConnector1">
            <a:avLst/>
          </a:prstGeom>
          <a:noFill/>
          <a:ln cap="flat" cmpd="sng" w="19050">
            <a:solidFill>
              <a:srgbClr val="8CA2B5"/>
            </a:solidFill>
            <a:prstDash val="solid"/>
            <a:round/>
            <a:headEnd len="sm" w="sm" type="none"/>
            <a:tailEnd len="med" w="med" type="triangle"/>
          </a:ln>
        </p:spPr>
      </p:cxnSp>
      <p:sp>
        <p:nvSpPr>
          <p:cNvPr id="255" name="Google Shape;255;p20"/>
          <p:cNvSpPr/>
          <p:nvPr/>
        </p:nvSpPr>
        <p:spPr>
          <a:xfrm>
            <a:off x="3058668" y="1975104"/>
            <a:ext cx="994500" cy="534900"/>
          </a:xfrm>
          <a:prstGeom prst="roundRect">
            <a:avLst>
              <a:gd fmla="val 15385" name="adj"/>
            </a:avLst>
          </a:prstGeom>
          <a:solidFill>
            <a:srgbClr val="E7F0F7"/>
          </a:solidFill>
          <a:ln cap="flat" cmpd="sng" w="9525">
            <a:solidFill>
              <a:srgbClr val="D0E0EC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6" name="Google Shape;256;p20"/>
          <p:cNvSpPr/>
          <p:nvPr/>
        </p:nvSpPr>
        <p:spPr>
          <a:xfrm>
            <a:off x="3058668" y="2050542"/>
            <a:ext cx="994500" cy="157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2E6F9E"/>
              </a:buClr>
              <a:buSzPts val="900"/>
              <a:buFont typeface="Arial"/>
              <a:buNone/>
            </a:pPr>
            <a:r>
              <a:rPr b="1" i="0" lang="fr" sz="900" u="none" cap="none" strike="noStrike">
                <a:solidFill>
                  <a:srgbClr val="2E6F9E"/>
                </a:solidFill>
                <a:latin typeface="Arial"/>
                <a:ea typeface="Arial"/>
                <a:cs typeface="Arial"/>
                <a:sym typeface="Arial"/>
              </a:rPr>
              <a:t>ALLOCATION</a:t>
            </a:r>
            <a:endParaRPr b="0" i="0" sz="9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57" name="Google Shape;257;p20"/>
          <p:cNvSpPr/>
          <p:nvPr/>
        </p:nvSpPr>
        <p:spPr>
          <a:xfrm>
            <a:off x="3058668" y="2235708"/>
            <a:ext cx="994500" cy="12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667085"/>
              </a:buClr>
              <a:buSzPts val="600"/>
              <a:buFont typeface="Arial"/>
              <a:buNone/>
            </a:pPr>
            <a:r>
              <a:rPr b="0" i="0" lang="fr" sz="600" u="none" cap="none" strike="noStrike">
                <a:solidFill>
                  <a:srgbClr val="667085"/>
                </a:solidFill>
                <a:latin typeface="Arial"/>
                <a:ea typeface="Arial"/>
                <a:cs typeface="Arial"/>
                <a:sym typeface="Arial"/>
              </a:rPr>
              <a:t>où / combien</a:t>
            </a:r>
            <a:endParaRPr b="0" i="0" sz="6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258" name="Google Shape;258;p20"/>
          <p:cNvCxnSpPr/>
          <p:nvPr/>
        </p:nvCxnSpPr>
        <p:spPr>
          <a:xfrm>
            <a:off x="4073652" y="2242566"/>
            <a:ext cx="219300" cy="0"/>
          </a:xfrm>
          <a:prstGeom prst="straightConnector1">
            <a:avLst/>
          </a:prstGeom>
          <a:noFill/>
          <a:ln cap="flat" cmpd="sng" w="19050">
            <a:solidFill>
              <a:srgbClr val="8CA2B5"/>
            </a:solidFill>
            <a:prstDash val="solid"/>
            <a:round/>
            <a:headEnd len="sm" w="sm" type="none"/>
            <a:tailEnd len="med" w="med" type="triangle"/>
          </a:ln>
        </p:spPr>
      </p:cxnSp>
      <p:sp>
        <p:nvSpPr>
          <p:cNvPr id="259" name="Google Shape;259;p20"/>
          <p:cNvSpPr/>
          <p:nvPr/>
        </p:nvSpPr>
        <p:spPr>
          <a:xfrm>
            <a:off x="4320540" y="1975104"/>
            <a:ext cx="877800" cy="534900"/>
          </a:xfrm>
          <a:prstGeom prst="roundRect">
            <a:avLst>
              <a:gd fmla="val 15385" name="adj"/>
            </a:avLst>
          </a:prstGeom>
          <a:solidFill>
            <a:srgbClr val="DFF3F2"/>
          </a:solidFill>
          <a:ln cap="flat" cmpd="sng" w="9525">
            <a:solidFill>
              <a:srgbClr val="C9E8E6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0" name="Google Shape;260;p20"/>
          <p:cNvSpPr/>
          <p:nvPr/>
        </p:nvSpPr>
        <p:spPr>
          <a:xfrm>
            <a:off x="4320540" y="2050542"/>
            <a:ext cx="877800" cy="157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E8A8A"/>
              </a:buClr>
              <a:buSzPts val="900"/>
              <a:buFont typeface="Arial"/>
              <a:buNone/>
            </a:pPr>
            <a:r>
              <a:rPr b="1" i="0" lang="fr" sz="900" u="none" cap="none" strike="noStrike">
                <a:solidFill>
                  <a:srgbClr val="0E8A8A"/>
                </a:solidFill>
                <a:latin typeface="Arial"/>
                <a:ea typeface="Arial"/>
                <a:cs typeface="Arial"/>
                <a:sym typeface="Arial"/>
              </a:rPr>
              <a:t>TÂCHES</a:t>
            </a:r>
            <a:endParaRPr b="0" i="0" sz="9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61" name="Google Shape;261;p20"/>
          <p:cNvSpPr/>
          <p:nvPr/>
        </p:nvSpPr>
        <p:spPr>
          <a:xfrm>
            <a:off x="4320540" y="2235708"/>
            <a:ext cx="877800" cy="12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667085"/>
              </a:buClr>
              <a:buSzPts val="600"/>
              <a:buFont typeface="Arial"/>
              <a:buNone/>
            </a:pPr>
            <a:r>
              <a:rPr b="0" i="0" lang="fr" sz="600" u="none" cap="none" strike="noStrike">
                <a:solidFill>
                  <a:srgbClr val="667085"/>
                </a:solidFill>
                <a:latin typeface="Arial"/>
                <a:ea typeface="Arial"/>
                <a:cs typeface="Arial"/>
                <a:sym typeface="Arial"/>
              </a:rPr>
              <a:t>qui / quoi</a:t>
            </a:r>
            <a:endParaRPr b="0" i="0" sz="6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262" name="Google Shape;262;p20"/>
          <p:cNvCxnSpPr/>
          <p:nvPr/>
        </p:nvCxnSpPr>
        <p:spPr>
          <a:xfrm>
            <a:off x="5198364" y="2242566"/>
            <a:ext cx="253800" cy="0"/>
          </a:xfrm>
          <a:prstGeom prst="straightConnector1">
            <a:avLst/>
          </a:prstGeom>
          <a:noFill/>
          <a:ln cap="flat" cmpd="sng" w="19050">
            <a:solidFill>
              <a:srgbClr val="8CA2B5"/>
            </a:solidFill>
            <a:prstDash val="solid"/>
            <a:round/>
            <a:headEnd len="sm" w="sm" type="none"/>
            <a:tailEnd len="med" w="med" type="triangle"/>
          </a:ln>
        </p:spPr>
      </p:cxnSp>
      <p:sp>
        <p:nvSpPr>
          <p:cNvPr id="263" name="Google Shape;263;p20"/>
          <p:cNvSpPr/>
          <p:nvPr/>
        </p:nvSpPr>
        <p:spPr>
          <a:xfrm>
            <a:off x="5479542" y="1947672"/>
            <a:ext cx="425100" cy="589800"/>
          </a:xfrm>
          <a:prstGeom prst="roundRect">
            <a:avLst>
              <a:gd fmla="val 19355" name="adj"/>
            </a:avLst>
          </a:prstGeom>
          <a:solidFill>
            <a:srgbClr val="17324D"/>
          </a:solidFill>
          <a:ln cap="flat" cmpd="sng" w="9525">
            <a:solidFill>
              <a:srgbClr val="17324D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4" name="Google Shape;264;p20"/>
          <p:cNvSpPr/>
          <p:nvPr/>
        </p:nvSpPr>
        <p:spPr>
          <a:xfrm>
            <a:off x="5479542" y="2002536"/>
            <a:ext cx="425100" cy="288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500"/>
              <a:buFont typeface="Arial"/>
              <a:buNone/>
            </a:pPr>
            <a:r>
              <a:rPr b="1" i="0" lang="fr" sz="15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→</a:t>
            </a:r>
            <a:endParaRPr b="0" i="0" sz="15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65" name="Google Shape;265;p20"/>
          <p:cNvSpPr/>
          <p:nvPr/>
        </p:nvSpPr>
        <p:spPr>
          <a:xfrm>
            <a:off x="548640" y="2640330"/>
            <a:ext cx="1611600" cy="877800"/>
          </a:xfrm>
          <a:prstGeom prst="roundRect">
            <a:avLst>
              <a:gd fmla="val 9375" name="adj"/>
            </a:avLst>
          </a:prstGeom>
          <a:solidFill>
            <a:srgbClr val="FCEBDD"/>
          </a:solidFill>
          <a:ln cap="flat" cmpd="sng" w="9525">
            <a:solidFill>
              <a:srgbClr val="D9E2EC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6" name="Google Shape;266;p20"/>
          <p:cNvSpPr/>
          <p:nvPr/>
        </p:nvSpPr>
        <p:spPr>
          <a:xfrm>
            <a:off x="651510" y="2722626"/>
            <a:ext cx="1405800" cy="157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D97827"/>
              </a:buClr>
              <a:buSzPts val="900"/>
              <a:buFont typeface="Arial"/>
              <a:buNone/>
            </a:pPr>
            <a:r>
              <a:rPr b="1" i="0" lang="fr" sz="900" u="none" cap="none" strike="noStrike">
                <a:solidFill>
                  <a:srgbClr val="D97827"/>
                </a:solidFill>
                <a:latin typeface="Arial"/>
                <a:ea typeface="Arial"/>
                <a:cs typeface="Arial"/>
                <a:sym typeface="Arial"/>
              </a:rPr>
              <a:t>Inbound</a:t>
            </a:r>
            <a:endParaRPr b="0" i="0" sz="9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67" name="Google Shape;267;p20"/>
          <p:cNvSpPr/>
          <p:nvPr/>
        </p:nvSpPr>
        <p:spPr>
          <a:xfrm>
            <a:off x="651510" y="2921508"/>
            <a:ext cx="1419600" cy="137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F2937"/>
              </a:buClr>
              <a:buSzPts val="800"/>
              <a:buFont typeface="Arial"/>
              <a:buNone/>
            </a:pPr>
            <a:r>
              <a:rPr b="0" i="0" lang="fr" sz="800" u="none" cap="none" strike="noStrike">
                <a:solidFill>
                  <a:srgbClr val="1F2937"/>
                </a:solidFill>
                <a:latin typeface="Arial"/>
                <a:ea typeface="Arial"/>
                <a:cs typeface="Arial"/>
                <a:sym typeface="Arial"/>
              </a:rPr>
              <a:t>• Réception</a:t>
            </a:r>
            <a:endParaRPr b="0" i="0" sz="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68" name="Google Shape;268;p20"/>
          <p:cNvSpPr/>
          <p:nvPr/>
        </p:nvSpPr>
        <p:spPr>
          <a:xfrm>
            <a:off x="651510" y="3072384"/>
            <a:ext cx="1419600" cy="137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F2937"/>
              </a:buClr>
              <a:buSzPts val="800"/>
              <a:buFont typeface="Arial"/>
              <a:buNone/>
            </a:pPr>
            <a:r>
              <a:rPr b="0" i="0" lang="fr" sz="800" u="none" cap="none" strike="noStrike">
                <a:solidFill>
                  <a:srgbClr val="1F2937"/>
                </a:solidFill>
                <a:latin typeface="Arial"/>
                <a:ea typeface="Arial"/>
                <a:cs typeface="Arial"/>
                <a:sym typeface="Arial"/>
              </a:rPr>
              <a:t>• Rendez-vous</a:t>
            </a:r>
            <a:endParaRPr b="0" i="0" sz="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69" name="Google Shape;269;p20"/>
          <p:cNvSpPr/>
          <p:nvPr/>
        </p:nvSpPr>
        <p:spPr>
          <a:xfrm>
            <a:off x="651510" y="3223260"/>
            <a:ext cx="1419600" cy="137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F2937"/>
              </a:buClr>
              <a:buSzPts val="800"/>
              <a:buFont typeface="Arial"/>
              <a:buNone/>
            </a:pPr>
            <a:r>
              <a:rPr b="0" i="0" lang="fr" sz="800" u="none" cap="none" strike="noStrike">
                <a:solidFill>
                  <a:srgbClr val="1F2937"/>
                </a:solidFill>
                <a:latin typeface="Arial"/>
                <a:ea typeface="Arial"/>
                <a:cs typeface="Arial"/>
                <a:sym typeface="Arial"/>
              </a:rPr>
              <a:t>• Mise en stock</a:t>
            </a:r>
            <a:endParaRPr b="0" i="0" sz="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70" name="Google Shape;270;p20"/>
          <p:cNvSpPr/>
          <p:nvPr/>
        </p:nvSpPr>
        <p:spPr>
          <a:xfrm>
            <a:off x="2228850" y="2640330"/>
            <a:ext cx="1611600" cy="877800"/>
          </a:xfrm>
          <a:prstGeom prst="roundRect">
            <a:avLst>
              <a:gd fmla="val 9375" name="adj"/>
            </a:avLst>
          </a:prstGeom>
          <a:solidFill>
            <a:srgbClr val="E7F0F7"/>
          </a:solidFill>
          <a:ln cap="flat" cmpd="sng" w="9525">
            <a:solidFill>
              <a:srgbClr val="D9E2EC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1" name="Google Shape;271;p20"/>
          <p:cNvSpPr/>
          <p:nvPr/>
        </p:nvSpPr>
        <p:spPr>
          <a:xfrm>
            <a:off x="2331720" y="2722626"/>
            <a:ext cx="1405800" cy="157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E6F9E"/>
              </a:buClr>
              <a:buSzPts val="900"/>
              <a:buFont typeface="Arial"/>
              <a:buNone/>
            </a:pPr>
            <a:r>
              <a:rPr b="1" i="0" lang="fr" sz="900" u="none" cap="none" strike="noStrike">
                <a:solidFill>
                  <a:srgbClr val="2E6F9E"/>
                </a:solidFill>
                <a:latin typeface="Arial"/>
                <a:ea typeface="Arial"/>
                <a:cs typeface="Arial"/>
                <a:sym typeface="Arial"/>
              </a:rPr>
              <a:t>Stock / interne</a:t>
            </a:r>
            <a:endParaRPr b="0" i="0" sz="9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72" name="Google Shape;272;p20"/>
          <p:cNvSpPr/>
          <p:nvPr/>
        </p:nvSpPr>
        <p:spPr>
          <a:xfrm>
            <a:off x="2331720" y="2921508"/>
            <a:ext cx="1419600" cy="137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F2937"/>
              </a:buClr>
              <a:buSzPts val="800"/>
              <a:buFont typeface="Arial"/>
              <a:buNone/>
            </a:pPr>
            <a:r>
              <a:rPr b="0" i="0" lang="fr" sz="800" u="none" cap="none" strike="noStrike">
                <a:solidFill>
                  <a:srgbClr val="1F2937"/>
                </a:solidFill>
                <a:latin typeface="Arial"/>
                <a:ea typeface="Arial"/>
                <a:cs typeface="Arial"/>
                <a:sym typeface="Arial"/>
              </a:rPr>
              <a:t>• Inventaire</a:t>
            </a:r>
            <a:endParaRPr b="0" i="0" sz="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73" name="Google Shape;273;p20"/>
          <p:cNvSpPr/>
          <p:nvPr/>
        </p:nvSpPr>
        <p:spPr>
          <a:xfrm>
            <a:off x="2331720" y="3072384"/>
            <a:ext cx="1419600" cy="137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F2937"/>
              </a:buClr>
              <a:buSzPts val="800"/>
              <a:buFont typeface="Arial"/>
              <a:buNone/>
            </a:pPr>
            <a:r>
              <a:rPr b="0" i="0" lang="fr" sz="800" u="none" cap="none" strike="noStrike">
                <a:solidFill>
                  <a:srgbClr val="1F2937"/>
                </a:solidFill>
                <a:latin typeface="Arial"/>
                <a:ea typeface="Arial"/>
                <a:cs typeface="Arial"/>
                <a:sym typeface="Arial"/>
              </a:rPr>
              <a:t>• Réapprovisionnement</a:t>
            </a:r>
            <a:endParaRPr b="0" i="0" sz="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74" name="Google Shape;274;p20"/>
          <p:cNvSpPr/>
          <p:nvPr/>
        </p:nvSpPr>
        <p:spPr>
          <a:xfrm>
            <a:off x="2331720" y="3223260"/>
            <a:ext cx="1419600" cy="137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F2937"/>
              </a:buClr>
              <a:buSzPts val="800"/>
              <a:buFont typeface="Arial"/>
              <a:buNone/>
            </a:pPr>
            <a:r>
              <a:rPr b="0" i="0" lang="fr" sz="800" u="none" cap="none" strike="noStrike">
                <a:solidFill>
                  <a:srgbClr val="1F2937"/>
                </a:solidFill>
                <a:latin typeface="Arial"/>
                <a:ea typeface="Arial"/>
                <a:cs typeface="Arial"/>
                <a:sym typeface="Arial"/>
              </a:rPr>
              <a:t>• Suivi du stock</a:t>
            </a:r>
            <a:endParaRPr b="0" i="0" sz="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75" name="Google Shape;275;p20"/>
          <p:cNvSpPr/>
          <p:nvPr/>
        </p:nvSpPr>
        <p:spPr>
          <a:xfrm>
            <a:off x="3909060" y="2640330"/>
            <a:ext cx="1611600" cy="877800"/>
          </a:xfrm>
          <a:prstGeom prst="roundRect">
            <a:avLst>
              <a:gd fmla="val 9375" name="adj"/>
            </a:avLst>
          </a:prstGeom>
          <a:solidFill>
            <a:srgbClr val="DFF3F2"/>
          </a:solidFill>
          <a:ln cap="flat" cmpd="sng" w="9525">
            <a:solidFill>
              <a:srgbClr val="D9E2EC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6" name="Google Shape;276;p20"/>
          <p:cNvSpPr/>
          <p:nvPr/>
        </p:nvSpPr>
        <p:spPr>
          <a:xfrm>
            <a:off x="4011930" y="2722626"/>
            <a:ext cx="1405800" cy="157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E8A8A"/>
              </a:buClr>
              <a:buSzPts val="900"/>
              <a:buFont typeface="Arial"/>
              <a:buNone/>
            </a:pPr>
            <a:r>
              <a:rPr b="1" i="0" lang="fr" sz="900" u="none" cap="none" strike="noStrike">
                <a:solidFill>
                  <a:srgbClr val="0E8A8A"/>
                </a:solidFill>
                <a:latin typeface="Arial"/>
                <a:ea typeface="Arial"/>
                <a:cs typeface="Arial"/>
                <a:sym typeface="Arial"/>
              </a:rPr>
              <a:t>Outbound</a:t>
            </a:r>
            <a:endParaRPr b="0" i="0" sz="9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77" name="Google Shape;277;p20"/>
          <p:cNvSpPr/>
          <p:nvPr/>
        </p:nvSpPr>
        <p:spPr>
          <a:xfrm>
            <a:off x="4011930" y="2921508"/>
            <a:ext cx="1419600" cy="137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F2937"/>
              </a:buClr>
              <a:buSzPts val="800"/>
              <a:buFont typeface="Arial"/>
              <a:buNone/>
            </a:pPr>
            <a:r>
              <a:rPr b="0" i="0" lang="fr" sz="800" u="none" cap="none" strike="noStrike">
                <a:solidFill>
                  <a:srgbClr val="1F2937"/>
                </a:solidFill>
                <a:latin typeface="Arial"/>
                <a:ea typeface="Arial"/>
                <a:cs typeface="Arial"/>
                <a:sym typeface="Arial"/>
              </a:rPr>
              <a:t>• Wave</a:t>
            </a:r>
            <a:endParaRPr b="0" i="0" sz="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78" name="Google Shape;278;p20"/>
          <p:cNvSpPr/>
          <p:nvPr/>
        </p:nvSpPr>
        <p:spPr>
          <a:xfrm>
            <a:off x="4011930" y="3072384"/>
            <a:ext cx="1419600" cy="137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F2937"/>
              </a:buClr>
              <a:buSzPts val="800"/>
              <a:buFont typeface="Arial"/>
              <a:buNone/>
            </a:pPr>
            <a:r>
              <a:rPr b="0" i="0" lang="fr" sz="800" u="none" cap="none" strike="noStrike">
                <a:solidFill>
                  <a:srgbClr val="1F2937"/>
                </a:solidFill>
                <a:latin typeface="Arial"/>
                <a:ea typeface="Arial"/>
                <a:cs typeface="Arial"/>
                <a:sym typeface="Arial"/>
              </a:rPr>
              <a:t>• Picking</a:t>
            </a:r>
            <a:endParaRPr b="0" i="0" sz="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79" name="Google Shape;279;p20"/>
          <p:cNvSpPr/>
          <p:nvPr/>
        </p:nvSpPr>
        <p:spPr>
          <a:xfrm>
            <a:off x="4011930" y="3223260"/>
            <a:ext cx="1419600" cy="137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F2937"/>
              </a:buClr>
              <a:buSzPts val="800"/>
              <a:buFont typeface="Arial"/>
              <a:buNone/>
            </a:pPr>
            <a:r>
              <a:rPr b="0" i="0" lang="fr" sz="800" u="none" cap="none" strike="noStrike">
                <a:solidFill>
                  <a:srgbClr val="1F2937"/>
                </a:solidFill>
                <a:latin typeface="Arial"/>
                <a:ea typeface="Arial"/>
                <a:cs typeface="Arial"/>
                <a:sym typeface="Arial"/>
              </a:rPr>
              <a:t>• Packing / expédition</a:t>
            </a:r>
            <a:endParaRPr b="0" i="0" sz="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80" name="Google Shape;280;p20"/>
          <p:cNvSpPr/>
          <p:nvPr/>
        </p:nvSpPr>
        <p:spPr>
          <a:xfrm>
            <a:off x="6206490" y="1632204"/>
            <a:ext cx="2503200" cy="164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D97827"/>
              </a:buClr>
              <a:buSzPts val="700"/>
              <a:buFont typeface="Arial"/>
              <a:buNone/>
            </a:pPr>
            <a:r>
              <a:rPr b="1" i="0" lang="fr" sz="700" u="none" cap="none" strike="noStrike">
                <a:solidFill>
                  <a:srgbClr val="D97827"/>
                </a:solidFill>
                <a:latin typeface="Arial"/>
                <a:ea typeface="Arial"/>
                <a:cs typeface="Arial"/>
                <a:sym typeface="Arial"/>
              </a:rPr>
              <a:t>CE QUE LA SOLUTION APPORTE</a:t>
            </a:r>
            <a:endParaRPr b="0" i="0" sz="7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81" name="Google Shape;281;p20"/>
          <p:cNvSpPr/>
          <p:nvPr/>
        </p:nvSpPr>
        <p:spPr>
          <a:xfrm>
            <a:off x="6206490" y="1851660"/>
            <a:ext cx="2592300" cy="877800"/>
          </a:xfrm>
          <a:prstGeom prst="roundRect">
            <a:avLst>
              <a:gd fmla="val 9375" name="adj"/>
            </a:avLst>
          </a:prstGeom>
          <a:solidFill>
            <a:srgbClr val="FFFFFF"/>
          </a:solidFill>
          <a:ln cap="flat" cmpd="sng" w="9525">
            <a:solidFill>
              <a:srgbClr val="D9E2EC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82" name="Google Shape;282;p20"/>
          <p:cNvSpPr/>
          <p:nvPr/>
        </p:nvSpPr>
        <p:spPr>
          <a:xfrm>
            <a:off x="6309360" y="1933956"/>
            <a:ext cx="2386500" cy="157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D97827"/>
              </a:buClr>
              <a:buSzPts val="900"/>
              <a:buFont typeface="Arial"/>
              <a:buNone/>
            </a:pPr>
            <a:r>
              <a:rPr b="1" i="0" lang="fr" sz="900" u="none" cap="none" strike="noStrike">
                <a:solidFill>
                  <a:srgbClr val="D97827"/>
                </a:solidFill>
                <a:latin typeface="Arial"/>
                <a:ea typeface="Arial"/>
                <a:cs typeface="Arial"/>
                <a:sym typeface="Arial"/>
              </a:rPr>
              <a:t>Fonctions clés</a:t>
            </a:r>
            <a:endParaRPr b="0" i="0" sz="9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83" name="Google Shape;283;p20"/>
          <p:cNvSpPr/>
          <p:nvPr/>
        </p:nvSpPr>
        <p:spPr>
          <a:xfrm>
            <a:off x="6309360" y="2132838"/>
            <a:ext cx="2400300" cy="137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F2937"/>
              </a:buClr>
              <a:buSzPts val="800"/>
              <a:buFont typeface="Arial"/>
              <a:buNone/>
            </a:pPr>
            <a:r>
              <a:rPr b="0" i="0" lang="fr" sz="800" u="none" cap="none" strike="noStrike">
                <a:solidFill>
                  <a:srgbClr val="1F2937"/>
                </a:solidFill>
                <a:latin typeface="Arial"/>
                <a:ea typeface="Arial"/>
                <a:cs typeface="Arial"/>
                <a:sym typeface="Arial"/>
              </a:rPr>
              <a:t>• Wave &amp; allocation</a:t>
            </a:r>
            <a:endParaRPr b="0" i="0" sz="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84" name="Google Shape;284;p20"/>
          <p:cNvSpPr/>
          <p:nvPr/>
        </p:nvSpPr>
        <p:spPr>
          <a:xfrm>
            <a:off x="6309360" y="2283714"/>
            <a:ext cx="2400300" cy="137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F2937"/>
              </a:buClr>
              <a:buSzPts val="800"/>
              <a:buFont typeface="Arial"/>
              <a:buNone/>
            </a:pPr>
            <a:r>
              <a:rPr b="0" i="0" lang="fr" sz="800" u="none" cap="none" strike="noStrike">
                <a:solidFill>
                  <a:srgbClr val="1F2937"/>
                </a:solidFill>
                <a:latin typeface="Arial"/>
                <a:ea typeface="Arial"/>
                <a:cs typeface="Arial"/>
                <a:sym typeface="Arial"/>
              </a:rPr>
              <a:t>• Gestion des tâches</a:t>
            </a:r>
            <a:endParaRPr b="0" i="0" sz="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85" name="Google Shape;285;p20"/>
          <p:cNvSpPr/>
          <p:nvPr/>
        </p:nvSpPr>
        <p:spPr>
          <a:xfrm>
            <a:off x="6309360" y="2434590"/>
            <a:ext cx="2400300" cy="137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F2937"/>
              </a:buClr>
              <a:buSzPts val="800"/>
              <a:buFont typeface="Arial"/>
              <a:buNone/>
            </a:pPr>
            <a:r>
              <a:rPr b="0" i="0" lang="fr" sz="800" u="none" cap="none" strike="noStrike">
                <a:solidFill>
                  <a:srgbClr val="1F2937"/>
                </a:solidFill>
                <a:latin typeface="Arial"/>
                <a:ea typeface="Arial"/>
                <a:cs typeface="Arial"/>
                <a:sym typeface="Arial"/>
              </a:rPr>
              <a:t>• Réapprovisionnement</a:t>
            </a:r>
            <a:endParaRPr b="0" i="0" sz="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86" name="Google Shape;286;p20"/>
          <p:cNvSpPr/>
          <p:nvPr/>
        </p:nvSpPr>
        <p:spPr>
          <a:xfrm>
            <a:off x="6309360" y="2585466"/>
            <a:ext cx="2400300" cy="137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F2937"/>
              </a:buClr>
              <a:buSzPts val="800"/>
              <a:buFont typeface="Arial"/>
              <a:buNone/>
            </a:pPr>
            <a:r>
              <a:rPr b="0" i="0" lang="fr" sz="800" u="none" cap="none" strike="noStrike">
                <a:solidFill>
                  <a:srgbClr val="1F2937"/>
                </a:solidFill>
                <a:latin typeface="Arial"/>
                <a:ea typeface="Arial"/>
                <a:cs typeface="Arial"/>
                <a:sym typeface="Arial"/>
              </a:rPr>
              <a:t>• Intégration MHE / automatisation</a:t>
            </a:r>
            <a:endParaRPr b="0" i="0" sz="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87" name="Google Shape;287;p20"/>
          <p:cNvSpPr/>
          <p:nvPr/>
        </p:nvSpPr>
        <p:spPr>
          <a:xfrm>
            <a:off x="6206490" y="2846070"/>
            <a:ext cx="1200300" cy="576000"/>
          </a:xfrm>
          <a:prstGeom prst="roundRect">
            <a:avLst>
              <a:gd fmla="val 14286" name="adj"/>
            </a:avLst>
          </a:prstGeom>
          <a:solidFill>
            <a:srgbClr val="FCEBDD"/>
          </a:solidFill>
          <a:ln cap="flat" cmpd="sng" w="9525">
            <a:solidFill>
              <a:srgbClr val="D9E2EC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88" name="Google Shape;288;p20"/>
          <p:cNvSpPr/>
          <p:nvPr/>
        </p:nvSpPr>
        <p:spPr>
          <a:xfrm>
            <a:off x="6316218" y="2900934"/>
            <a:ext cx="980700" cy="178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D97827"/>
              </a:buClr>
              <a:buSzPts val="1400"/>
              <a:buFont typeface="Arial"/>
              <a:buNone/>
            </a:pPr>
            <a:r>
              <a:rPr b="1" i="0" lang="fr" sz="1400" u="none" cap="none" strike="noStrike">
                <a:solidFill>
                  <a:srgbClr val="D97827"/>
                </a:solidFill>
                <a:latin typeface="Arial"/>
                <a:ea typeface="Arial"/>
                <a:cs typeface="Arial"/>
                <a:sym typeface="Arial"/>
              </a:rPr>
              <a:t>ORCHESTRÉE</a:t>
            </a:r>
            <a:endParaRPr b="0" i="0" sz="1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89" name="Google Shape;289;p20"/>
          <p:cNvSpPr/>
          <p:nvPr/>
        </p:nvSpPr>
        <p:spPr>
          <a:xfrm>
            <a:off x="6316218" y="3127248"/>
            <a:ext cx="994500" cy="150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67085"/>
              </a:buClr>
              <a:buSzPts val="700"/>
              <a:buFont typeface="Arial"/>
              <a:buNone/>
            </a:pPr>
            <a:r>
              <a:rPr b="1" i="0" lang="fr" sz="700" u="none" cap="none" strike="noStrike">
                <a:solidFill>
                  <a:srgbClr val="667085"/>
                </a:solidFill>
                <a:latin typeface="Arial"/>
                <a:ea typeface="Arial"/>
                <a:cs typeface="Arial"/>
                <a:sym typeface="Arial"/>
              </a:rPr>
              <a:t>Approche</a:t>
            </a:r>
            <a:endParaRPr b="0" i="0" sz="7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90" name="Google Shape;290;p20"/>
          <p:cNvSpPr/>
          <p:nvPr/>
        </p:nvSpPr>
        <p:spPr>
          <a:xfrm>
            <a:off x="7598664" y="2846070"/>
            <a:ext cx="1200300" cy="576000"/>
          </a:xfrm>
          <a:prstGeom prst="roundRect">
            <a:avLst>
              <a:gd fmla="val 14286" name="adj"/>
            </a:avLst>
          </a:prstGeom>
          <a:solidFill>
            <a:srgbClr val="EEF2F6"/>
          </a:solidFill>
          <a:ln cap="flat" cmpd="sng" w="9525">
            <a:solidFill>
              <a:srgbClr val="D9E2EC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91" name="Google Shape;291;p20"/>
          <p:cNvSpPr/>
          <p:nvPr/>
        </p:nvSpPr>
        <p:spPr>
          <a:xfrm>
            <a:off x="7708392" y="2900934"/>
            <a:ext cx="980700" cy="178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7324D"/>
              </a:buClr>
              <a:buSzPts val="1400"/>
              <a:buFont typeface="Arial"/>
              <a:buNone/>
            </a:pPr>
            <a:r>
              <a:rPr b="1" i="0" lang="fr" sz="1400" u="none" cap="none" strike="noStrike">
                <a:solidFill>
                  <a:srgbClr val="17324D"/>
                </a:solidFill>
                <a:latin typeface="Arial"/>
                <a:ea typeface="Arial"/>
                <a:cs typeface="Arial"/>
                <a:sym typeface="Arial"/>
              </a:rPr>
              <a:t>TÂCHES</a:t>
            </a:r>
            <a:endParaRPr b="0" i="0" sz="1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92" name="Google Shape;292;p20"/>
          <p:cNvSpPr/>
          <p:nvPr/>
        </p:nvSpPr>
        <p:spPr>
          <a:xfrm>
            <a:off x="7708392" y="3127248"/>
            <a:ext cx="994500" cy="150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67085"/>
              </a:buClr>
              <a:buSzPts val="700"/>
              <a:buFont typeface="Arial"/>
              <a:buNone/>
            </a:pPr>
            <a:r>
              <a:rPr b="1" i="0" lang="fr" sz="700" u="none" cap="none" strike="noStrike">
                <a:solidFill>
                  <a:srgbClr val="667085"/>
                </a:solidFill>
                <a:latin typeface="Arial"/>
                <a:ea typeface="Arial"/>
                <a:cs typeface="Arial"/>
                <a:sym typeface="Arial"/>
              </a:rPr>
              <a:t>Focus</a:t>
            </a:r>
            <a:endParaRPr b="0" i="0" sz="7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93" name="Google Shape;293;p20"/>
          <p:cNvSpPr/>
          <p:nvPr/>
        </p:nvSpPr>
        <p:spPr>
          <a:xfrm>
            <a:off x="6206490" y="3531870"/>
            <a:ext cx="2592300" cy="651600"/>
          </a:xfrm>
          <a:prstGeom prst="roundRect">
            <a:avLst>
              <a:gd fmla="val 12632" name="adj"/>
            </a:avLst>
          </a:prstGeom>
          <a:solidFill>
            <a:srgbClr val="17324D"/>
          </a:solidFill>
          <a:ln cap="flat" cmpd="sng" w="9525">
            <a:solidFill>
              <a:srgbClr val="18344B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94" name="Google Shape;294;p20"/>
          <p:cNvSpPr/>
          <p:nvPr/>
        </p:nvSpPr>
        <p:spPr>
          <a:xfrm>
            <a:off x="6309360" y="3627882"/>
            <a:ext cx="891600" cy="12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BEE8E6"/>
              </a:buClr>
              <a:buSzPts val="700"/>
              <a:buFont typeface="Arial"/>
              <a:buNone/>
            </a:pPr>
            <a:r>
              <a:rPr b="1" i="0" lang="fr" sz="700" u="none" cap="none" strike="noStrike">
                <a:solidFill>
                  <a:srgbClr val="BEE8E6"/>
                </a:solidFill>
                <a:latin typeface="Arial"/>
                <a:ea typeface="Arial"/>
                <a:cs typeface="Arial"/>
                <a:sym typeface="Arial"/>
              </a:rPr>
              <a:t>POINT FORT</a:t>
            </a:r>
            <a:endParaRPr b="0" i="0" sz="7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95" name="Google Shape;295;p20"/>
          <p:cNvSpPr/>
          <p:nvPr/>
        </p:nvSpPr>
        <p:spPr>
          <a:xfrm>
            <a:off x="6309360" y="3785616"/>
            <a:ext cx="2366100" cy="219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Arial"/>
              <a:buNone/>
            </a:pPr>
            <a:r>
              <a:rPr b="1" i="0" lang="fr" sz="10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Transformer les commandes en travail coordonné.</a:t>
            </a:r>
            <a:endParaRPr b="0" i="0" sz="10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96" name="Google Shape;296;p20"/>
          <p:cNvSpPr/>
          <p:nvPr/>
        </p:nvSpPr>
        <p:spPr>
          <a:xfrm>
            <a:off x="6206490" y="4265676"/>
            <a:ext cx="2592300" cy="397800"/>
          </a:xfrm>
          <a:prstGeom prst="roundRect">
            <a:avLst>
              <a:gd fmla="val 20690" name="adj"/>
            </a:avLst>
          </a:prstGeom>
          <a:solidFill>
            <a:srgbClr val="FFFFFF"/>
          </a:solidFill>
          <a:ln cap="flat" cmpd="sng" w="9525">
            <a:solidFill>
              <a:srgbClr val="D7E0EA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97" name="Google Shape;297;p20"/>
          <p:cNvSpPr/>
          <p:nvPr/>
        </p:nvSpPr>
        <p:spPr>
          <a:xfrm>
            <a:off x="4114800" y="4882896"/>
            <a:ext cx="4183500" cy="12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7A8699"/>
              </a:buClr>
              <a:buSzPts val="600"/>
              <a:buFont typeface="Arial"/>
              <a:buNone/>
            </a:pPr>
            <a:r>
              <a:rPr b="0" i="1" lang="fr" sz="600" u="none" cap="none" strike="noStrike">
                <a:solidFill>
                  <a:srgbClr val="7A8699"/>
                </a:solidFill>
                <a:latin typeface="Arial"/>
                <a:ea typeface="Arial"/>
                <a:cs typeface="Arial"/>
                <a:sym typeface="Arial"/>
              </a:rPr>
              <a:t>Sources : Oracle WMS Cloud — task management, waving, replenishment, warehouse automation, AI assistants.</a:t>
            </a:r>
            <a:endParaRPr b="0" i="0" sz="6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98" name="Google Shape;298;p20"/>
          <p:cNvSpPr txBox="1"/>
          <p:nvPr>
            <p:ph idx="4294967295" type="sldNum"/>
          </p:nvPr>
        </p:nvSpPr>
        <p:spPr>
          <a:xfrm>
            <a:off x="8606790" y="4855464"/>
            <a:ext cx="600000" cy="2250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0" i="0" lang="fr" sz="600" u="none" cap="none" strike="noStrike">
                <a:solidFill>
                  <a:srgbClr val="6B7280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b="0" i="0" sz="600" u="none" cap="none" strike="noStrike">
              <a:solidFill>
                <a:srgbClr val="6B728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03" name="Shape 3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4" name="Google Shape;304;p21"/>
          <p:cNvSpPr/>
          <p:nvPr/>
        </p:nvSpPr>
        <p:spPr>
          <a:xfrm>
            <a:off x="342900" y="185166"/>
            <a:ext cx="2331600" cy="150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7324D"/>
              </a:buClr>
              <a:buSzPts val="700"/>
              <a:buFont typeface="Arial"/>
              <a:buNone/>
            </a:pPr>
            <a:r>
              <a:rPr b="1" i="0" lang="fr" sz="700" u="none" cap="none" strike="noStrike">
                <a:solidFill>
                  <a:srgbClr val="17324D"/>
                </a:solidFill>
                <a:latin typeface="Arial"/>
                <a:ea typeface="Arial"/>
                <a:cs typeface="Arial"/>
                <a:sym typeface="Arial"/>
              </a:rPr>
              <a:t>04 • PROPOSITION</a:t>
            </a:r>
            <a:endParaRPr b="0" i="0" sz="7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05" name="Google Shape;305;p21"/>
          <p:cNvSpPr/>
          <p:nvPr/>
        </p:nvSpPr>
        <p:spPr>
          <a:xfrm>
            <a:off x="342900" y="356616"/>
            <a:ext cx="8160900" cy="363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7324D"/>
              </a:buClr>
              <a:buSzPts val="1900"/>
              <a:buFont typeface="Arial"/>
              <a:buNone/>
            </a:pPr>
            <a:r>
              <a:rPr b="1" i="0" lang="fr" sz="1900" u="none" cap="none" strike="noStrike">
                <a:solidFill>
                  <a:srgbClr val="17324D"/>
                </a:solidFill>
                <a:latin typeface="Arial"/>
                <a:ea typeface="Arial"/>
                <a:cs typeface="Arial"/>
                <a:sym typeface="Arial"/>
              </a:rPr>
              <a:t>Vers un Smart WMS — conserver le socle commun, ajouter l’intelligence</a:t>
            </a:r>
            <a:endParaRPr b="0" i="0" sz="19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06" name="Google Shape;306;p21"/>
          <p:cNvSpPr/>
          <p:nvPr/>
        </p:nvSpPr>
        <p:spPr>
          <a:xfrm>
            <a:off x="342900" y="740664"/>
            <a:ext cx="8160900" cy="246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67085"/>
              </a:buClr>
              <a:buSzPts val="900"/>
              <a:buFont typeface="Arial"/>
              <a:buNone/>
            </a:pPr>
            <a:r>
              <a:rPr b="0" i="0" lang="fr" sz="900" u="none" cap="none" strike="noStrike">
                <a:solidFill>
                  <a:srgbClr val="667085"/>
                </a:solidFill>
                <a:latin typeface="Arial"/>
                <a:ea typeface="Arial"/>
                <a:cs typeface="Arial"/>
                <a:sym typeface="Arial"/>
              </a:rPr>
              <a:t>Notre cible part des fonctions communes aux leaders et ajoute une boucle IA orientée décision et amélioration.</a:t>
            </a:r>
            <a:endParaRPr b="0" i="0" sz="9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07" name="Google Shape;307;p21"/>
          <p:cNvSpPr/>
          <p:nvPr/>
        </p:nvSpPr>
        <p:spPr>
          <a:xfrm>
            <a:off x="342900" y="1083564"/>
            <a:ext cx="3086100" cy="164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E8A8A"/>
              </a:buClr>
              <a:buSzPts val="700"/>
              <a:buFont typeface="Arial"/>
              <a:buNone/>
            </a:pPr>
            <a:r>
              <a:rPr b="1" i="0" lang="fr" sz="700" u="none" cap="none" strike="noStrike">
                <a:solidFill>
                  <a:srgbClr val="0E8A8A"/>
                </a:solidFill>
                <a:latin typeface="Arial"/>
                <a:ea typeface="Arial"/>
                <a:cs typeface="Arial"/>
                <a:sym typeface="Arial"/>
              </a:rPr>
              <a:t>CE QUE LES 3 LEADERS ONT EN COMMUN</a:t>
            </a:r>
            <a:endParaRPr b="0" i="0" sz="7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08" name="Google Shape;308;p21"/>
          <p:cNvSpPr/>
          <p:nvPr/>
        </p:nvSpPr>
        <p:spPr>
          <a:xfrm>
            <a:off x="342900" y="1282446"/>
            <a:ext cx="8435400" cy="493800"/>
          </a:xfrm>
          <a:prstGeom prst="roundRect">
            <a:avLst>
              <a:gd fmla="val 16667" name="adj"/>
            </a:avLst>
          </a:prstGeom>
          <a:solidFill>
            <a:srgbClr val="FFFFFF"/>
          </a:solidFill>
          <a:ln cap="flat" cmpd="sng" w="9525">
            <a:solidFill>
              <a:srgbClr val="D7E0EA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09" name="Google Shape;309;p21"/>
          <p:cNvSpPr/>
          <p:nvPr/>
        </p:nvSpPr>
        <p:spPr>
          <a:xfrm>
            <a:off x="493776" y="1419606"/>
            <a:ext cx="1714500" cy="233100"/>
          </a:xfrm>
          <a:prstGeom prst="roundRect">
            <a:avLst>
              <a:gd fmla="val 50000" name="adj"/>
            </a:avLst>
          </a:prstGeom>
          <a:solidFill>
            <a:srgbClr val="DFF3F2"/>
          </a:solidFill>
          <a:ln cap="flat" cmpd="sng" w="9525">
            <a:solidFill>
              <a:srgbClr val="DFF3F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10" name="Google Shape;310;p21"/>
          <p:cNvSpPr/>
          <p:nvPr/>
        </p:nvSpPr>
        <p:spPr>
          <a:xfrm>
            <a:off x="548640" y="1433322"/>
            <a:ext cx="1604700" cy="192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E8A8A"/>
              </a:buClr>
              <a:buSzPts val="700"/>
              <a:buFont typeface="Arial"/>
              <a:buNone/>
            </a:pPr>
            <a:r>
              <a:rPr b="1" i="0" lang="fr" sz="700" u="none" cap="none" strike="noStrike">
                <a:solidFill>
                  <a:srgbClr val="0E8A8A"/>
                </a:solidFill>
                <a:latin typeface="Arial"/>
                <a:ea typeface="Arial"/>
                <a:cs typeface="Arial"/>
                <a:sym typeface="Arial"/>
              </a:rPr>
              <a:t>RÉCEPTION</a:t>
            </a:r>
            <a:endParaRPr b="0" i="0" sz="7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311" name="Google Shape;311;p21"/>
          <p:cNvCxnSpPr/>
          <p:nvPr/>
        </p:nvCxnSpPr>
        <p:spPr>
          <a:xfrm>
            <a:off x="2221992" y="1536192"/>
            <a:ext cx="514500" cy="0"/>
          </a:xfrm>
          <a:prstGeom prst="straightConnector1">
            <a:avLst/>
          </a:prstGeom>
          <a:noFill/>
          <a:ln cap="flat" cmpd="sng" w="14300">
            <a:solidFill>
              <a:srgbClr val="A1AFBD"/>
            </a:solidFill>
            <a:prstDash val="solid"/>
            <a:round/>
            <a:headEnd len="sm" w="sm" type="none"/>
            <a:tailEnd len="med" w="med" type="triangle"/>
          </a:ln>
        </p:spPr>
      </p:cxnSp>
      <p:sp>
        <p:nvSpPr>
          <p:cNvPr id="312" name="Google Shape;312;p21"/>
          <p:cNvSpPr/>
          <p:nvPr/>
        </p:nvSpPr>
        <p:spPr>
          <a:xfrm>
            <a:off x="2756916" y="1419606"/>
            <a:ext cx="1783200" cy="233100"/>
          </a:xfrm>
          <a:prstGeom prst="roundRect">
            <a:avLst>
              <a:gd fmla="val 50000" name="adj"/>
            </a:avLst>
          </a:prstGeom>
          <a:solidFill>
            <a:srgbClr val="E7F0F7"/>
          </a:solidFill>
          <a:ln cap="flat" cmpd="sng" w="9525">
            <a:solidFill>
              <a:srgbClr val="E7F0F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13" name="Google Shape;313;p21"/>
          <p:cNvSpPr/>
          <p:nvPr/>
        </p:nvSpPr>
        <p:spPr>
          <a:xfrm>
            <a:off x="2811780" y="1433322"/>
            <a:ext cx="1673400" cy="192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2E6F9E"/>
              </a:buClr>
              <a:buSzPts val="700"/>
              <a:buFont typeface="Arial"/>
              <a:buNone/>
            </a:pPr>
            <a:r>
              <a:rPr b="1" i="0" lang="fr" sz="700" u="none" cap="none" strike="noStrike">
                <a:solidFill>
                  <a:srgbClr val="2E6F9E"/>
                </a:solidFill>
                <a:latin typeface="Arial"/>
                <a:ea typeface="Arial"/>
                <a:cs typeface="Arial"/>
                <a:sym typeface="Arial"/>
              </a:rPr>
              <a:t>STOCKAGE / INVENTAIRE</a:t>
            </a:r>
            <a:endParaRPr b="0" i="0" sz="7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314" name="Google Shape;314;p21"/>
          <p:cNvCxnSpPr/>
          <p:nvPr/>
        </p:nvCxnSpPr>
        <p:spPr>
          <a:xfrm>
            <a:off x="4553712" y="1536192"/>
            <a:ext cx="452700" cy="0"/>
          </a:xfrm>
          <a:prstGeom prst="straightConnector1">
            <a:avLst/>
          </a:prstGeom>
          <a:noFill/>
          <a:ln cap="flat" cmpd="sng" w="14300">
            <a:solidFill>
              <a:srgbClr val="A1AFBD"/>
            </a:solidFill>
            <a:prstDash val="solid"/>
            <a:round/>
            <a:headEnd len="sm" w="sm" type="none"/>
            <a:tailEnd len="med" w="med" type="triangle"/>
          </a:ln>
        </p:spPr>
      </p:cxnSp>
      <p:sp>
        <p:nvSpPr>
          <p:cNvPr id="315" name="Google Shape;315;p21"/>
          <p:cNvSpPr/>
          <p:nvPr/>
        </p:nvSpPr>
        <p:spPr>
          <a:xfrm>
            <a:off x="5026914" y="1419606"/>
            <a:ext cx="1714500" cy="233100"/>
          </a:xfrm>
          <a:prstGeom prst="roundRect">
            <a:avLst>
              <a:gd fmla="val 50000" name="adj"/>
            </a:avLst>
          </a:prstGeom>
          <a:solidFill>
            <a:srgbClr val="DFF3F2"/>
          </a:solidFill>
          <a:ln cap="flat" cmpd="sng" w="9525">
            <a:solidFill>
              <a:srgbClr val="DFF3F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16" name="Google Shape;316;p21"/>
          <p:cNvSpPr/>
          <p:nvPr/>
        </p:nvSpPr>
        <p:spPr>
          <a:xfrm>
            <a:off x="5081778" y="1433322"/>
            <a:ext cx="1604700" cy="192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E8A8A"/>
              </a:buClr>
              <a:buSzPts val="700"/>
              <a:buFont typeface="Arial"/>
              <a:buNone/>
            </a:pPr>
            <a:r>
              <a:rPr b="1" i="0" lang="fr" sz="700" u="none" cap="none" strike="noStrike">
                <a:solidFill>
                  <a:srgbClr val="0E8A8A"/>
                </a:solidFill>
                <a:latin typeface="Arial"/>
                <a:ea typeface="Arial"/>
                <a:cs typeface="Arial"/>
                <a:sym typeface="Arial"/>
              </a:rPr>
              <a:t>PRÉPARATION</a:t>
            </a:r>
            <a:endParaRPr b="0" i="0" sz="7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317" name="Google Shape;317;p21"/>
          <p:cNvCxnSpPr/>
          <p:nvPr/>
        </p:nvCxnSpPr>
        <p:spPr>
          <a:xfrm>
            <a:off x="6755130" y="1536192"/>
            <a:ext cx="459600" cy="0"/>
          </a:xfrm>
          <a:prstGeom prst="straightConnector1">
            <a:avLst/>
          </a:prstGeom>
          <a:noFill/>
          <a:ln cap="flat" cmpd="sng" w="14300">
            <a:solidFill>
              <a:srgbClr val="A1AFBD"/>
            </a:solidFill>
            <a:prstDash val="solid"/>
            <a:round/>
            <a:headEnd len="sm" w="sm" type="none"/>
            <a:tailEnd len="med" w="med" type="triangle"/>
          </a:ln>
        </p:spPr>
      </p:cxnSp>
      <p:sp>
        <p:nvSpPr>
          <p:cNvPr id="318" name="Google Shape;318;p21"/>
          <p:cNvSpPr/>
          <p:nvPr/>
        </p:nvSpPr>
        <p:spPr>
          <a:xfrm>
            <a:off x="7235190" y="1419606"/>
            <a:ext cx="1714500" cy="233100"/>
          </a:xfrm>
          <a:prstGeom prst="roundRect">
            <a:avLst>
              <a:gd fmla="val 50000" name="adj"/>
            </a:avLst>
          </a:prstGeom>
          <a:solidFill>
            <a:srgbClr val="E7F0F7"/>
          </a:solidFill>
          <a:ln cap="flat" cmpd="sng" w="9525">
            <a:solidFill>
              <a:srgbClr val="E7F0F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19" name="Google Shape;319;p21"/>
          <p:cNvSpPr/>
          <p:nvPr/>
        </p:nvSpPr>
        <p:spPr>
          <a:xfrm>
            <a:off x="7290054" y="1433322"/>
            <a:ext cx="1604700" cy="192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2E6F9E"/>
              </a:buClr>
              <a:buSzPts val="700"/>
              <a:buFont typeface="Arial"/>
              <a:buNone/>
            </a:pPr>
            <a:r>
              <a:rPr b="1" i="0" lang="fr" sz="700" u="none" cap="none" strike="noStrike">
                <a:solidFill>
                  <a:srgbClr val="2E6F9E"/>
                </a:solidFill>
                <a:latin typeface="Arial"/>
                <a:ea typeface="Arial"/>
                <a:cs typeface="Arial"/>
                <a:sym typeface="Arial"/>
              </a:rPr>
              <a:t>EXPÉDITION</a:t>
            </a:r>
            <a:endParaRPr b="0" i="0" sz="7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20" name="Google Shape;320;p21"/>
          <p:cNvSpPr/>
          <p:nvPr/>
        </p:nvSpPr>
        <p:spPr>
          <a:xfrm>
            <a:off x="342900" y="1940814"/>
            <a:ext cx="3429000" cy="164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7324D"/>
              </a:buClr>
              <a:buSzPts val="700"/>
              <a:buFont typeface="Arial"/>
              <a:buNone/>
            </a:pPr>
            <a:r>
              <a:rPr b="1" i="0" lang="fr" sz="700" u="none" cap="none" strike="noStrike">
                <a:solidFill>
                  <a:srgbClr val="17324D"/>
                </a:solidFill>
                <a:latin typeface="Arial"/>
                <a:ea typeface="Arial"/>
                <a:cs typeface="Arial"/>
                <a:sym typeface="Arial"/>
              </a:rPr>
              <a:t>NOTRE ARCHITECTURE FONCTIONNELLE CIBLE</a:t>
            </a:r>
            <a:endParaRPr b="0" i="0" sz="7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21" name="Google Shape;321;p21"/>
          <p:cNvSpPr/>
          <p:nvPr/>
        </p:nvSpPr>
        <p:spPr>
          <a:xfrm>
            <a:off x="342900" y="2146554"/>
            <a:ext cx="5520600" cy="2126100"/>
          </a:xfrm>
          <a:prstGeom prst="roundRect">
            <a:avLst>
              <a:gd fmla="val 3871" name="adj"/>
            </a:avLst>
          </a:prstGeom>
          <a:solidFill>
            <a:srgbClr val="FFFFFF"/>
          </a:solidFill>
          <a:ln cap="flat" cmpd="sng" w="9525">
            <a:solidFill>
              <a:srgbClr val="D7E0EA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22" name="Google Shape;322;p21"/>
          <p:cNvSpPr/>
          <p:nvPr/>
        </p:nvSpPr>
        <p:spPr>
          <a:xfrm>
            <a:off x="521208" y="2331720"/>
            <a:ext cx="205800" cy="205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900"/>
              <a:buFont typeface="Arial"/>
              <a:buNone/>
            </a:pPr>
            <a:r>
              <a:rPr b="1" i="0" lang="fr" sz="9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1</a:t>
            </a:r>
            <a:endParaRPr b="0" i="0" sz="9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23" name="Google Shape;323;p21"/>
          <p:cNvSpPr/>
          <p:nvPr/>
        </p:nvSpPr>
        <p:spPr>
          <a:xfrm>
            <a:off x="493776" y="2324862"/>
            <a:ext cx="233100" cy="233100"/>
          </a:xfrm>
          <a:prstGeom prst="ellipse">
            <a:avLst/>
          </a:prstGeom>
          <a:solidFill>
            <a:srgbClr val="17324D"/>
          </a:solidFill>
          <a:ln cap="flat" cmpd="sng" w="9525">
            <a:solidFill>
              <a:srgbClr val="17324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24" name="Google Shape;324;p21"/>
          <p:cNvSpPr/>
          <p:nvPr/>
        </p:nvSpPr>
        <p:spPr>
          <a:xfrm>
            <a:off x="809244" y="2304288"/>
            <a:ext cx="823200" cy="178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7324D"/>
              </a:buClr>
              <a:buSzPts val="900"/>
              <a:buFont typeface="Arial"/>
              <a:buNone/>
            </a:pPr>
            <a:r>
              <a:rPr b="1" i="0" lang="fr" sz="900" u="none" cap="none" strike="noStrike">
                <a:solidFill>
                  <a:srgbClr val="17324D"/>
                </a:solidFill>
                <a:latin typeface="Arial"/>
                <a:ea typeface="Arial"/>
                <a:cs typeface="Arial"/>
                <a:sym typeface="Arial"/>
              </a:rPr>
              <a:t>Socle WMS</a:t>
            </a:r>
            <a:endParaRPr b="0" i="0" sz="9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25" name="Google Shape;325;p21"/>
          <p:cNvSpPr/>
          <p:nvPr/>
        </p:nvSpPr>
        <p:spPr>
          <a:xfrm>
            <a:off x="514350" y="2592324"/>
            <a:ext cx="1563600" cy="877800"/>
          </a:xfrm>
          <a:prstGeom prst="roundRect">
            <a:avLst>
              <a:gd fmla="val 9375" name="adj"/>
            </a:avLst>
          </a:prstGeom>
          <a:solidFill>
            <a:srgbClr val="DFF3F2"/>
          </a:solidFill>
          <a:ln cap="flat" cmpd="sng" w="9525">
            <a:solidFill>
              <a:srgbClr val="D9E2EC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26" name="Google Shape;326;p21"/>
          <p:cNvSpPr/>
          <p:nvPr/>
        </p:nvSpPr>
        <p:spPr>
          <a:xfrm>
            <a:off x="617220" y="2674620"/>
            <a:ext cx="1357800" cy="157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E8A8A"/>
              </a:buClr>
              <a:buSzPts val="900"/>
              <a:buFont typeface="Arial"/>
              <a:buNone/>
            </a:pPr>
            <a:r>
              <a:rPr b="1" i="0" lang="fr" sz="900" u="none" cap="none" strike="noStrike">
                <a:solidFill>
                  <a:srgbClr val="0E8A8A"/>
                </a:solidFill>
                <a:latin typeface="Arial"/>
                <a:ea typeface="Arial"/>
                <a:cs typeface="Arial"/>
                <a:sym typeface="Arial"/>
              </a:rPr>
              <a:t>Inbound</a:t>
            </a:r>
            <a:endParaRPr b="0" i="0" sz="9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27" name="Google Shape;327;p21"/>
          <p:cNvSpPr/>
          <p:nvPr/>
        </p:nvSpPr>
        <p:spPr>
          <a:xfrm>
            <a:off x="617220" y="2873502"/>
            <a:ext cx="1371600" cy="137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F2937"/>
              </a:buClr>
              <a:buSzPts val="800"/>
              <a:buFont typeface="Arial"/>
              <a:buNone/>
            </a:pPr>
            <a:r>
              <a:rPr b="0" i="0" lang="fr" sz="800" u="none" cap="none" strike="noStrike">
                <a:solidFill>
                  <a:srgbClr val="1F2937"/>
                </a:solidFill>
                <a:latin typeface="Arial"/>
                <a:ea typeface="Arial"/>
                <a:cs typeface="Arial"/>
                <a:sym typeface="Arial"/>
              </a:rPr>
              <a:t>• Réception</a:t>
            </a:r>
            <a:endParaRPr b="0" i="0" sz="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28" name="Google Shape;328;p21"/>
          <p:cNvSpPr/>
          <p:nvPr/>
        </p:nvSpPr>
        <p:spPr>
          <a:xfrm>
            <a:off x="617220" y="3024378"/>
            <a:ext cx="1371600" cy="137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F2937"/>
              </a:buClr>
              <a:buSzPts val="800"/>
              <a:buFont typeface="Arial"/>
              <a:buNone/>
            </a:pPr>
            <a:r>
              <a:rPr b="0" i="0" lang="fr" sz="800" u="none" cap="none" strike="noStrike">
                <a:solidFill>
                  <a:srgbClr val="1F2937"/>
                </a:solidFill>
                <a:latin typeface="Arial"/>
                <a:ea typeface="Arial"/>
                <a:cs typeface="Arial"/>
                <a:sym typeface="Arial"/>
              </a:rPr>
              <a:t>• Contrôle</a:t>
            </a:r>
            <a:endParaRPr b="0" i="0" sz="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29" name="Google Shape;329;p21"/>
          <p:cNvSpPr/>
          <p:nvPr/>
        </p:nvSpPr>
        <p:spPr>
          <a:xfrm>
            <a:off x="617220" y="3175254"/>
            <a:ext cx="1371600" cy="137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F2937"/>
              </a:buClr>
              <a:buSzPts val="800"/>
              <a:buFont typeface="Arial"/>
              <a:buNone/>
            </a:pPr>
            <a:r>
              <a:rPr b="0" i="0" lang="fr" sz="800" u="none" cap="none" strike="noStrike">
                <a:solidFill>
                  <a:srgbClr val="1F2937"/>
                </a:solidFill>
                <a:latin typeface="Arial"/>
                <a:ea typeface="Arial"/>
                <a:cs typeface="Arial"/>
                <a:sym typeface="Arial"/>
              </a:rPr>
              <a:t>• Mise en stock</a:t>
            </a:r>
            <a:endParaRPr b="0" i="0" sz="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30" name="Google Shape;330;p21"/>
          <p:cNvSpPr/>
          <p:nvPr/>
        </p:nvSpPr>
        <p:spPr>
          <a:xfrm>
            <a:off x="2167128" y="2592324"/>
            <a:ext cx="1563600" cy="877800"/>
          </a:xfrm>
          <a:prstGeom prst="roundRect">
            <a:avLst>
              <a:gd fmla="val 9375" name="adj"/>
            </a:avLst>
          </a:prstGeom>
          <a:solidFill>
            <a:srgbClr val="E7F0F7"/>
          </a:solidFill>
          <a:ln cap="flat" cmpd="sng" w="9525">
            <a:solidFill>
              <a:srgbClr val="D9E2EC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31" name="Google Shape;331;p21"/>
          <p:cNvSpPr/>
          <p:nvPr/>
        </p:nvSpPr>
        <p:spPr>
          <a:xfrm>
            <a:off x="2269998" y="2674620"/>
            <a:ext cx="1357800" cy="157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E6F9E"/>
              </a:buClr>
              <a:buSzPts val="900"/>
              <a:buFont typeface="Arial"/>
              <a:buNone/>
            </a:pPr>
            <a:r>
              <a:rPr b="1" i="0" lang="fr" sz="900" u="none" cap="none" strike="noStrike">
                <a:solidFill>
                  <a:srgbClr val="2E6F9E"/>
                </a:solidFill>
                <a:latin typeface="Arial"/>
                <a:ea typeface="Arial"/>
                <a:cs typeface="Arial"/>
                <a:sym typeface="Arial"/>
              </a:rPr>
              <a:t>Stock / interne</a:t>
            </a:r>
            <a:endParaRPr b="0" i="0" sz="9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32" name="Google Shape;332;p21"/>
          <p:cNvSpPr/>
          <p:nvPr/>
        </p:nvSpPr>
        <p:spPr>
          <a:xfrm>
            <a:off x="2269998" y="2873502"/>
            <a:ext cx="1371600" cy="137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F2937"/>
              </a:buClr>
              <a:buSzPts val="800"/>
              <a:buFont typeface="Arial"/>
              <a:buNone/>
            </a:pPr>
            <a:r>
              <a:rPr b="0" i="0" lang="fr" sz="800" u="none" cap="none" strike="noStrike">
                <a:solidFill>
                  <a:srgbClr val="1F2937"/>
                </a:solidFill>
                <a:latin typeface="Arial"/>
                <a:ea typeface="Arial"/>
                <a:cs typeface="Arial"/>
                <a:sym typeface="Arial"/>
              </a:rPr>
              <a:t>• Stock</a:t>
            </a:r>
            <a:endParaRPr b="0" i="0" sz="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33" name="Google Shape;333;p21"/>
          <p:cNvSpPr/>
          <p:nvPr/>
        </p:nvSpPr>
        <p:spPr>
          <a:xfrm>
            <a:off x="2269998" y="3024378"/>
            <a:ext cx="1371600" cy="137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F2937"/>
              </a:buClr>
              <a:buSzPts val="800"/>
              <a:buFont typeface="Arial"/>
              <a:buNone/>
            </a:pPr>
            <a:r>
              <a:rPr b="0" i="0" lang="fr" sz="800" u="none" cap="none" strike="noStrike">
                <a:solidFill>
                  <a:srgbClr val="1F2937"/>
                </a:solidFill>
                <a:latin typeface="Arial"/>
                <a:ea typeface="Arial"/>
                <a:cs typeface="Arial"/>
                <a:sym typeface="Arial"/>
              </a:rPr>
              <a:t>• Replenishment</a:t>
            </a:r>
            <a:endParaRPr b="0" i="0" sz="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34" name="Google Shape;334;p21"/>
          <p:cNvSpPr/>
          <p:nvPr/>
        </p:nvSpPr>
        <p:spPr>
          <a:xfrm>
            <a:off x="2269998" y="3175254"/>
            <a:ext cx="1371600" cy="137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F2937"/>
              </a:buClr>
              <a:buSzPts val="800"/>
              <a:buFont typeface="Arial"/>
              <a:buNone/>
            </a:pPr>
            <a:r>
              <a:rPr b="0" i="0" lang="fr" sz="800" u="none" cap="none" strike="noStrike">
                <a:solidFill>
                  <a:srgbClr val="1F2937"/>
                </a:solidFill>
                <a:latin typeface="Arial"/>
                <a:ea typeface="Arial"/>
                <a:cs typeface="Arial"/>
                <a:sym typeface="Arial"/>
              </a:rPr>
              <a:t>• Inventaire</a:t>
            </a:r>
            <a:endParaRPr b="0" i="0" sz="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35" name="Google Shape;335;p21"/>
          <p:cNvSpPr/>
          <p:nvPr/>
        </p:nvSpPr>
        <p:spPr>
          <a:xfrm>
            <a:off x="3819906" y="2592324"/>
            <a:ext cx="1563600" cy="877800"/>
          </a:xfrm>
          <a:prstGeom prst="roundRect">
            <a:avLst>
              <a:gd fmla="val 9375" name="adj"/>
            </a:avLst>
          </a:prstGeom>
          <a:solidFill>
            <a:srgbClr val="FCEBDD"/>
          </a:solidFill>
          <a:ln cap="flat" cmpd="sng" w="9525">
            <a:solidFill>
              <a:srgbClr val="D9E2EC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36" name="Google Shape;336;p21"/>
          <p:cNvSpPr/>
          <p:nvPr/>
        </p:nvSpPr>
        <p:spPr>
          <a:xfrm>
            <a:off x="3922776" y="2674620"/>
            <a:ext cx="1357800" cy="157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D97827"/>
              </a:buClr>
              <a:buSzPts val="900"/>
              <a:buFont typeface="Arial"/>
              <a:buNone/>
            </a:pPr>
            <a:r>
              <a:rPr b="1" i="0" lang="fr" sz="900" u="none" cap="none" strike="noStrike">
                <a:solidFill>
                  <a:srgbClr val="D97827"/>
                </a:solidFill>
                <a:latin typeface="Arial"/>
                <a:ea typeface="Arial"/>
                <a:cs typeface="Arial"/>
                <a:sym typeface="Arial"/>
              </a:rPr>
              <a:t>Outbound</a:t>
            </a:r>
            <a:endParaRPr b="0" i="0" sz="9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37" name="Google Shape;337;p21"/>
          <p:cNvSpPr/>
          <p:nvPr/>
        </p:nvSpPr>
        <p:spPr>
          <a:xfrm>
            <a:off x="3922776" y="2873502"/>
            <a:ext cx="1371600" cy="137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F2937"/>
              </a:buClr>
              <a:buSzPts val="800"/>
              <a:buFont typeface="Arial"/>
              <a:buNone/>
            </a:pPr>
            <a:r>
              <a:rPr b="0" i="0" lang="fr" sz="800" u="none" cap="none" strike="noStrike">
                <a:solidFill>
                  <a:srgbClr val="1F2937"/>
                </a:solidFill>
                <a:latin typeface="Arial"/>
                <a:ea typeface="Arial"/>
                <a:cs typeface="Arial"/>
                <a:sym typeface="Arial"/>
              </a:rPr>
              <a:t>• Picking</a:t>
            </a:r>
            <a:endParaRPr b="0" i="0" sz="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38" name="Google Shape;338;p21"/>
          <p:cNvSpPr/>
          <p:nvPr/>
        </p:nvSpPr>
        <p:spPr>
          <a:xfrm>
            <a:off x="3922776" y="3024378"/>
            <a:ext cx="1371600" cy="137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F2937"/>
              </a:buClr>
              <a:buSzPts val="800"/>
              <a:buFont typeface="Arial"/>
              <a:buNone/>
            </a:pPr>
            <a:r>
              <a:rPr b="0" i="0" lang="fr" sz="800" u="none" cap="none" strike="noStrike">
                <a:solidFill>
                  <a:srgbClr val="1F2937"/>
                </a:solidFill>
                <a:latin typeface="Arial"/>
                <a:ea typeface="Arial"/>
                <a:cs typeface="Arial"/>
                <a:sym typeface="Arial"/>
              </a:rPr>
              <a:t>• Packing</a:t>
            </a:r>
            <a:endParaRPr b="0" i="0" sz="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39" name="Google Shape;339;p21"/>
          <p:cNvSpPr/>
          <p:nvPr/>
        </p:nvSpPr>
        <p:spPr>
          <a:xfrm>
            <a:off x="3922776" y="3175254"/>
            <a:ext cx="1371600" cy="137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F2937"/>
              </a:buClr>
              <a:buSzPts val="800"/>
              <a:buFont typeface="Arial"/>
              <a:buNone/>
            </a:pPr>
            <a:r>
              <a:rPr b="0" i="0" lang="fr" sz="800" u="none" cap="none" strike="noStrike">
                <a:solidFill>
                  <a:srgbClr val="1F2937"/>
                </a:solidFill>
                <a:latin typeface="Arial"/>
                <a:ea typeface="Arial"/>
                <a:cs typeface="Arial"/>
                <a:sym typeface="Arial"/>
              </a:rPr>
              <a:t>• Expédition</a:t>
            </a:r>
            <a:endParaRPr b="0" i="0" sz="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340" name="Google Shape;340;p21"/>
          <p:cNvCxnSpPr/>
          <p:nvPr/>
        </p:nvCxnSpPr>
        <p:spPr>
          <a:xfrm>
            <a:off x="1303020" y="3483864"/>
            <a:ext cx="0" cy="253800"/>
          </a:xfrm>
          <a:prstGeom prst="straightConnector1">
            <a:avLst/>
          </a:prstGeom>
          <a:noFill/>
          <a:ln cap="flat" cmpd="sng" w="19050">
            <a:solidFill>
              <a:srgbClr val="17324D"/>
            </a:solidFill>
            <a:prstDash val="solid"/>
            <a:round/>
            <a:headEnd len="sm" w="sm" type="none"/>
            <a:tailEnd len="med" w="med" type="triangle"/>
          </a:ln>
        </p:spPr>
      </p:cxnSp>
      <p:cxnSp>
        <p:nvCxnSpPr>
          <p:cNvPr id="341" name="Google Shape;341;p21"/>
          <p:cNvCxnSpPr/>
          <p:nvPr/>
        </p:nvCxnSpPr>
        <p:spPr>
          <a:xfrm>
            <a:off x="2948940" y="3483864"/>
            <a:ext cx="0" cy="253800"/>
          </a:xfrm>
          <a:prstGeom prst="straightConnector1">
            <a:avLst/>
          </a:prstGeom>
          <a:noFill/>
          <a:ln cap="flat" cmpd="sng" w="19050">
            <a:solidFill>
              <a:srgbClr val="17324D"/>
            </a:solidFill>
            <a:prstDash val="solid"/>
            <a:round/>
            <a:headEnd len="sm" w="sm" type="none"/>
            <a:tailEnd len="med" w="med" type="triangle"/>
          </a:ln>
        </p:spPr>
      </p:cxnSp>
      <p:cxnSp>
        <p:nvCxnSpPr>
          <p:cNvPr id="342" name="Google Shape;342;p21"/>
          <p:cNvCxnSpPr/>
          <p:nvPr/>
        </p:nvCxnSpPr>
        <p:spPr>
          <a:xfrm>
            <a:off x="4601718" y="3483864"/>
            <a:ext cx="0" cy="253800"/>
          </a:xfrm>
          <a:prstGeom prst="straightConnector1">
            <a:avLst/>
          </a:prstGeom>
          <a:noFill/>
          <a:ln cap="flat" cmpd="sng" w="19050">
            <a:solidFill>
              <a:srgbClr val="17324D"/>
            </a:solidFill>
            <a:prstDash val="solid"/>
            <a:round/>
            <a:headEnd len="sm" w="sm" type="none"/>
            <a:tailEnd len="med" w="med" type="triangle"/>
          </a:ln>
        </p:spPr>
      </p:cxnSp>
      <p:sp>
        <p:nvSpPr>
          <p:cNvPr id="343" name="Google Shape;343;p21"/>
          <p:cNvSpPr/>
          <p:nvPr/>
        </p:nvSpPr>
        <p:spPr>
          <a:xfrm>
            <a:off x="925830" y="3771900"/>
            <a:ext cx="4663500" cy="363300"/>
          </a:xfrm>
          <a:prstGeom prst="roundRect">
            <a:avLst>
              <a:gd fmla="val 22642" name="adj"/>
            </a:avLst>
          </a:prstGeom>
          <a:solidFill>
            <a:srgbClr val="17324D"/>
          </a:solidFill>
          <a:ln cap="flat" cmpd="sng" w="9525">
            <a:solidFill>
              <a:srgbClr val="17324D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44" name="Google Shape;344;p21"/>
          <p:cNvSpPr/>
          <p:nvPr/>
        </p:nvSpPr>
        <p:spPr>
          <a:xfrm>
            <a:off x="1008126" y="3867912"/>
            <a:ext cx="4491900" cy="137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800"/>
              <a:buFont typeface="Arial"/>
              <a:buNone/>
            </a:pPr>
            <a:r>
              <a:rPr b="1" i="0" lang="fr" sz="8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Moteur d’exécution : règles • priorités • tâches • affectation</a:t>
            </a:r>
            <a:endParaRPr b="0" i="0" sz="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45" name="Google Shape;345;p21"/>
          <p:cNvSpPr/>
          <p:nvPr/>
        </p:nvSpPr>
        <p:spPr>
          <a:xfrm>
            <a:off x="6069330" y="2146554"/>
            <a:ext cx="2709000" cy="2126100"/>
          </a:xfrm>
          <a:prstGeom prst="roundRect">
            <a:avLst>
              <a:gd fmla="val 3871" name="adj"/>
            </a:avLst>
          </a:prstGeom>
          <a:solidFill>
            <a:srgbClr val="F1F5F9"/>
          </a:solidFill>
          <a:ln cap="flat" cmpd="sng" w="9525">
            <a:solidFill>
              <a:srgbClr val="D7E0EA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46" name="Google Shape;346;p21"/>
          <p:cNvSpPr/>
          <p:nvPr/>
        </p:nvSpPr>
        <p:spPr>
          <a:xfrm>
            <a:off x="6227064" y="2331720"/>
            <a:ext cx="205800" cy="205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900"/>
              <a:buFont typeface="Arial"/>
              <a:buNone/>
            </a:pPr>
            <a:r>
              <a:rPr b="1" i="0" lang="fr" sz="9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2</a:t>
            </a:r>
            <a:endParaRPr b="0" i="0" sz="9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47" name="Google Shape;347;p21"/>
          <p:cNvSpPr/>
          <p:nvPr/>
        </p:nvSpPr>
        <p:spPr>
          <a:xfrm>
            <a:off x="6199632" y="2324862"/>
            <a:ext cx="233100" cy="233100"/>
          </a:xfrm>
          <a:prstGeom prst="ellipse">
            <a:avLst/>
          </a:prstGeom>
          <a:solidFill>
            <a:srgbClr val="6D5AA5"/>
          </a:solidFill>
          <a:ln cap="flat" cmpd="sng" w="9525">
            <a:solidFill>
              <a:srgbClr val="6D5AA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48" name="Google Shape;348;p21"/>
          <p:cNvSpPr/>
          <p:nvPr/>
        </p:nvSpPr>
        <p:spPr>
          <a:xfrm>
            <a:off x="6501384" y="2304288"/>
            <a:ext cx="1817400" cy="178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D5AA5"/>
              </a:buClr>
              <a:buSzPts val="900"/>
              <a:buFont typeface="Arial"/>
              <a:buNone/>
            </a:pPr>
            <a:r>
              <a:rPr b="1" i="0" lang="fr" sz="900" u="none" cap="none" strike="noStrike">
                <a:solidFill>
                  <a:srgbClr val="6D5AA5"/>
                </a:solidFill>
                <a:latin typeface="Arial"/>
                <a:ea typeface="Arial"/>
                <a:cs typeface="Arial"/>
                <a:sym typeface="Arial"/>
              </a:rPr>
              <a:t>Couche d’intelligence</a:t>
            </a:r>
            <a:endParaRPr b="0" i="0" sz="9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49" name="Google Shape;349;p21"/>
          <p:cNvSpPr/>
          <p:nvPr/>
        </p:nvSpPr>
        <p:spPr>
          <a:xfrm>
            <a:off x="6227064" y="2647188"/>
            <a:ext cx="2366100" cy="342900"/>
          </a:xfrm>
          <a:prstGeom prst="roundRect">
            <a:avLst>
              <a:gd fmla="val 24000" name="adj"/>
            </a:avLst>
          </a:prstGeom>
          <a:solidFill>
            <a:srgbClr val="E7F0F7"/>
          </a:solidFill>
          <a:ln cap="flat" cmpd="sng" w="9525">
            <a:solidFill>
              <a:srgbClr val="E1E6ED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50" name="Google Shape;350;p21"/>
          <p:cNvSpPr/>
          <p:nvPr/>
        </p:nvSpPr>
        <p:spPr>
          <a:xfrm>
            <a:off x="6309360" y="2702052"/>
            <a:ext cx="630900" cy="150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E6F9E"/>
              </a:buClr>
              <a:buSzPts val="700"/>
              <a:buFont typeface="Arial"/>
              <a:buNone/>
            </a:pPr>
            <a:r>
              <a:rPr b="1" i="0" lang="fr" sz="700" u="none" cap="none" strike="noStrike">
                <a:solidFill>
                  <a:srgbClr val="2E6F9E"/>
                </a:solidFill>
                <a:latin typeface="Arial"/>
                <a:ea typeface="Arial"/>
                <a:cs typeface="Arial"/>
                <a:sym typeface="Arial"/>
              </a:rPr>
              <a:t>PRÉDIRE</a:t>
            </a:r>
            <a:endParaRPr b="0" i="0" sz="7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51" name="Google Shape;351;p21"/>
          <p:cNvSpPr/>
          <p:nvPr/>
        </p:nvSpPr>
        <p:spPr>
          <a:xfrm>
            <a:off x="6940296" y="2702052"/>
            <a:ext cx="1509000" cy="150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F2937"/>
              </a:buClr>
              <a:buSzPts val="700"/>
              <a:buFont typeface="Arial"/>
              <a:buNone/>
            </a:pPr>
            <a:r>
              <a:rPr b="0" i="0" lang="fr" sz="700" u="none" cap="none" strike="noStrike">
                <a:solidFill>
                  <a:srgbClr val="1F2937"/>
                </a:solidFill>
                <a:latin typeface="Arial"/>
                <a:ea typeface="Arial"/>
                <a:cs typeface="Arial"/>
                <a:sym typeface="Arial"/>
              </a:rPr>
              <a:t>Risque de rupture / surcharge</a:t>
            </a:r>
            <a:endParaRPr b="0" i="0" sz="7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52" name="Google Shape;352;p21"/>
          <p:cNvSpPr/>
          <p:nvPr/>
        </p:nvSpPr>
        <p:spPr>
          <a:xfrm>
            <a:off x="6227064" y="3086100"/>
            <a:ext cx="2366100" cy="342900"/>
          </a:xfrm>
          <a:prstGeom prst="roundRect">
            <a:avLst>
              <a:gd fmla="val 24000" name="adj"/>
            </a:avLst>
          </a:prstGeom>
          <a:solidFill>
            <a:srgbClr val="FCEBDD"/>
          </a:solidFill>
          <a:ln cap="flat" cmpd="sng" w="9525">
            <a:solidFill>
              <a:srgbClr val="E1E6ED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53" name="Google Shape;353;p21"/>
          <p:cNvSpPr/>
          <p:nvPr/>
        </p:nvSpPr>
        <p:spPr>
          <a:xfrm>
            <a:off x="6309360" y="3140964"/>
            <a:ext cx="630900" cy="150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D97827"/>
              </a:buClr>
              <a:buSzPts val="700"/>
              <a:buFont typeface="Arial"/>
              <a:buNone/>
            </a:pPr>
            <a:r>
              <a:rPr b="1" i="0" lang="fr" sz="700" u="none" cap="none" strike="noStrike">
                <a:solidFill>
                  <a:srgbClr val="D97827"/>
                </a:solidFill>
                <a:latin typeface="Arial"/>
                <a:ea typeface="Arial"/>
                <a:cs typeface="Arial"/>
                <a:sym typeface="Arial"/>
              </a:rPr>
              <a:t>DÉTECTER</a:t>
            </a:r>
            <a:endParaRPr b="0" i="0" sz="7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54" name="Google Shape;354;p21"/>
          <p:cNvSpPr/>
          <p:nvPr/>
        </p:nvSpPr>
        <p:spPr>
          <a:xfrm>
            <a:off x="6940296" y="3140964"/>
            <a:ext cx="1509000" cy="150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F2937"/>
              </a:buClr>
              <a:buSzPts val="700"/>
              <a:buFont typeface="Arial"/>
              <a:buNone/>
            </a:pPr>
            <a:r>
              <a:rPr b="0" i="0" lang="fr" sz="700" u="none" cap="none" strike="noStrike">
                <a:solidFill>
                  <a:srgbClr val="1F2937"/>
                </a:solidFill>
                <a:latin typeface="Arial"/>
                <a:ea typeface="Arial"/>
                <a:cs typeface="Arial"/>
                <a:sym typeface="Arial"/>
              </a:rPr>
              <a:t>Anomalie / retard / erreur</a:t>
            </a:r>
            <a:endParaRPr b="0" i="0" sz="7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55" name="Google Shape;355;p21"/>
          <p:cNvSpPr/>
          <p:nvPr/>
        </p:nvSpPr>
        <p:spPr>
          <a:xfrm>
            <a:off x="6227064" y="3525012"/>
            <a:ext cx="2366100" cy="342900"/>
          </a:xfrm>
          <a:prstGeom prst="roundRect">
            <a:avLst>
              <a:gd fmla="val 24000" name="adj"/>
            </a:avLst>
          </a:prstGeom>
          <a:solidFill>
            <a:srgbClr val="EEEAF8"/>
          </a:solidFill>
          <a:ln cap="flat" cmpd="sng" w="9525">
            <a:solidFill>
              <a:srgbClr val="E1E6ED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56" name="Google Shape;356;p21"/>
          <p:cNvSpPr/>
          <p:nvPr/>
        </p:nvSpPr>
        <p:spPr>
          <a:xfrm>
            <a:off x="6309360" y="3579876"/>
            <a:ext cx="630900" cy="150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D5AA5"/>
              </a:buClr>
              <a:buSzPts val="700"/>
              <a:buFont typeface="Arial"/>
              <a:buNone/>
            </a:pPr>
            <a:r>
              <a:rPr b="1" i="0" lang="fr" sz="700" u="none" cap="none" strike="noStrike">
                <a:solidFill>
                  <a:srgbClr val="6D5AA5"/>
                </a:solidFill>
                <a:latin typeface="Arial"/>
                <a:ea typeface="Arial"/>
                <a:cs typeface="Arial"/>
                <a:sym typeface="Arial"/>
              </a:rPr>
              <a:t>OPTIMISER</a:t>
            </a:r>
            <a:endParaRPr b="0" i="0" sz="7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57" name="Google Shape;357;p21"/>
          <p:cNvSpPr/>
          <p:nvPr/>
        </p:nvSpPr>
        <p:spPr>
          <a:xfrm>
            <a:off x="6940296" y="3579876"/>
            <a:ext cx="1509000" cy="150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F2937"/>
              </a:buClr>
              <a:buSzPts val="700"/>
              <a:buFont typeface="Arial"/>
              <a:buNone/>
            </a:pPr>
            <a:r>
              <a:rPr b="0" i="0" lang="fr" sz="700" u="none" cap="none" strike="noStrike">
                <a:solidFill>
                  <a:srgbClr val="1F2937"/>
                </a:solidFill>
                <a:latin typeface="Arial"/>
                <a:ea typeface="Arial"/>
                <a:cs typeface="Arial"/>
                <a:sym typeface="Arial"/>
              </a:rPr>
              <a:t>Stock / tâches / ressources</a:t>
            </a:r>
            <a:endParaRPr b="0" i="0" sz="7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358" name="Google Shape;358;p21"/>
          <p:cNvCxnSpPr/>
          <p:nvPr/>
        </p:nvCxnSpPr>
        <p:spPr>
          <a:xfrm>
            <a:off x="7392924" y="3909060"/>
            <a:ext cx="0" cy="233100"/>
          </a:xfrm>
          <a:prstGeom prst="straightConnector1">
            <a:avLst/>
          </a:prstGeom>
          <a:noFill/>
          <a:ln cap="flat" cmpd="sng" w="19050">
            <a:solidFill>
              <a:srgbClr val="6D5AA5"/>
            </a:solidFill>
            <a:prstDash val="solid"/>
            <a:round/>
            <a:headEnd len="sm" w="sm" type="none"/>
            <a:tailEnd len="med" w="med" type="triangle"/>
          </a:ln>
        </p:spPr>
      </p:cxnSp>
      <p:sp>
        <p:nvSpPr>
          <p:cNvPr id="359" name="Google Shape;359;p21"/>
          <p:cNvSpPr/>
          <p:nvPr/>
        </p:nvSpPr>
        <p:spPr>
          <a:xfrm>
            <a:off x="6295644" y="4053078"/>
            <a:ext cx="2160300" cy="164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7324D"/>
              </a:buClr>
              <a:buSzPts val="800"/>
              <a:buFont typeface="Arial"/>
              <a:buNone/>
            </a:pPr>
            <a:r>
              <a:rPr b="1" i="0" lang="fr" sz="800" u="none" cap="none" strike="noStrike">
                <a:solidFill>
                  <a:srgbClr val="17324D"/>
                </a:solidFill>
                <a:latin typeface="Arial"/>
                <a:ea typeface="Arial"/>
                <a:cs typeface="Arial"/>
                <a:sym typeface="Arial"/>
              </a:rPr>
              <a:t>Recommandation / action</a:t>
            </a:r>
            <a:endParaRPr b="0" i="0" sz="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60" name="Google Shape;360;p21"/>
          <p:cNvSpPr/>
          <p:nvPr/>
        </p:nvSpPr>
        <p:spPr>
          <a:xfrm>
            <a:off x="342900" y="4437126"/>
            <a:ext cx="8435400" cy="329100"/>
          </a:xfrm>
          <a:prstGeom prst="roundRect">
            <a:avLst>
              <a:gd fmla="val 25000" name="adj"/>
            </a:avLst>
          </a:prstGeom>
          <a:solidFill>
            <a:srgbClr val="17324D"/>
          </a:solidFill>
          <a:ln cap="flat" cmpd="sng" w="9525">
            <a:solidFill>
              <a:srgbClr val="17324D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61" name="Google Shape;361;p21"/>
          <p:cNvSpPr/>
          <p:nvPr/>
        </p:nvSpPr>
        <p:spPr>
          <a:xfrm>
            <a:off x="493776" y="4505706"/>
            <a:ext cx="8126700" cy="171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900"/>
              <a:buFont typeface="Arial"/>
              <a:buNone/>
            </a:pPr>
            <a:r>
              <a:rPr b="1" i="0" lang="fr" sz="9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Objectif : passer de « constater et exécuter » à « prévoir, décider, agir et apprendre ».</a:t>
            </a:r>
            <a:endParaRPr b="0" i="0" sz="9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62" name="Google Shape;362;p21"/>
          <p:cNvSpPr/>
          <p:nvPr/>
        </p:nvSpPr>
        <p:spPr>
          <a:xfrm>
            <a:off x="4114800" y="4882896"/>
            <a:ext cx="4183500" cy="12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7A8699"/>
              </a:buClr>
              <a:buSzPts val="600"/>
              <a:buFont typeface="Arial"/>
              <a:buNone/>
            </a:pPr>
            <a:r>
              <a:rPr b="0" i="1" lang="fr" sz="600" u="none" cap="none" strike="noStrike">
                <a:solidFill>
                  <a:srgbClr val="7A8699"/>
                </a:solidFill>
                <a:latin typeface="Arial"/>
                <a:ea typeface="Arial"/>
                <a:cs typeface="Arial"/>
                <a:sym typeface="Arial"/>
              </a:rPr>
              <a:t>Base de proposition : bonnes pratiques observées chez Manhattan Active, SAP EWM et Oracle WMS.</a:t>
            </a:r>
            <a:endParaRPr b="0" i="0" sz="6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63" name="Google Shape;363;p21"/>
          <p:cNvSpPr txBox="1"/>
          <p:nvPr>
            <p:ph idx="4294967295" type="sldNum"/>
          </p:nvPr>
        </p:nvSpPr>
        <p:spPr>
          <a:xfrm>
            <a:off x="8606790" y="4855464"/>
            <a:ext cx="600000" cy="2250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0" i="0" lang="fr" sz="600" u="none" cap="none" strike="noStrike">
                <a:solidFill>
                  <a:srgbClr val="6B7280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b="0" i="0" sz="600" u="none" cap="none" strike="noStrike">
              <a:solidFill>
                <a:srgbClr val="6B728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67" name="Shape 3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8" name="Google Shape;368;p22"/>
          <p:cNvSpPr/>
          <p:nvPr/>
        </p:nvSpPr>
        <p:spPr>
          <a:xfrm>
            <a:off x="228600" y="29308"/>
            <a:ext cx="7772400" cy="365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75" lIns="375" spcFirstLastPara="1" rIns="375" wrap="square" tIns="3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73A63"/>
              </a:buClr>
              <a:buSzPts val="1650"/>
              <a:buFont typeface="Arial"/>
              <a:buNone/>
            </a:pPr>
            <a:r>
              <a:rPr b="1" i="0" lang="fr" sz="1650" u="none" cap="none" strike="noStrike">
                <a:solidFill>
                  <a:srgbClr val="173A63"/>
                </a:solidFill>
                <a:latin typeface="Arial"/>
                <a:ea typeface="Arial"/>
                <a:cs typeface="Arial"/>
                <a:sym typeface="Arial"/>
              </a:rPr>
              <a:t>ARCHITECTURE FONCTIONNELLE</a:t>
            </a:r>
            <a:endParaRPr b="0" i="0" sz="165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69" name="Google Shape;369;p22"/>
          <p:cNvSpPr/>
          <p:nvPr/>
        </p:nvSpPr>
        <p:spPr>
          <a:xfrm>
            <a:off x="155541" y="380288"/>
            <a:ext cx="1417200" cy="1024200"/>
          </a:xfrm>
          <a:prstGeom prst="roundRect">
            <a:avLst>
              <a:gd fmla="val 3571" name="adj"/>
            </a:avLst>
          </a:prstGeom>
          <a:solidFill>
            <a:srgbClr val="FFFFFF"/>
          </a:solidFill>
          <a:ln cap="flat" cmpd="sng" w="9525">
            <a:solidFill>
              <a:srgbClr val="173A6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0" name="Google Shape;370;p22"/>
          <p:cNvSpPr/>
          <p:nvPr/>
        </p:nvSpPr>
        <p:spPr>
          <a:xfrm>
            <a:off x="265268" y="489968"/>
            <a:ext cx="1197900" cy="347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75" lIns="375" spcFirstLastPara="1" rIns="375" wrap="square" tIns="37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73A63"/>
              </a:buClr>
              <a:buSzPts val="900"/>
              <a:buFont typeface="Arial"/>
              <a:buNone/>
            </a:pPr>
            <a:r>
              <a:rPr b="1" i="0" lang="fr" sz="900" u="none" cap="none" strike="noStrike">
                <a:solidFill>
                  <a:srgbClr val="173A63"/>
                </a:solidFill>
                <a:latin typeface="Arial"/>
                <a:ea typeface="Arial"/>
                <a:cs typeface="Arial"/>
                <a:sym typeface="Arial"/>
              </a:rPr>
              <a:t>SYSTÈMES EXTERNES</a:t>
            </a:r>
            <a:endParaRPr b="0" i="0" sz="9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71" name="Google Shape;371;p22"/>
          <p:cNvSpPr/>
          <p:nvPr/>
        </p:nvSpPr>
        <p:spPr>
          <a:xfrm>
            <a:off x="265268" y="919736"/>
            <a:ext cx="1197900" cy="411600"/>
          </a:xfrm>
          <a:prstGeom prst="rect">
            <a:avLst/>
          </a:prstGeom>
          <a:noFill/>
          <a:ln>
            <a:noFill/>
          </a:ln>
        </p:spPr>
        <p:txBody>
          <a:bodyPr anchorCtr="0" anchor="t" bIns="375" lIns="375" spcFirstLastPara="1" rIns="375" wrap="square" tIns="37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73A63"/>
              </a:buClr>
              <a:buSzPts val="710"/>
              <a:buFont typeface="Arial"/>
              <a:buNone/>
            </a:pPr>
            <a:r>
              <a:rPr b="0" i="0" lang="fr" sz="710" u="none" cap="none" strike="noStrike">
                <a:solidFill>
                  <a:srgbClr val="173A63"/>
                </a:solidFill>
                <a:latin typeface="Arial"/>
                <a:ea typeface="Arial"/>
                <a:cs typeface="Arial"/>
                <a:sym typeface="Arial"/>
              </a:rPr>
              <a:t>Systèmes métiers et d’entreprise</a:t>
            </a:r>
            <a:endParaRPr b="0" i="0" sz="71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72" name="Google Shape;372;p22"/>
          <p:cNvSpPr/>
          <p:nvPr/>
        </p:nvSpPr>
        <p:spPr>
          <a:xfrm>
            <a:off x="1646013" y="389384"/>
            <a:ext cx="6519600" cy="1042500"/>
          </a:xfrm>
          <a:prstGeom prst="roundRect">
            <a:avLst>
              <a:gd fmla="val 3509" name="adj"/>
            </a:avLst>
          </a:prstGeom>
          <a:solidFill>
            <a:srgbClr val="FFFFFF"/>
          </a:solidFill>
          <a:ln cap="flat" cmpd="sng" w="10150">
            <a:solidFill>
              <a:srgbClr val="173A6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3" name="Google Shape;373;p22"/>
          <p:cNvSpPr/>
          <p:nvPr/>
        </p:nvSpPr>
        <p:spPr>
          <a:xfrm>
            <a:off x="1783172" y="526544"/>
            <a:ext cx="320100" cy="237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75" lIns="375" spcFirstLastPara="1" rIns="375" wrap="square" tIns="3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73A63"/>
              </a:buClr>
              <a:buSzPts val="1300"/>
              <a:buFont typeface="Arial"/>
              <a:buNone/>
            </a:pPr>
            <a:r>
              <a:t/>
            </a:r>
            <a:endParaRPr b="0" i="0" sz="13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74" name="Google Shape;374;p22"/>
          <p:cNvSpPr/>
          <p:nvPr/>
        </p:nvSpPr>
        <p:spPr>
          <a:xfrm>
            <a:off x="1792321" y="535649"/>
            <a:ext cx="548700" cy="201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75" lIns="375" spcFirstLastPara="1" rIns="375" wrap="square" tIns="37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73A63"/>
              </a:buClr>
              <a:buSzPts val="730"/>
              <a:buFont typeface="Arial"/>
              <a:buNone/>
            </a:pPr>
            <a:r>
              <a:rPr b="1" i="0" lang="fr" sz="730" u="none" cap="none" strike="noStrike">
                <a:solidFill>
                  <a:srgbClr val="173A63"/>
                </a:solidFill>
                <a:latin typeface="Arial"/>
                <a:ea typeface="Arial"/>
                <a:cs typeface="Arial"/>
                <a:sym typeface="Arial"/>
              </a:rPr>
              <a:t>ERP / SAP</a:t>
            </a:r>
            <a:endParaRPr b="0" i="0" sz="73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75" name="Google Shape;375;p22"/>
          <p:cNvSpPr/>
          <p:nvPr/>
        </p:nvSpPr>
        <p:spPr>
          <a:xfrm>
            <a:off x="1792317" y="755144"/>
            <a:ext cx="896100" cy="512100"/>
          </a:xfrm>
          <a:prstGeom prst="rect">
            <a:avLst/>
          </a:prstGeom>
          <a:noFill/>
          <a:ln>
            <a:noFill/>
          </a:ln>
        </p:spPr>
        <p:txBody>
          <a:bodyPr anchorCtr="0" anchor="t" bIns="375" lIns="375" spcFirstLastPara="1" rIns="375" wrap="square" tIns="37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63442"/>
              </a:buClr>
              <a:buSzPts val="650"/>
              <a:buFont typeface="Arial"/>
              <a:buNone/>
            </a:pPr>
            <a:r>
              <a:rPr b="0" i="0" lang="fr" sz="650" u="none" cap="none" strike="noStrike">
                <a:solidFill>
                  <a:srgbClr val="263442"/>
                </a:solidFill>
                <a:latin typeface="Arial"/>
                <a:ea typeface="Arial"/>
                <a:cs typeface="Arial"/>
                <a:sym typeface="Arial"/>
              </a:rPr>
              <a:t>Commandes, stocks,</a:t>
            </a:r>
            <a:endParaRPr b="0" i="0" sz="65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63442"/>
              </a:buClr>
              <a:buSzPts val="650"/>
              <a:buFont typeface="Arial"/>
              <a:buNone/>
            </a:pPr>
            <a:r>
              <a:rPr b="0" i="0" lang="fr" sz="650" u="none" cap="none" strike="noStrike">
                <a:solidFill>
                  <a:srgbClr val="263442"/>
                </a:solidFill>
                <a:latin typeface="Arial"/>
                <a:ea typeface="Arial"/>
                <a:cs typeface="Arial"/>
                <a:sym typeface="Arial"/>
              </a:rPr>
              <a:t>clients, fournisseurs</a:t>
            </a:r>
            <a:endParaRPr b="0" i="0" sz="65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76" name="Google Shape;376;p22"/>
          <p:cNvSpPr/>
          <p:nvPr/>
        </p:nvSpPr>
        <p:spPr>
          <a:xfrm>
            <a:off x="3086110" y="540024"/>
            <a:ext cx="548700" cy="201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75" lIns="375" spcFirstLastPara="1" rIns="375" wrap="square" tIns="37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73A63"/>
              </a:buClr>
              <a:buSzPts val="730"/>
              <a:buFont typeface="Arial"/>
              <a:buNone/>
            </a:pPr>
            <a:r>
              <a:rPr b="1" i="0" lang="fr" sz="730" u="none" cap="none" strike="noStrike">
                <a:solidFill>
                  <a:srgbClr val="173A63"/>
                </a:solidFill>
                <a:latin typeface="Arial"/>
                <a:ea typeface="Arial"/>
                <a:cs typeface="Arial"/>
                <a:sym typeface="Arial"/>
              </a:rPr>
              <a:t>MES</a:t>
            </a:r>
            <a:endParaRPr b="0" i="0" sz="73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77" name="Google Shape;377;p22"/>
          <p:cNvSpPr/>
          <p:nvPr/>
        </p:nvSpPr>
        <p:spPr>
          <a:xfrm>
            <a:off x="2779869" y="755144"/>
            <a:ext cx="896100" cy="512100"/>
          </a:xfrm>
          <a:prstGeom prst="rect">
            <a:avLst/>
          </a:prstGeom>
          <a:noFill/>
          <a:ln>
            <a:noFill/>
          </a:ln>
        </p:spPr>
        <p:txBody>
          <a:bodyPr anchorCtr="0" anchor="t" bIns="375" lIns="375" spcFirstLastPara="1" rIns="375" wrap="square" tIns="37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63442"/>
              </a:buClr>
              <a:buSzPts val="650"/>
              <a:buFont typeface="Arial"/>
              <a:buNone/>
            </a:pPr>
            <a:r>
              <a:rPr b="0" i="0" lang="fr" sz="650" u="none" cap="none" strike="noStrike">
                <a:solidFill>
                  <a:srgbClr val="263442"/>
                </a:solidFill>
                <a:latin typeface="Arial"/>
                <a:ea typeface="Arial"/>
                <a:cs typeface="Arial"/>
                <a:sym typeface="Arial"/>
              </a:rPr>
              <a:t>Ordres de production,</a:t>
            </a:r>
            <a:endParaRPr b="0" i="0" sz="65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63442"/>
              </a:buClr>
              <a:buSzPts val="650"/>
              <a:buFont typeface="Arial"/>
              <a:buNone/>
            </a:pPr>
            <a:r>
              <a:rPr b="0" i="0" lang="fr" sz="650" u="none" cap="none" strike="noStrike">
                <a:solidFill>
                  <a:srgbClr val="263442"/>
                </a:solidFill>
                <a:latin typeface="Arial"/>
                <a:ea typeface="Arial"/>
                <a:cs typeface="Arial"/>
                <a:sym typeface="Arial"/>
              </a:rPr>
              <a:t>matières, confirmations</a:t>
            </a:r>
            <a:endParaRPr b="0" i="0" sz="65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78" name="Google Shape;378;p22"/>
          <p:cNvSpPr/>
          <p:nvPr/>
        </p:nvSpPr>
        <p:spPr>
          <a:xfrm>
            <a:off x="3776569" y="526324"/>
            <a:ext cx="548700" cy="201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75" lIns="375" spcFirstLastPara="1" rIns="375" wrap="square" tIns="37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73A63"/>
              </a:buClr>
              <a:buSzPts val="730"/>
              <a:buFont typeface="Arial"/>
              <a:buNone/>
            </a:pPr>
            <a:r>
              <a:rPr b="1" i="0" lang="fr" sz="730" u="none" cap="none" strike="noStrike">
                <a:solidFill>
                  <a:srgbClr val="173A63"/>
                </a:solidFill>
                <a:latin typeface="Arial"/>
                <a:ea typeface="Arial"/>
                <a:cs typeface="Arial"/>
                <a:sym typeface="Arial"/>
              </a:rPr>
              <a:t>TMS / YMS</a:t>
            </a:r>
            <a:endParaRPr b="0" i="0" sz="73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79" name="Google Shape;379;p22"/>
          <p:cNvSpPr/>
          <p:nvPr/>
        </p:nvSpPr>
        <p:spPr>
          <a:xfrm>
            <a:off x="3776565" y="755144"/>
            <a:ext cx="896100" cy="512100"/>
          </a:xfrm>
          <a:prstGeom prst="rect">
            <a:avLst/>
          </a:prstGeom>
          <a:noFill/>
          <a:ln>
            <a:noFill/>
          </a:ln>
        </p:spPr>
        <p:txBody>
          <a:bodyPr anchorCtr="0" anchor="t" bIns="375" lIns="375" spcFirstLastPara="1" rIns="375" wrap="square" tIns="37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63442"/>
              </a:buClr>
              <a:buSzPts val="650"/>
              <a:buFont typeface="Arial"/>
              <a:buNone/>
            </a:pPr>
            <a:r>
              <a:rPr b="0" i="0" lang="fr" sz="650" u="none" cap="none" strike="noStrike">
                <a:solidFill>
                  <a:srgbClr val="263442"/>
                </a:solidFill>
                <a:latin typeface="Arial"/>
                <a:ea typeface="Arial"/>
                <a:cs typeface="Arial"/>
                <a:sym typeface="Arial"/>
              </a:rPr>
              <a:t>Transport, transporteurs,</a:t>
            </a:r>
            <a:endParaRPr b="0" i="0" sz="65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63442"/>
              </a:buClr>
              <a:buSzPts val="650"/>
              <a:buFont typeface="Arial"/>
              <a:buNone/>
            </a:pPr>
            <a:r>
              <a:rPr b="0" i="0" lang="fr" sz="650" u="none" cap="none" strike="noStrike">
                <a:solidFill>
                  <a:srgbClr val="263442"/>
                </a:solidFill>
                <a:latin typeface="Arial"/>
                <a:ea typeface="Arial"/>
                <a:cs typeface="Arial"/>
                <a:sym typeface="Arial"/>
              </a:rPr>
              <a:t>camions, quai</a:t>
            </a:r>
            <a:endParaRPr b="0" i="0" sz="65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80" name="Google Shape;380;p22"/>
          <p:cNvSpPr/>
          <p:nvPr/>
        </p:nvSpPr>
        <p:spPr>
          <a:xfrm>
            <a:off x="4700111" y="489936"/>
            <a:ext cx="1005900" cy="201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75" lIns="375" spcFirstLastPara="1" rIns="375" wrap="square" tIns="37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73A63"/>
              </a:buClr>
              <a:buSzPts val="730"/>
              <a:buFont typeface="Arial"/>
              <a:buNone/>
            </a:pPr>
            <a:r>
              <a:rPr b="1" i="0" lang="fr" sz="730" u="none" cap="none" strike="noStrike">
                <a:solidFill>
                  <a:srgbClr val="173A63"/>
                </a:solidFill>
                <a:latin typeface="Arial"/>
                <a:ea typeface="Arial"/>
                <a:cs typeface="Arial"/>
                <a:sym typeface="Arial"/>
              </a:rPr>
              <a:t>FOURNISSEURS</a:t>
            </a:r>
            <a:endParaRPr b="0" i="0" sz="73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81" name="Google Shape;381;p22"/>
          <p:cNvSpPr/>
          <p:nvPr/>
        </p:nvSpPr>
        <p:spPr>
          <a:xfrm>
            <a:off x="4773261" y="755144"/>
            <a:ext cx="896100" cy="512100"/>
          </a:xfrm>
          <a:prstGeom prst="rect">
            <a:avLst/>
          </a:prstGeom>
          <a:noFill/>
          <a:ln>
            <a:noFill/>
          </a:ln>
        </p:spPr>
        <p:txBody>
          <a:bodyPr anchorCtr="0" anchor="t" bIns="375" lIns="375" spcFirstLastPara="1" rIns="375" wrap="square" tIns="37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63442"/>
              </a:buClr>
              <a:buSzPts val="650"/>
              <a:buFont typeface="Arial"/>
              <a:buNone/>
            </a:pPr>
            <a:r>
              <a:rPr b="0" i="0" lang="fr" sz="650" u="none" cap="none" strike="noStrike">
                <a:solidFill>
                  <a:srgbClr val="263442"/>
                </a:solidFill>
                <a:latin typeface="Arial"/>
                <a:ea typeface="Arial"/>
                <a:cs typeface="Arial"/>
                <a:sym typeface="Arial"/>
              </a:rPr>
              <a:t>ASN, informations</a:t>
            </a:r>
            <a:endParaRPr b="0" i="0" sz="65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63442"/>
              </a:buClr>
              <a:buSzPts val="650"/>
              <a:buFont typeface="Arial"/>
              <a:buNone/>
            </a:pPr>
            <a:r>
              <a:rPr b="0" i="0" lang="fr" sz="650" u="none" cap="none" strike="noStrike">
                <a:solidFill>
                  <a:srgbClr val="263442"/>
                </a:solidFill>
                <a:latin typeface="Arial"/>
                <a:ea typeface="Arial"/>
                <a:cs typeface="Arial"/>
                <a:sym typeface="Arial"/>
              </a:rPr>
              <a:t>de livraison</a:t>
            </a:r>
            <a:endParaRPr b="0" i="0" sz="65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82" name="Google Shape;382;p22"/>
          <p:cNvSpPr/>
          <p:nvPr/>
        </p:nvSpPr>
        <p:spPr>
          <a:xfrm>
            <a:off x="5788336" y="508199"/>
            <a:ext cx="548700" cy="201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75" lIns="375" spcFirstLastPara="1" rIns="375" wrap="square" tIns="37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73A63"/>
              </a:buClr>
              <a:buSzPts val="730"/>
              <a:buFont typeface="Arial"/>
              <a:buNone/>
            </a:pPr>
            <a:r>
              <a:rPr b="1" i="0" lang="fr" sz="730" u="none" cap="none" strike="noStrike">
                <a:solidFill>
                  <a:srgbClr val="173A63"/>
                </a:solidFill>
                <a:latin typeface="Arial"/>
                <a:ea typeface="Arial"/>
                <a:cs typeface="Arial"/>
                <a:sym typeface="Arial"/>
              </a:rPr>
              <a:t>CLIENTS</a:t>
            </a:r>
            <a:endParaRPr b="0" i="0" sz="73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83" name="Google Shape;383;p22"/>
          <p:cNvSpPr/>
          <p:nvPr/>
        </p:nvSpPr>
        <p:spPr>
          <a:xfrm>
            <a:off x="5769957" y="755144"/>
            <a:ext cx="896100" cy="512100"/>
          </a:xfrm>
          <a:prstGeom prst="rect">
            <a:avLst/>
          </a:prstGeom>
          <a:noFill/>
          <a:ln>
            <a:noFill/>
          </a:ln>
        </p:spPr>
        <p:txBody>
          <a:bodyPr anchorCtr="0" anchor="t" bIns="375" lIns="375" spcFirstLastPara="1" rIns="375" wrap="square" tIns="37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63442"/>
              </a:buClr>
              <a:buSzPts val="650"/>
              <a:buFont typeface="Arial"/>
              <a:buNone/>
            </a:pPr>
            <a:r>
              <a:rPr b="0" i="0" lang="fr" sz="650" u="none" cap="none" strike="noStrike">
                <a:solidFill>
                  <a:srgbClr val="263442"/>
                </a:solidFill>
                <a:latin typeface="Arial"/>
                <a:ea typeface="Arial"/>
                <a:cs typeface="Arial"/>
                <a:sym typeface="Arial"/>
              </a:rPr>
              <a:t>Commandes clients,</a:t>
            </a:r>
            <a:endParaRPr b="0" i="0" sz="65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63442"/>
              </a:buClr>
              <a:buSzPts val="650"/>
              <a:buFont typeface="Arial"/>
              <a:buNone/>
            </a:pPr>
            <a:r>
              <a:rPr b="0" i="0" lang="fr" sz="650" u="none" cap="none" strike="noStrike">
                <a:solidFill>
                  <a:srgbClr val="263442"/>
                </a:solidFill>
                <a:latin typeface="Arial"/>
                <a:ea typeface="Arial"/>
                <a:cs typeface="Arial"/>
                <a:sym typeface="Arial"/>
              </a:rPr>
              <a:t>confirmations</a:t>
            </a:r>
            <a:endParaRPr b="0" i="0" sz="65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84" name="Google Shape;384;p22"/>
          <p:cNvSpPr/>
          <p:nvPr/>
        </p:nvSpPr>
        <p:spPr>
          <a:xfrm>
            <a:off x="6748365" y="526544"/>
            <a:ext cx="320100" cy="237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75" lIns="375" spcFirstLastPara="1" rIns="375" wrap="square" tIns="37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73A63"/>
              </a:buClr>
              <a:buSzPts val="1300"/>
              <a:buFont typeface="Arial"/>
              <a:buNone/>
            </a:pPr>
            <a:r>
              <a:t/>
            </a:r>
            <a:endParaRPr b="0" i="0" sz="13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85" name="Google Shape;385;p22"/>
          <p:cNvSpPr/>
          <p:nvPr/>
        </p:nvSpPr>
        <p:spPr>
          <a:xfrm>
            <a:off x="6771313" y="517349"/>
            <a:ext cx="850500" cy="201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75" lIns="375" spcFirstLastPara="1" rIns="375" wrap="square" tIns="37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73A63"/>
              </a:buClr>
              <a:buSzPts val="730"/>
              <a:buFont typeface="Arial"/>
              <a:buNone/>
            </a:pPr>
            <a:r>
              <a:rPr b="1" i="0" lang="fr" sz="730" u="none" cap="none" strike="noStrike">
                <a:solidFill>
                  <a:srgbClr val="173A63"/>
                </a:solidFill>
                <a:latin typeface="Arial"/>
                <a:ea typeface="Arial"/>
                <a:cs typeface="Arial"/>
                <a:sym typeface="Arial"/>
              </a:rPr>
              <a:t>AUTRES SYSTÈMES</a:t>
            </a:r>
            <a:endParaRPr b="0" i="0" sz="73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86" name="Google Shape;386;p22"/>
          <p:cNvSpPr/>
          <p:nvPr/>
        </p:nvSpPr>
        <p:spPr>
          <a:xfrm>
            <a:off x="6757509" y="755144"/>
            <a:ext cx="1197900" cy="512100"/>
          </a:xfrm>
          <a:prstGeom prst="rect">
            <a:avLst/>
          </a:prstGeom>
          <a:noFill/>
          <a:ln>
            <a:noFill/>
          </a:ln>
        </p:spPr>
        <p:txBody>
          <a:bodyPr anchorCtr="0" anchor="t" bIns="375" lIns="375" spcFirstLastPara="1" rIns="375" wrap="square" tIns="37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63442"/>
              </a:buClr>
              <a:buSzPts val="650"/>
              <a:buFont typeface="Arial"/>
              <a:buNone/>
            </a:pPr>
            <a:r>
              <a:rPr b="0" i="0" lang="fr" sz="650" u="none" cap="none" strike="noStrike">
                <a:solidFill>
                  <a:srgbClr val="263442"/>
                </a:solidFill>
                <a:latin typeface="Arial"/>
                <a:ea typeface="Arial"/>
                <a:cs typeface="Arial"/>
                <a:sym typeface="Arial"/>
              </a:rPr>
              <a:t>Finance, RH, BI, CRM, etc.</a:t>
            </a:r>
            <a:endParaRPr b="0" i="0" sz="65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87" name="Google Shape;387;p22"/>
          <p:cNvSpPr/>
          <p:nvPr/>
        </p:nvSpPr>
        <p:spPr>
          <a:xfrm>
            <a:off x="1600292" y="1450088"/>
            <a:ext cx="2971800" cy="18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75" lIns="375" spcFirstLastPara="1" rIns="375" wrap="square" tIns="3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263442"/>
              </a:buClr>
              <a:buSzPts val="590"/>
              <a:buFont typeface="Arial"/>
              <a:buNone/>
            </a:pPr>
            <a:r>
              <a:rPr b="0" i="0" lang="fr" sz="590" u="none" cap="none" strike="noStrike">
                <a:solidFill>
                  <a:srgbClr val="263442"/>
                </a:solidFill>
                <a:latin typeface="Arial"/>
                <a:ea typeface="Arial"/>
                <a:cs typeface="Arial"/>
                <a:sym typeface="Arial"/>
              </a:rPr>
              <a:t>Commandes / Plan directeur / Confirmations</a:t>
            </a:r>
            <a:endParaRPr b="0" i="0" sz="59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88" name="Google Shape;388;p22"/>
          <p:cNvSpPr/>
          <p:nvPr/>
        </p:nvSpPr>
        <p:spPr>
          <a:xfrm>
            <a:off x="4754972" y="1450088"/>
            <a:ext cx="3291900" cy="18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75" lIns="375" spcFirstLastPara="1" rIns="375" wrap="square" tIns="3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263442"/>
              </a:buClr>
              <a:buSzPts val="590"/>
              <a:buFont typeface="Arial"/>
              <a:buNone/>
            </a:pPr>
            <a:r>
              <a:rPr b="0" i="0" lang="fr" sz="590" u="none" cap="none" strike="noStrike">
                <a:solidFill>
                  <a:srgbClr val="263442"/>
                </a:solidFill>
                <a:latin typeface="Arial"/>
                <a:ea typeface="Arial"/>
                <a:cs typeface="Arial"/>
                <a:sym typeface="Arial"/>
              </a:rPr>
              <a:t>Statuts / Événements / Traçabilité / Indicateurs</a:t>
            </a:r>
            <a:endParaRPr b="0" i="0" sz="59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389" name="Google Shape;389;p22"/>
          <p:cNvCxnSpPr/>
          <p:nvPr/>
        </p:nvCxnSpPr>
        <p:spPr>
          <a:xfrm>
            <a:off x="2130669" y="1431372"/>
            <a:ext cx="4500" cy="247200"/>
          </a:xfrm>
          <a:prstGeom prst="straightConnector1">
            <a:avLst/>
          </a:prstGeom>
          <a:noFill/>
          <a:ln cap="flat" cmpd="sng" w="10150">
            <a:solidFill>
              <a:srgbClr val="173A63"/>
            </a:solidFill>
            <a:prstDash val="solid"/>
            <a:round/>
            <a:headEnd len="sm" w="sm" type="none"/>
            <a:tailEnd len="med" w="med" type="triangle"/>
          </a:ln>
        </p:spPr>
      </p:cxnSp>
      <p:cxnSp>
        <p:nvCxnSpPr>
          <p:cNvPr id="390" name="Google Shape;390;p22"/>
          <p:cNvCxnSpPr/>
          <p:nvPr/>
        </p:nvCxnSpPr>
        <p:spPr>
          <a:xfrm flipH="1">
            <a:off x="3168555" y="1430915"/>
            <a:ext cx="6600" cy="252000"/>
          </a:xfrm>
          <a:prstGeom prst="straightConnector1">
            <a:avLst/>
          </a:prstGeom>
          <a:noFill/>
          <a:ln cap="flat" cmpd="sng" w="10150">
            <a:solidFill>
              <a:srgbClr val="173A63"/>
            </a:solidFill>
            <a:prstDash val="solid"/>
            <a:round/>
            <a:headEnd len="sm" w="sm" type="none"/>
            <a:tailEnd len="med" w="med" type="triangle"/>
          </a:ln>
        </p:spPr>
      </p:cxnSp>
      <p:cxnSp>
        <p:nvCxnSpPr>
          <p:cNvPr id="391" name="Google Shape;391;p22"/>
          <p:cNvCxnSpPr/>
          <p:nvPr/>
        </p:nvCxnSpPr>
        <p:spPr>
          <a:xfrm flipH="1">
            <a:off x="4100793" y="1431328"/>
            <a:ext cx="14100" cy="236400"/>
          </a:xfrm>
          <a:prstGeom prst="straightConnector1">
            <a:avLst/>
          </a:prstGeom>
          <a:noFill/>
          <a:ln cap="flat" cmpd="sng" w="10150">
            <a:solidFill>
              <a:srgbClr val="173A63"/>
            </a:solidFill>
            <a:prstDash val="solid"/>
            <a:round/>
            <a:headEnd len="sm" w="sm" type="none"/>
            <a:tailEnd len="med" w="med" type="triangle"/>
          </a:ln>
        </p:spPr>
      </p:cxnSp>
      <p:cxnSp>
        <p:nvCxnSpPr>
          <p:cNvPr id="392" name="Google Shape;392;p22"/>
          <p:cNvCxnSpPr/>
          <p:nvPr/>
        </p:nvCxnSpPr>
        <p:spPr>
          <a:xfrm flipH="1">
            <a:off x="5106933" y="1431328"/>
            <a:ext cx="13800" cy="221100"/>
          </a:xfrm>
          <a:prstGeom prst="straightConnector1">
            <a:avLst/>
          </a:prstGeom>
          <a:noFill/>
          <a:ln cap="flat" cmpd="sng" w="10150">
            <a:solidFill>
              <a:srgbClr val="173A63"/>
            </a:solidFill>
            <a:prstDash val="solid"/>
            <a:round/>
            <a:headEnd len="sm" w="sm" type="none"/>
            <a:tailEnd len="med" w="med" type="triangle"/>
          </a:ln>
        </p:spPr>
      </p:cxnSp>
      <p:cxnSp>
        <p:nvCxnSpPr>
          <p:cNvPr id="393" name="Google Shape;393;p22"/>
          <p:cNvCxnSpPr/>
          <p:nvPr/>
        </p:nvCxnSpPr>
        <p:spPr>
          <a:xfrm flipH="1">
            <a:off x="6176157" y="1431372"/>
            <a:ext cx="14400" cy="231600"/>
          </a:xfrm>
          <a:prstGeom prst="straightConnector1">
            <a:avLst/>
          </a:prstGeom>
          <a:noFill/>
          <a:ln cap="flat" cmpd="sng" w="10150">
            <a:solidFill>
              <a:srgbClr val="173A63"/>
            </a:solidFill>
            <a:prstDash val="solid"/>
            <a:round/>
            <a:headEnd len="sm" w="sm" type="none"/>
            <a:tailEnd len="med" w="med" type="triangle"/>
          </a:ln>
        </p:spPr>
      </p:cxnSp>
      <p:cxnSp>
        <p:nvCxnSpPr>
          <p:cNvPr id="394" name="Google Shape;394;p22"/>
          <p:cNvCxnSpPr/>
          <p:nvPr/>
        </p:nvCxnSpPr>
        <p:spPr>
          <a:xfrm flipH="1">
            <a:off x="7285137" y="1431328"/>
            <a:ext cx="39300" cy="246900"/>
          </a:xfrm>
          <a:prstGeom prst="straightConnector1">
            <a:avLst/>
          </a:prstGeom>
          <a:noFill/>
          <a:ln cap="flat" cmpd="sng" w="10150">
            <a:solidFill>
              <a:srgbClr val="173A63"/>
            </a:solidFill>
            <a:prstDash val="solid"/>
            <a:round/>
            <a:headEnd len="sm" w="sm" type="none"/>
            <a:tailEnd len="med" w="med" type="triangle"/>
          </a:ln>
        </p:spPr>
      </p:cxnSp>
      <p:sp>
        <p:nvSpPr>
          <p:cNvPr id="395" name="Google Shape;395;p22"/>
          <p:cNvSpPr/>
          <p:nvPr/>
        </p:nvSpPr>
        <p:spPr>
          <a:xfrm>
            <a:off x="155550" y="1655100"/>
            <a:ext cx="1417200" cy="2771400"/>
          </a:xfrm>
          <a:prstGeom prst="roundRect">
            <a:avLst>
              <a:gd fmla="val 2581" name="adj"/>
            </a:avLst>
          </a:prstGeom>
          <a:solidFill>
            <a:srgbClr val="FFFFFF"/>
          </a:solidFill>
          <a:ln cap="flat" cmpd="sng" w="9525">
            <a:solidFill>
              <a:srgbClr val="C9271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96" name="Google Shape;396;p22"/>
          <p:cNvSpPr/>
          <p:nvPr/>
        </p:nvSpPr>
        <p:spPr>
          <a:xfrm>
            <a:off x="265250" y="2303350"/>
            <a:ext cx="1326000" cy="932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75" lIns="375" spcFirstLastPara="1" rIns="375" wrap="square" tIns="37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C9271E"/>
              </a:buClr>
              <a:buSzPts val="900"/>
              <a:buFont typeface="Arial"/>
              <a:buNone/>
            </a:pPr>
            <a:r>
              <a:rPr b="1" i="0" lang="fr" sz="900" u="none" cap="none" strike="noStrike">
                <a:solidFill>
                  <a:srgbClr val="C9271E"/>
                </a:solidFill>
                <a:latin typeface="Arial"/>
                <a:ea typeface="Arial"/>
                <a:cs typeface="Arial"/>
                <a:sym typeface="Arial"/>
              </a:rPr>
              <a:t>CŒUR OPÉRATIONNEL DU WMS</a:t>
            </a:r>
            <a:endParaRPr b="0" i="0" sz="9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97" name="Google Shape;397;p22"/>
          <p:cNvSpPr/>
          <p:nvPr/>
        </p:nvSpPr>
        <p:spPr>
          <a:xfrm>
            <a:off x="288050" y="3103525"/>
            <a:ext cx="1216200" cy="576300"/>
          </a:xfrm>
          <a:prstGeom prst="rect">
            <a:avLst/>
          </a:prstGeom>
          <a:noFill/>
          <a:ln>
            <a:noFill/>
          </a:ln>
        </p:spPr>
        <p:txBody>
          <a:bodyPr anchorCtr="0" anchor="t" bIns="375" lIns="375" spcFirstLastPara="1" rIns="375" wrap="square" tIns="37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73A63"/>
              </a:buClr>
              <a:buSzPts val="710"/>
              <a:buFont typeface="Arial"/>
              <a:buNone/>
            </a:pPr>
            <a:r>
              <a:rPr b="0" i="0" lang="fr" sz="710" u="none" cap="none" strike="noStrike">
                <a:solidFill>
                  <a:srgbClr val="173A63"/>
                </a:solidFill>
                <a:latin typeface="Arial"/>
                <a:ea typeface="Arial"/>
                <a:cs typeface="Arial"/>
                <a:sym typeface="Arial"/>
              </a:rPr>
              <a:t>Gérer &amp; exécuter les processus entrepôt</a:t>
            </a:r>
            <a:endParaRPr b="0" i="0" sz="71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98" name="Google Shape;398;p22"/>
          <p:cNvSpPr/>
          <p:nvPr/>
        </p:nvSpPr>
        <p:spPr>
          <a:xfrm>
            <a:off x="6775800" y="1682558"/>
            <a:ext cx="1389900" cy="1664100"/>
          </a:xfrm>
          <a:prstGeom prst="roundRect">
            <a:avLst>
              <a:gd fmla="val 2632" name="adj"/>
            </a:avLst>
          </a:prstGeom>
          <a:solidFill>
            <a:srgbClr val="FFFDFD"/>
          </a:solidFill>
          <a:ln cap="flat" cmpd="sng" w="9525">
            <a:solidFill>
              <a:srgbClr val="C9271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99" name="Google Shape;399;p22"/>
          <p:cNvSpPr/>
          <p:nvPr/>
        </p:nvSpPr>
        <p:spPr>
          <a:xfrm>
            <a:off x="6848961" y="1746559"/>
            <a:ext cx="1243500" cy="246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75" lIns="375" spcFirstLastPara="1" rIns="375" wrap="square" tIns="3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C9271E"/>
              </a:buClr>
              <a:buSzPts val="600"/>
              <a:buFont typeface="Arial"/>
              <a:buNone/>
            </a:pPr>
            <a:r>
              <a:rPr b="1" i="0" lang="fr" sz="600" u="none" cap="none" strike="noStrike">
                <a:solidFill>
                  <a:srgbClr val="C9271E"/>
                </a:solidFill>
                <a:latin typeface="Arial"/>
                <a:ea typeface="Arial"/>
                <a:cs typeface="Arial"/>
                <a:sym typeface="Arial"/>
              </a:rPr>
              <a:t>DONNÉES DE RÉFÉRENCE</a:t>
            </a:r>
            <a:endParaRPr b="0" i="0" sz="6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00" name="Google Shape;400;p22"/>
          <p:cNvSpPr/>
          <p:nvPr/>
        </p:nvSpPr>
        <p:spPr>
          <a:xfrm>
            <a:off x="6867249" y="2030023"/>
            <a:ext cx="146400" cy="164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75" lIns="375" spcFirstLastPara="1" rIns="375" wrap="square" tIns="3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263442"/>
              </a:buClr>
              <a:buSzPts val="505"/>
              <a:buFont typeface="Arial"/>
              <a:buNone/>
            </a:pPr>
            <a:r>
              <a:rPr b="1" i="0" lang="fr" sz="505" u="none" cap="none" strike="noStrike">
                <a:solidFill>
                  <a:srgbClr val="263442"/>
                </a:solidFill>
                <a:latin typeface="Arial"/>
                <a:ea typeface="Arial"/>
                <a:cs typeface="Arial"/>
                <a:sym typeface="Arial"/>
              </a:rPr>
              <a:t>•</a:t>
            </a:r>
            <a:endParaRPr b="0" i="0" sz="505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01" name="Google Shape;401;p22"/>
          <p:cNvSpPr/>
          <p:nvPr/>
        </p:nvSpPr>
        <p:spPr>
          <a:xfrm>
            <a:off x="7031841" y="2030023"/>
            <a:ext cx="1042500" cy="192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75" lIns="375" spcFirstLastPara="1" rIns="375" wrap="square" tIns="37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63442"/>
              </a:buClr>
              <a:buSzPts val="425"/>
              <a:buFont typeface="Arial"/>
              <a:buNone/>
            </a:pPr>
            <a:r>
              <a:rPr b="0" i="0" lang="fr" sz="425" u="none" cap="none" strike="noStrike">
                <a:solidFill>
                  <a:srgbClr val="263442"/>
                </a:solidFill>
                <a:latin typeface="Arial"/>
                <a:ea typeface="Arial"/>
                <a:cs typeface="Arial"/>
                <a:sym typeface="Arial"/>
              </a:rPr>
              <a:t>Produits / Articles</a:t>
            </a:r>
            <a:endParaRPr b="0" i="0" sz="425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02" name="Google Shape;402;p22"/>
          <p:cNvSpPr/>
          <p:nvPr/>
        </p:nvSpPr>
        <p:spPr>
          <a:xfrm>
            <a:off x="6867249" y="2185471"/>
            <a:ext cx="146400" cy="164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75" lIns="375" spcFirstLastPara="1" rIns="375" wrap="square" tIns="3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263442"/>
              </a:buClr>
              <a:buSzPts val="505"/>
              <a:buFont typeface="Arial"/>
              <a:buNone/>
            </a:pPr>
            <a:r>
              <a:rPr b="1" i="0" lang="fr" sz="505" u="none" cap="none" strike="noStrike">
                <a:solidFill>
                  <a:srgbClr val="263442"/>
                </a:solidFill>
                <a:latin typeface="Arial"/>
                <a:ea typeface="Arial"/>
                <a:cs typeface="Arial"/>
                <a:sym typeface="Arial"/>
              </a:rPr>
              <a:t>•</a:t>
            </a:r>
            <a:endParaRPr b="0" i="0" sz="505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03" name="Google Shape;403;p22"/>
          <p:cNvSpPr/>
          <p:nvPr/>
        </p:nvSpPr>
        <p:spPr>
          <a:xfrm>
            <a:off x="7031841" y="2185471"/>
            <a:ext cx="1042500" cy="192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75" lIns="375" spcFirstLastPara="1" rIns="375" wrap="square" tIns="37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63442"/>
              </a:buClr>
              <a:buSzPts val="425"/>
              <a:buFont typeface="Arial"/>
              <a:buNone/>
            </a:pPr>
            <a:r>
              <a:rPr b="0" i="0" lang="fr" sz="425" u="none" cap="none" strike="noStrike">
                <a:solidFill>
                  <a:srgbClr val="263442"/>
                </a:solidFill>
                <a:latin typeface="Arial"/>
                <a:ea typeface="Arial"/>
                <a:cs typeface="Arial"/>
                <a:sym typeface="Arial"/>
              </a:rPr>
              <a:t>Clients</a:t>
            </a:r>
            <a:endParaRPr b="0" i="0" sz="425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04" name="Google Shape;404;p22"/>
          <p:cNvSpPr/>
          <p:nvPr/>
        </p:nvSpPr>
        <p:spPr>
          <a:xfrm>
            <a:off x="6867249" y="2340919"/>
            <a:ext cx="146400" cy="164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75" lIns="375" spcFirstLastPara="1" rIns="375" wrap="square" tIns="3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263442"/>
              </a:buClr>
              <a:buSzPts val="505"/>
              <a:buFont typeface="Arial"/>
              <a:buNone/>
            </a:pPr>
            <a:r>
              <a:rPr b="1" i="0" lang="fr" sz="505" u="none" cap="none" strike="noStrike">
                <a:solidFill>
                  <a:srgbClr val="263442"/>
                </a:solidFill>
                <a:latin typeface="Arial"/>
                <a:ea typeface="Arial"/>
                <a:cs typeface="Arial"/>
                <a:sym typeface="Arial"/>
              </a:rPr>
              <a:t>•</a:t>
            </a:r>
            <a:endParaRPr b="0" i="0" sz="505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05" name="Google Shape;405;p22"/>
          <p:cNvSpPr/>
          <p:nvPr/>
        </p:nvSpPr>
        <p:spPr>
          <a:xfrm>
            <a:off x="7031841" y="2340919"/>
            <a:ext cx="1042500" cy="192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75" lIns="375" spcFirstLastPara="1" rIns="375" wrap="square" tIns="37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63442"/>
              </a:buClr>
              <a:buSzPts val="425"/>
              <a:buFont typeface="Arial"/>
              <a:buNone/>
            </a:pPr>
            <a:r>
              <a:rPr b="0" i="0" lang="fr" sz="425" u="none" cap="none" strike="noStrike">
                <a:solidFill>
                  <a:srgbClr val="263442"/>
                </a:solidFill>
                <a:latin typeface="Arial"/>
                <a:ea typeface="Arial"/>
                <a:cs typeface="Arial"/>
                <a:sym typeface="Arial"/>
              </a:rPr>
              <a:t>Fournisseurs</a:t>
            </a:r>
            <a:endParaRPr b="0" i="0" sz="425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06" name="Google Shape;406;p22"/>
          <p:cNvSpPr/>
          <p:nvPr/>
        </p:nvSpPr>
        <p:spPr>
          <a:xfrm>
            <a:off x="6867249" y="2496367"/>
            <a:ext cx="146400" cy="164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75" lIns="375" spcFirstLastPara="1" rIns="375" wrap="square" tIns="3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263442"/>
              </a:buClr>
              <a:buSzPts val="505"/>
              <a:buFont typeface="Arial"/>
              <a:buNone/>
            </a:pPr>
            <a:r>
              <a:rPr b="1" i="0" lang="fr" sz="505" u="none" cap="none" strike="noStrike">
                <a:solidFill>
                  <a:srgbClr val="263442"/>
                </a:solidFill>
                <a:latin typeface="Arial"/>
                <a:ea typeface="Arial"/>
                <a:cs typeface="Arial"/>
                <a:sym typeface="Arial"/>
              </a:rPr>
              <a:t>•</a:t>
            </a:r>
            <a:endParaRPr b="0" i="0" sz="505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07" name="Google Shape;407;p22"/>
          <p:cNvSpPr/>
          <p:nvPr/>
        </p:nvSpPr>
        <p:spPr>
          <a:xfrm>
            <a:off x="7031841" y="2496367"/>
            <a:ext cx="1042500" cy="192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75" lIns="375" spcFirstLastPara="1" rIns="375" wrap="square" tIns="37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63442"/>
              </a:buClr>
              <a:buSzPts val="425"/>
              <a:buFont typeface="Arial"/>
              <a:buNone/>
            </a:pPr>
            <a:r>
              <a:rPr b="0" i="0" lang="fr" sz="425" u="none" cap="none" strike="noStrike">
                <a:solidFill>
                  <a:srgbClr val="263442"/>
                </a:solidFill>
                <a:latin typeface="Arial"/>
                <a:ea typeface="Arial"/>
                <a:cs typeface="Arial"/>
                <a:sym typeface="Arial"/>
              </a:rPr>
              <a:t>Emplacements / Zones</a:t>
            </a:r>
            <a:endParaRPr b="0" i="0" sz="425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08" name="Google Shape;408;p22"/>
          <p:cNvSpPr/>
          <p:nvPr/>
        </p:nvSpPr>
        <p:spPr>
          <a:xfrm>
            <a:off x="6867249" y="2651815"/>
            <a:ext cx="146400" cy="164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75" lIns="375" spcFirstLastPara="1" rIns="375" wrap="square" tIns="3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263442"/>
              </a:buClr>
              <a:buSzPts val="505"/>
              <a:buFont typeface="Arial"/>
              <a:buNone/>
            </a:pPr>
            <a:r>
              <a:rPr b="1" i="0" lang="fr" sz="505" u="none" cap="none" strike="noStrike">
                <a:solidFill>
                  <a:srgbClr val="263442"/>
                </a:solidFill>
                <a:latin typeface="Arial"/>
                <a:ea typeface="Arial"/>
                <a:cs typeface="Arial"/>
                <a:sym typeface="Arial"/>
              </a:rPr>
              <a:t>•</a:t>
            </a:r>
            <a:endParaRPr b="0" i="0" sz="505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09" name="Google Shape;409;p22"/>
          <p:cNvSpPr/>
          <p:nvPr/>
        </p:nvSpPr>
        <p:spPr>
          <a:xfrm>
            <a:off x="7031841" y="2651815"/>
            <a:ext cx="1042500" cy="192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75" lIns="375" spcFirstLastPara="1" rIns="375" wrap="square" tIns="37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63442"/>
              </a:buClr>
              <a:buSzPts val="425"/>
              <a:buFont typeface="Arial"/>
              <a:buNone/>
            </a:pPr>
            <a:r>
              <a:rPr b="0" i="0" lang="fr" sz="425" u="none" cap="none" strike="noStrike">
                <a:solidFill>
                  <a:srgbClr val="263442"/>
                </a:solidFill>
                <a:latin typeface="Arial"/>
                <a:ea typeface="Arial"/>
                <a:cs typeface="Arial"/>
                <a:sym typeface="Arial"/>
              </a:rPr>
              <a:t>Unités Logistiques</a:t>
            </a:r>
            <a:endParaRPr b="0" i="0" sz="425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10" name="Google Shape;410;p22"/>
          <p:cNvSpPr/>
          <p:nvPr/>
        </p:nvSpPr>
        <p:spPr>
          <a:xfrm>
            <a:off x="6867249" y="2807263"/>
            <a:ext cx="146400" cy="164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75" lIns="375" spcFirstLastPara="1" rIns="375" wrap="square" tIns="3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263442"/>
              </a:buClr>
              <a:buSzPts val="505"/>
              <a:buFont typeface="Arial"/>
              <a:buNone/>
            </a:pPr>
            <a:r>
              <a:rPr b="1" i="0" lang="fr" sz="505" u="none" cap="none" strike="noStrike">
                <a:solidFill>
                  <a:srgbClr val="263442"/>
                </a:solidFill>
                <a:latin typeface="Arial"/>
                <a:ea typeface="Arial"/>
                <a:cs typeface="Arial"/>
                <a:sym typeface="Arial"/>
              </a:rPr>
              <a:t>•</a:t>
            </a:r>
            <a:endParaRPr b="0" i="0" sz="505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11" name="Google Shape;411;p22"/>
          <p:cNvSpPr/>
          <p:nvPr/>
        </p:nvSpPr>
        <p:spPr>
          <a:xfrm>
            <a:off x="7031841" y="2807263"/>
            <a:ext cx="1042500" cy="192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75" lIns="375" spcFirstLastPara="1" rIns="375" wrap="square" tIns="37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63442"/>
              </a:buClr>
              <a:buSzPts val="425"/>
              <a:buFont typeface="Arial"/>
              <a:buNone/>
            </a:pPr>
            <a:r>
              <a:rPr b="0" i="0" lang="fr" sz="425" u="none" cap="none" strike="noStrike">
                <a:solidFill>
                  <a:srgbClr val="263442"/>
                </a:solidFill>
                <a:latin typeface="Arial"/>
                <a:ea typeface="Arial"/>
                <a:cs typeface="Arial"/>
                <a:sym typeface="Arial"/>
              </a:rPr>
              <a:t>Règles / Politique</a:t>
            </a:r>
            <a:endParaRPr b="0" i="0" sz="425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12" name="Google Shape;412;p22"/>
          <p:cNvSpPr/>
          <p:nvPr/>
        </p:nvSpPr>
        <p:spPr>
          <a:xfrm>
            <a:off x="6867249" y="2962711"/>
            <a:ext cx="146400" cy="164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75" lIns="375" spcFirstLastPara="1" rIns="375" wrap="square" tIns="3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263442"/>
              </a:buClr>
              <a:buSzPts val="505"/>
              <a:buFont typeface="Arial"/>
              <a:buNone/>
            </a:pPr>
            <a:r>
              <a:rPr b="1" i="0" lang="fr" sz="505" u="none" cap="none" strike="noStrike">
                <a:solidFill>
                  <a:srgbClr val="263442"/>
                </a:solidFill>
                <a:latin typeface="Arial"/>
                <a:ea typeface="Arial"/>
                <a:cs typeface="Arial"/>
                <a:sym typeface="Arial"/>
              </a:rPr>
              <a:t>•</a:t>
            </a:r>
            <a:endParaRPr b="0" i="0" sz="505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13" name="Google Shape;413;p22"/>
          <p:cNvSpPr/>
          <p:nvPr/>
        </p:nvSpPr>
        <p:spPr>
          <a:xfrm>
            <a:off x="7031841" y="2962711"/>
            <a:ext cx="1042500" cy="192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75" lIns="375" spcFirstLastPara="1" rIns="375" wrap="square" tIns="37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63442"/>
              </a:buClr>
              <a:buSzPts val="425"/>
              <a:buFont typeface="Arial"/>
              <a:buNone/>
            </a:pPr>
            <a:r>
              <a:rPr b="0" i="0" lang="fr" sz="425" u="none" cap="none" strike="noStrike">
                <a:solidFill>
                  <a:srgbClr val="263442"/>
                </a:solidFill>
                <a:latin typeface="Arial"/>
                <a:ea typeface="Arial"/>
                <a:cs typeface="Arial"/>
                <a:sym typeface="Arial"/>
              </a:rPr>
              <a:t>Utilisateurs / Rôles</a:t>
            </a:r>
            <a:endParaRPr b="0" i="0" sz="425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14" name="Google Shape;414;p22"/>
          <p:cNvSpPr/>
          <p:nvPr/>
        </p:nvSpPr>
        <p:spPr>
          <a:xfrm>
            <a:off x="1650600" y="1673288"/>
            <a:ext cx="960000" cy="2062200"/>
          </a:xfrm>
          <a:prstGeom prst="roundRect">
            <a:avLst>
              <a:gd fmla="val 3810" name="adj"/>
            </a:avLst>
          </a:prstGeom>
          <a:solidFill>
            <a:srgbClr val="FFFFFF"/>
          </a:solidFill>
          <a:ln cap="flat" cmpd="sng" w="10150">
            <a:solidFill>
              <a:srgbClr val="C9271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15" name="Google Shape;415;p22"/>
          <p:cNvSpPr/>
          <p:nvPr/>
        </p:nvSpPr>
        <p:spPr>
          <a:xfrm>
            <a:off x="1655169" y="1691695"/>
            <a:ext cx="960000" cy="347400"/>
          </a:xfrm>
          <a:prstGeom prst="rect">
            <a:avLst/>
          </a:prstGeom>
          <a:solidFill>
            <a:srgbClr val="C9271E"/>
          </a:solidFill>
          <a:ln cap="flat" cmpd="sng" w="12700">
            <a:solidFill>
              <a:srgbClr val="C9271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16" name="Google Shape;416;p22"/>
          <p:cNvSpPr/>
          <p:nvPr/>
        </p:nvSpPr>
        <p:spPr>
          <a:xfrm>
            <a:off x="1710033" y="1737415"/>
            <a:ext cx="850500" cy="237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75" lIns="375" spcFirstLastPara="1" rIns="375" wrap="square" tIns="3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700"/>
              <a:buFont typeface="Arial"/>
              <a:buNone/>
            </a:pPr>
            <a:r>
              <a:rPr b="1" i="0" lang="fr" sz="7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RÉCEPTION</a:t>
            </a:r>
            <a:endParaRPr b="0" i="0" sz="7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700"/>
              <a:buFont typeface="Arial"/>
              <a:buNone/>
            </a:pPr>
            <a:r>
              <a:rPr b="1" i="0" lang="fr" sz="7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MARCHANDISES</a:t>
            </a:r>
            <a:endParaRPr b="0" i="0" sz="7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17" name="Google Shape;417;p22"/>
          <p:cNvSpPr/>
          <p:nvPr/>
        </p:nvSpPr>
        <p:spPr>
          <a:xfrm>
            <a:off x="1856325" y="2094034"/>
            <a:ext cx="713100" cy="1243500"/>
          </a:xfrm>
          <a:prstGeom prst="rect">
            <a:avLst/>
          </a:prstGeom>
          <a:noFill/>
          <a:ln>
            <a:noFill/>
          </a:ln>
        </p:spPr>
        <p:txBody>
          <a:bodyPr anchorCtr="0" anchor="t" bIns="375" lIns="375" spcFirstLastPara="1" rIns="375" wrap="square" tIns="37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63442"/>
              </a:buClr>
              <a:buSzPts val="494"/>
              <a:buFont typeface="Arial"/>
              <a:buNone/>
            </a:pPr>
            <a:r>
              <a:rPr b="0" i="0" lang="fr" sz="495" u="none" cap="none" strike="noStrike">
                <a:solidFill>
                  <a:srgbClr val="263442"/>
                </a:solidFill>
                <a:latin typeface="Arial"/>
                <a:ea typeface="Arial"/>
                <a:cs typeface="Arial"/>
                <a:sym typeface="Arial"/>
              </a:rPr>
              <a:t>Prise de rendez-vous &amp; gestion des quais</a:t>
            </a:r>
            <a:endParaRPr b="0" i="0" sz="495" u="none" cap="none" strike="noStrike">
              <a:solidFill>
                <a:srgbClr val="263442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63442"/>
              </a:buClr>
              <a:buSzPts val="494"/>
              <a:buFont typeface="Arial"/>
              <a:buNone/>
            </a:pPr>
            <a:r>
              <a:t/>
            </a:r>
            <a:endParaRPr sz="495">
              <a:solidFill>
                <a:srgbClr val="263442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263442"/>
              </a:buClr>
              <a:buSzPts val="494"/>
              <a:buFont typeface="Arial"/>
              <a:buNone/>
            </a:pPr>
            <a:r>
              <a:rPr lang="fr" sz="495">
                <a:solidFill>
                  <a:srgbClr val="263442"/>
                </a:solidFill>
              </a:rPr>
              <a:t>Réception</a:t>
            </a:r>
            <a:endParaRPr sz="495">
              <a:solidFill>
                <a:srgbClr val="263442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263442"/>
              </a:buClr>
              <a:buSzPts val="494"/>
              <a:buFont typeface="Arial"/>
              <a:buNone/>
            </a:pPr>
            <a:r>
              <a:t/>
            </a:r>
            <a:endParaRPr sz="495">
              <a:solidFill>
                <a:srgbClr val="263442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263442"/>
              </a:buClr>
              <a:buSzPts val="494"/>
              <a:buFont typeface="Arial"/>
              <a:buNone/>
            </a:pPr>
            <a:r>
              <a:t/>
            </a:r>
            <a:endParaRPr sz="495">
              <a:solidFill>
                <a:srgbClr val="263442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263442"/>
              </a:buClr>
              <a:buSzPts val="494"/>
              <a:buFont typeface="Arial"/>
              <a:buNone/>
            </a:pPr>
            <a:r>
              <a:rPr lang="fr" sz="495">
                <a:solidFill>
                  <a:srgbClr val="263442"/>
                </a:solidFill>
              </a:rPr>
              <a:t>Contrôle qualité</a:t>
            </a:r>
            <a:endParaRPr sz="495">
              <a:solidFill>
                <a:srgbClr val="263442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263442"/>
              </a:buClr>
              <a:buSzPts val="494"/>
              <a:buFont typeface="Arial"/>
              <a:buNone/>
            </a:pPr>
            <a:r>
              <a:t/>
            </a:r>
            <a:endParaRPr sz="495">
              <a:solidFill>
                <a:srgbClr val="263442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263442"/>
              </a:buClr>
              <a:buSzPts val="494"/>
              <a:buFont typeface="Arial"/>
              <a:buNone/>
            </a:pPr>
            <a:r>
              <a:t/>
            </a:r>
            <a:endParaRPr sz="495">
              <a:solidFill>
                <a:srgbClr val="263442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263442"/>
              </a:buClr>
              <a:buSzPts val="494"/>
              <a:buFont typeface="Arial"/>
              <a:buNone/>
            </a:pPr>
            <a:r>
              <a:rPr lang="fr" sz="495">
                <a:solidFill>
                  <a:srgbClr val="263442"/>
                </a:solidFill>
              </a:rPr>
              <a:t>Réception quantitative</a:t>
            </a:r>
            <a:endParaRPr sz="495">
              <a:solidFill>
                <a:srgbClr val="263442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263442"/>
              </a:buClr>
              <a:buSzPts val="494"/>
              <a:buFont typeface="Arial"/>
              <a:buNone/>
            </a:pPr>
            <a:r>
              <a:t/>
            </a:r>
            <a:endParaRPr sz="495">
              <a:solidFill>
                <a:srgbClr val="263442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263442"/>
              </a:buClr>
              <a:buSzPts val="494"/>
              <a:buFont typeface="Arial"/>
              <a:buNone/>
            </a:pPr>
            <a:r>
              <a:t/>
            </a:r>
            <a:endParaRPr sz="495">
              <a:solidFill>
                <a:srgbClr val="263442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263442"/>
              </a:buClr>
              <a:buSzPts val="494"/>
              <a:buFont typeface="Arial"/>
              <a:buNone/>
            </a:pPr>
            <a:r>
              <a:rPr lang="fr" sz="495">
                <a:solidFill>
                  <a:srgbClr val="263442"/>
                </a:solidFill>
              </a:rPr>
              <a:t>Cross-docking</a:t>
            </a:r>
            <a:endParaRPr sz="495">
              <a:solidFill>
                <a:srgbClr val="263442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263442"/>
              </a:buClr>
              <a:buSzPts val="494"/>
              <a:buFont typeface="Arial"/>
              <a:buNone/>
            </a:pPr>
            <a:r>
              <a:t/>
            </a:r>
            <a:endParaRPr sz="495">
              <a:solidFill>
                <a:srgbClr val="263442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263442"/>
              </a:buClr>
              <a:buSzPts val="494"/>
              <a:buFont typeface="Arial"/>
              <a:buNone/>
            </a:pPr>
            <a:r>
              <a:t/>
            </a:r>
            <a:endParaRPr sz="495">
              <a:solidFill>
                <a:srgbClr val="263442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263442"/>
              </a:buClr>
              <a:buSzPts val="494"/>
              <a:buFont typeface="Arial"/>
              <a:buNone/>
            </a:pPr>
            <a:r>
              <a:rPr lang="fr" sz="495">
                <a:solidFill>
                  <a:srgbClr val="263442"/>
                </a:solidFill>
              </a:rPr>
              <a:t>Retours fournisseurs</a:t>
            </a:r>
            <a:endParaRPr sz="495">
              <a:solidFill>
                <a:srgbClr val="263442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263442"/>
              </a:buClr>
              <a:buSzPts val="494"/>
              <a:buFont typeface="Arial"/>
              <a:buNone/>
            </a:pPr>
            <a:r>
              <a:t/>
            </a:r>
            <a:endParaRPr sz="495">
              <a:solidFill>
                <a:srgbClr val="263442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263442"/>
              </a:buClr>
              <a:buSzPts val="494"/>
              <a:buFont typeface="Arial"/>
              <a:buNone/>
            </a:pPr>
            <a:r>
              <a:t/>
            </a:r>
            <a:endParaRPr sz="495">
              <a:solidFill>
                <a:srgbClr val="263442"/>
              </a:solidFill>
            </a:endParaRPr>
          </a:p>
        </p:txBody>
      </p:sp>
      <p:sp>
        <p:nvSpPr>
          <p:cNvPr id="418" name="Google Shape;418;p22"/>
          <p:cNvSpPr/>
          <p:nvPr/>
        </p:nvSpPr>
        <p:spPr>
          <a:xfrm>
            <a:off x="1700889" y="3286472"/>
            <a:ext cx="146400" cy="146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75" lIns="375" spcFirstLastPara="1" rIns="375" wrap="square" tIns="3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C9271E"/>
              </a:buClr>
              <a:buSzPts val="590"/>
              <a:buFont typeface="Arial"/>
              <a:buNone/>
            </a:pPr>
            <a:r>
              <a:t/>
            </a:r>
            <a:endParaRPr b="0" i="0" sz="59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19" name="Google Shape;419;p22"/>
          <p:cNvSpPr/>
          <p:nvPr/>
        </p:nvSpPr>
        <p:spPr>
          <a:xfrm>
            <a:off x="1700889" y="3574508"/>
            <a:ext cx="146400" cy="146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75" lIns="375" spcFirstLastPara="1" rIns="375" wrap="square" tIns="3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C9271E"/>
              </a:buClr>
              <a:buSzPts val="590"/>
              <a:buFont typeface="Arial"/>
              <a:buNone/>
            </a:pPr>
            <a:r>
              <a:t/>
            </a:r>
            <a:endParaRPr b="0" i="0" sz="59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20" name="Google Shape;420;p22"/>
          <p:cNvSpPr/>
          <p:nvPr/>
        </p:nvSpPr>
        <p:spPr>
          <a:xfrm>
            <a:off x="2688450" y="1691688"/>
            <a:ext cx="960000" cy="2062200"/>
          </a:xfrm>
          <a:prstGeom prst="roundRect">
            <a:avLst>
              <a:gd fmla="val 3810" name="adj"/>
            </a:avLst>
          </a:prstGeom>
          <a:solidFill>
            <a:srgbClr val="FFFFFF"/>
          </a:solidFill>
          <a:ln cap="flat" cmpd="sng" w="10150">
            <a:solidFill>
              <a:srgbClr val="C9271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21" name="Google Shape;421;p22"/>
          <p:cNvSpPr/>
          <p:nvPr/>
        </p:nvSpPr>
        <p:spPr>
          <a:xfrm>
            <a:off x="2688441" y="1691695"/>
            <a:ext cx="960000" cy="347400"/>
          </a:xfrm>
          <a:prstGeom prst="rect">
            <a:avLst/>
          </a:prstGeom>
          <a:solidFill>
            <a:srgbClr val="C9271E"/>
          </a:solidFill>
          <a:ln cap="flat" cmpd="sng" w="12700">
            <a:solidFill>
              <a:srgbClr val="C9271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22" name="Google Shape;422;p22"/>
          <p:cNvSpPr/>
          <p:nvPr/>
        </p:nvSpPr>
        <p:spPr>
          <a:xfrm>
            <a:off x="2743305" y="1737415"/>
            <a:ext cx="850500" cy="237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75" lIns="375" spcFirstLastPara="1" rIns="375" wrap="square" tIns="3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700"/>
              <a:buFont typeface="Arial"/>
              <a:buNone/>
            </a:pPr>
            <a:r>
              <a:rPr b="1" i="0" lang="fr" sz="7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STOCKAGE</a:t>
            </a:r>
            <a:endParaRPr b="0" i="0" sz="7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700"/>
              <a:buFont typeface="Arial"/>
              <a:buNone/>
            </a:pPr>
            <a:r>
              <a:rPr b="1" i="0" lang="fr" sz="7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&amp; INVENTAIRE</a:t>
            </a:r>
            <a:endParaRPr b="0" i="0" sz="7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23" name="Google Shape;423;p22"/>
          <p:cNvSpPr/>
          <p:nvPr/>
        </p:nvSpPr>
        <p:spPr>
          <a:xfrm>
            <a:off x="2734161" y="2327203"/>
            <a:ext cx="146400" cy="146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75" lIns="375" spcFirstLastPara="1" rIns="375" wrap="square" tIns="3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C9271E"/>
              </a:buClr>
              <a:buSzPts val="590"/>
              <a:buFont typeface="Arial"/>
              <a:buNone/>
            </a:pPr>
            <a:r>
              <a:t/>
            </a:r>
            <a:endParaRPr b="0" i="0" sz="59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24" name="Google Shape;424;p22"/>
          <p:cNvSpPr/>
          <p:nvPr/>
        </p:nvSpPr>
        <p:spPr>
          <a:xfrm>
            <a:off x="2734161" y="2775259"/>
            <a:ext cx="146400" cy="146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75" lIns="375" spcFirstLastPara="1" rIns="375" wrap="square" tIns="3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C9271E"/>
              </a:buClr>
              <a:buSzPts val="590"/>
              <a:buFont typeface="Arial"/>
              <a:buNone/>
            </a:pPr>
            <a:r>
              <a:t/>
            </a:r>
            <a:endParaRPr b="0" i="0" sz="59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25" name="Google Shape;425;p22"/>
          <p:cNvSpPr/>
          <p:nvPr/>
        </p:nvSpPr>
        <p:spPr>
          <a:xfrm>
            <a:off x="2734161" y="2999287"/>
            <a:ext cx="146400" cy="146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75" lIns="375" spcFirstLastPara="1" rIns="375" wrap="square" tIns="3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C9271E"/>
              </a:buClr>
              <a:buSzPts val="590"/>
              <a:buFont typeface="Arial"/>
              <a:buNone/>
            </a:pPr>
            <a:r>
              <a:t/>
            </a:r>
            <a:endParaRPr b="0" i="0" sz="59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26" name="Google Shape;426;p22"/>
          <p:cNvSpPr/>
          <p:nvPr/>
        </p:nvSpPr>
        <p:spPr>
          <a:xfrm>
            <a:off x="2734161" y="3223315"/>
            <a:ext cx="146400" cy="146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75" lIns="375" spcFirstLastPara="1" rIns="375" wrap="square" tIns="3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C9271E"/>
              </a:buClr>
              <a:buSzPts val="590"/>
              <a:buFont typeface="Arial"/>
              <a:buNone/>
            </a:pPr>
            <a:r>
              <a:t/>
            </a:r>
            <a:endParaRPr b="0" i="0" sz="59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27" name="Google Shape;427;p22"/>
          <p:cNvSpPr/>
          <p:nvPr/>
        </p:nvSpPr>
        <p:spPr>
          <a:xfrm>
            <a:off x="2734161" y="3447343"/>
            <a:ext cx="146400" cy="146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75" lIns="375" spcFirstLastPara="1" rIns="375" wrap="square" tIns="3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C9271E"/>
              </a:buClr>
              <a:buSzPts val="590"/>
              <a:buFont typeface="Arial"/>
              <a:buNone/>
            </a:pPr>
            <a:r>
              <a:t/>
            </a:r>
            <a:endParaRPr b="0" i="0" sz="59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28" name="Google Shape;428;p22"/>
          <p:cNvSpPr/>
          <p:nvPr/>
        </p:nvSpPr>
        <p:spPr>
          <a:xfrm>
            <a:off x="2889609" y="3438199"/>
            <a:ext cx="713100" cy="315600"/>
          </a:xfrm>
          <a:prstGeom prst="rect">
            <a:avLst/>
          </a:prstGeom>
          <a:noFill/>
          <a:ln>
            <a:noFill/>
          </a:ln>
        </p:spPr>
        <p:txBody>
          <a:bodyPr anchorCtr="0" anchor="t" bIns="375" lIns="375" spcFirstLastPara="1" rIns="375" wrap="square" tIns="37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63442"/>
              </a:buClr>
              <a:buSzPts val="465"/>
              <a:buFont typeface="Arial"/>
              <a:buNone/>
            </a:pPr>
            <a:r>
              <a:t/>
            </a:r>
            <a:endParaRPr b="0" i="0" sz="465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29" name="Google Shape;429;p22"/>
          <p:cNvSpPr/>
          <p:nvPr/>
        </p:nvSpPr>
        <p:spPr>
          <a:xfrm>
            <a:off x="3721725" y="1691688"/>
            <a:ext cx="960000" cy="2062200"/>
          </a:xfrm>
          <a:prstGeom prst="roundRect">
            <a:avLst>
              <a:gd fmla="val 3810" name="adj"/>
            </a:avLst>
          </a:prstGeom>
          <a:solidFill>
            <a:srgbClr val="FFFFFF"/>
          </a:solidFill>
          <a:ln cap="flat" cmpd="sng" w="10150">
            <a:solidFill>
              <a:srgbClr val="C9271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30" name="Google Shape;430;p22"/>
          <p:cNvSpPr/>
          <p:nvPr/>
        </p:nvSpPr>
        <p:spPr>
          <a:xfrm>
            <a:off x="3721713" y="1691695"/>
            <a:ext cx="960000" cy="347400"/>
          </a:xfrm>
          <a:prstGeom prst="rect">
            <a:avLst/>
          </a:prstGeom>
          <a:solidFill>
            <a:srgbClr val="C9271E"/>
          </a:solidFill>
          <a:ln cap="flat" cmpd="sng" w="12700">
            <a:solidFill>
              <a:srgbClr val="C9271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31" name="Google Shape;431;p22"/>
          <p:cNvSpPr/>
          <p:nvPr/>
        </p:nvSpPr>
        <p:spPr>
          <a:xfrm>
            <a:off x="3776577" y="1737415"/>
            <a:ext cx="850500" cy="237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75" lIns="375" spcFirstLastPara="1" rIns="375" wrap="square" tIns="3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700"/>
              <a:buFont typeface="Arial"/>
              <a:buNone/>
            </a:pPr>
            <a:r>
              <a:rPr b="1" i="0" lang="fr" sz="7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GESTION</a:t>
            </a:r>
            <a:endParaRPr b="0" i="0" sz="7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700"/>
              <a:buFont typeface="Arial"/>
              <a:buNone/>
            </a:pPr>
            <a:r>
              <a:rPr b="1" i="0" lang="fr" sz="7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DES COMMANDES</a:t>
            </a:r>
            <a:endParaRPr b="0" i="0" sz="7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32" name="Google Shape;432;p22"/>
          <p:cNvSpPr/>
          <p:nvPr/>
        </p:nvSpPr>
        <p:spPr>
          <a:xfrm>
            <a:off x="3922881" y="2094031"/>
            <a:ext cx="713100" cy="429900"/>
          </a:xfrm>
          <a:prstGeom prst="rect">
            <a:avLst/>
          </a:prstGeom>
          <a:noFill/>
          <a:ln>
            <a:noFill/>
          </a:ln>
        </p:spPr>
        <p:txBody>
          <a:bodyPr anchorCtr="0" anchor="t" bIns="375" lIns="375" spcFirstLastPara="1" rIns="375" wrap="square" tIns="37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63442"/>
              </a:buClr>
              <a:buSzPts val="494"/>
              <a:buFont typeface="Arial"/>
              <a:buNone/>
            </a:pPr>
            <a:r>
              <a:rPr b="0" i="0" lang="fr" sz="495" u="none" cap="none" strike="noStrike">
                <a:solidFill>
                  <a:srgbClr val="263442"/>
                </a:solidFill>
                <a:latin typeface="Arial"/>
                <a:ea typeface="Arial"/>
                <a:cs typeface="Arial"/>
                <a:sym typeface="Arial"/>
              </a:rPr>
              <a:t>Ordonnancement</a:t>
            </a:r>
            <a:endParaRPr b="0" i="0" sz="495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33" name="Google Shape;433;p22"/>
          <p:cNvSpPr/>
          <p:nvPr/>
        </p:nvSpPr>
        <p:spPr>
          <a:xfrm>
            <a:off x="3922881" y="2432359"/>
            <a:ext cx="713100" cy="429900"/>
          </a:xfrm>
          <a:prstGeom prst="rect">
            <a:avLst/>
          </a:prstGeom>
          <a:noFill/>
          <a:ln>
            <a:noFill/>
          </a:ln>
        </p:spPr>
        <p:txBody>
          <a:bodyPr anchorCtr="0" anchor="t" bIns="375" lIns="375" spcFirstLastPara="1" rIns="375" wrap="square" tIns="37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63442"/>
              </a:buClr>
              <a:buSzPts val="494"/>
              <a:buFont typeface="Arial"/>
              <a:buNone/>
            </a:pPr>
            <a:r>
              <a:rPr b="0" i="0" lang="fr" sz="495" u="none" cap="none" strike="noStrike">
                <a:solidFill>
                  <a:srgbClr val="263442"/>
                </a:solidFill>
                <a:latin typeface="Arial"/>
                <a:ea typeface="Arial"/>
                <a:cs typeface="Arial"/>
                <a:sym typeface="Arial"/>
              </a:rPr>
              <a:t>Planification des commandes</a:t>
            </a:r>
            <a:endParaRPr b="0" i="0" sz="495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34" name="Google Shape;434;p22"/>
          <p:cNvSpPr/>
          <p:nvPr/>
        </p:nvSpPr>
        <p:spPr>
          <a:xfrm>
            <a:off x="3767433" y="2779831"/>
            <a:ext cx="146400" cy="146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75" lIns="375" spcFirstLastPara="1" rIns="375" wrap="square" tIns="3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C9271E"/>
              </a:buClr>
              <a:buSzPts val="590"/>
              <a:buFont typeface="Arial"/>
              <a:buNone/>
            </a:pPr>
            <a:r>
              <a:t/>
            </a:r>
            <a:endParaRPr b="0" i="0" sz="59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35" name="Google Shape;435;p22"/>
          <p:cNvSpPr/>
          <p:nvPr/>
        </p:nvSpPr>
        <p:spPr>
          <a:xfrm>
            <a:off x="3922881" y="2770687"/>
            <a:ext cx="713100" cy="429900"/>
          </a:xfrm>
          <a:prstGeom prst="rect">
            <a:avLst/>
          </a:prstGeom>
          <a:noFill/>
          <a:ln>
            <a:noFill/>
          </a:ln>
        </p:spPr>
        <p:txBody>
          <a:bodyPr anchorCtr="0" anchor="t" bIns="375" lIns="375" spcFirstLastPara="1" rIns="375" wrap="square" tIns="37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63442"/>
              </a:buClr>
              <a:buSzPts val="494"/>
              <a:buFont typeface="Arial"/>
              <a:buNone/>
            </a:pPr>
            <a:r>
              <a:rPr b="0" i="0" lang="fr" sz="495" u="none" cap="none" strike="noStrike">
                <a:solidFill>
                  <a:srgbClr val="263442"/>
                </a:solidFill>
                <a:latin typeface="Arial"/>
                <a:ea typeface="Arial"/>
                <a:cs typeface="Arial"/>
                <a:sym typeface="Arial"/>
              </a:rPr>
              <a:t>Préparation des lots (Wave / Batch)</a:t>
            </a:r>
            <a:endParaRPr b="0" i="0" sz="495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36" name="Google Shape;436;p22"/>
          <p:cNvSpPr/>
          <p:nvPr/>
        </p:nvSpPr>
        <p:spPr>
          <a:xfrm>
            <a:off x="3767433" y="3118159"/>
            <a:ext cx="146400" cy="146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75" lIns="375" spcFirstLastPara="1" rIns="375" wrap="square" tIns="3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C9271E"/>
              </a:buClr>
              <a:buSzPts val="590"/>
              <a:buFont typeface="Arial"/>
              <a:buNone/>
            </a:pPr>
            <a:r>
              <a:t/>
            </a:r>
            <a:endParaRPr b="0" i="0" sz="59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37" name="Google Shape;437;p22"/>
          <p:cNvSpPr/>
          <p:nvPr/>
        </p:nvSpPr>
        <p:spPr>
          <a:xfrm>
            <a:off x="3922881" y="3109015"/>
            <a:ext cx="713100" cy="429900"/>
          </a:xfrm>
          <a:prstGeom prst="rect">
            <a:avLst/>
          </a:prstGeom>
          <a:noFill/>
          <a:ln>
            <a:noFill/>
          </a:ln>
        </p:spPr>
        <p:txBody>
          <a:bodyPr anchorCtr="0" anchor="t" bIns="375" lIns="375" spcFirstLastPara="1" rIns="375" wrap="square" tIns="37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63442"/>
              </a:buClr>
              <a:buSzPts val="494"/>
              <a:buFont typeface="Arial"/>
              <a:buNone/>
            </a:pPr>
            <a:r>
              <a:rPr b="0" i="0" lang="fr" sz="495" u="none" cap="none" strike="noStrike">
                <a:solidFill>
                  <a:srgbClr val="263442"/>
                </a:solidFill>
                <a:latin typeface="Arial"/>
                <a:ea typeface="Arial"/>
                <a:cs typeface="Arial"/>
                <a:sym typeface="Arial"/>
              </a:rPr>
              <a:t>Allocation</a:t>
            </a:r>
            <a:endParaRPr b="0" i="0" sz="495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38" name="Google Shape;438;p22"/>
          <p:cNvSpPr/>
          <p:nvPr/>
        </p:nvSpPr>
        <p:spPr>
          <a:xfrm>
            <a:off x="3767433" y="3456487"/>
            <a:ext cx="146400" cy="146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75" lIns="375" spcFirstLastPara="1" rIns="375" wrap="square" tIns="3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C9271E"/>
              </a:buClr>
              <a:buSzPts val="590"/>
              <a:buFont typeface="Arial"/>
              <a:buNone/>
            </a:pPr>
            <a:r>
              <a:t/>
            </a:r>
            <a:endParaRPr b="0" i="0" sz="59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39" name="Google Shape;439;p22"/>
          <p:cNvSpPr/>
          <p:nvPr/>
        </p:nvSpPr>
        <p:spPr>
          <a:xfrm>
            <a:off x="3922881" y="3447343"/>
            <a:ext cx="713100" cy="429900"/>
          </a:xfrm>
          <a:prstGeom prst="rect">
            <a:avLst/>
          </a:prstGeom>
          <a:noFill/>
          <a:ln>
            <a:noFill/>
          </a:ln>
        </p:spPr>
        <p:txBody>
          <a:bodyPr anchorCtr="0" anchor="t" bIns="375" lIns="375" spcFirstLastPara="1" rIns="375" wrap="square" tIns="37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63442"/>
              </a:buClr>
              <a:buSzPts val="494"/>
              <a:buFont typeface="Arial"/>
              <a:buNone/>
            </a:pPr>
            <a:r>
              <a:rPr b="0" i="0" lang="fr" sz="495" u="none" cap="none" strike="noStrike">
                <a:solidFill>
                  <a:srgbClr val="263442"/>
                </a:solidFill>
                <a:latin typeface="Arial"/>
                <a:ea typeface="Arial"/>
                <a:cs typeface="Arial"/>
                <a:sym typeface="Arial"/>
              </a:rPr>
              <a:t>Gestion des priorités</a:t>
            </a:r>
            <a:endParaRPr b="0" i="0" sz="495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40" name="Google Shape;440;p22"/>
          <p:cNvSpPr/>
          <p:nvPr/>
        </p:nvSpPr>
        <p:spPr>
          <a:xfrm>
            <a:off x="4754975" y="1691688"/>
            <a:ext cx="960000" cy="2062200"/>
          </a:xfrm>
          <a:prstGeom prst="roundRect">
            <a:avLst>
              <a:gd fmla="val 3810" name="adj"/>
            </a:avLst>
          </a:prstGeom>
          <a:solidFill>
            <a:srgbClr val="FFFFFF"/>
          </a:solidFill>
          <a:ln cap="flat" cmpd="sng" w="10150">
            <a:solidFill>
              <a:srgbClr val="C9271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41" name="Google Shape;441;p22"/>
          <p:cNvSpPr/>
          <p:nvPr/>
        </p:nvSpPr>
        <p:spPr>
          <a:xfrm>
            <a:off x="4754985" y="1691695"/>
            <a:ext cx="960000" cy="347400"/>
          </a:xfrm>
          <a:prstGeom prst="rect">
            <a:avLst/>
          </a:prstGeom>
          <a:solidFill>
            <a:srgbClr val="C9271E"/>
          </a:solidFill>
          <a:ln cap="flat" cmpd="sng" w="12700">
            <a:solidFill>
              <a:srgbClr val="C9271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42" name="Google Shape;442;p22"/>
          <p:cNvSpPr/>
          <p:nvPr/>
        </p:nvSpPr>
        <p:spPr>
          <a:xfrm>
            <a:off x="4809849" y="1737415"/>
            <a:ext cx="850500" cy="237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75" lIns="375" spcFirstLastPara="1" rIns="375" wrap="square" tIns="3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700"/>
              <a:buFont typeface="Arial"/>
              <a:buNone/>
            </a:pPr>
            <a:r>
              <a:rPr b="1" i="0" lang="fr" sz="7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EXÉCUTION</a:t>
            </a:r>
            <a:endParaRPr b="0" i="0" sz="7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700"/>
              <a:buFont typeface="Arial"/>
              <a:buNone/>
            </a:pPr>
            <a:r>
              <a:rPr b="1" i="0" lang="fr" sz="7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ENTREPÔT</a:t>
            </a:r>
            <a:endParaRPr b="0" i="0" sz="7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43" name="Google Shape;443;p22"/>
          <p:cNvSpPr/>
          <p:nvPr/>
        </p:nvSpPr>
        <p:spPr>
          <a:xfrm>
            <a:off x="4800705" y="2103175"/>
            <a:ext cx="146400" cy="146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75" lIns="375" spcFirstLastPara="1" rIns="375" wrap="square" tIns="3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C9271E"/>
              </a:buClr>
              <a:buSzPts val="590"/>
              <a:buFont typeface="Arial"/>
              <a:buNone/>
            </a:pPr>
            <a:r>
              <a:t/>
            </a:r>
            <a:endParaRPr b="0" i="0" sz="59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44" name="Google Shape;444;p22"/>
          <p:cNvSpPr/>
          <p:nvPr/>
        </p:nvSpPr>
        <p:spPr>
          <a:xfrm>
            <a:off x="4956153" y="2094031"/>
            <a:ext cx="713100" cy="3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375" lIns="375" spcFirstLastPara="1" rIns="375" wrap="square" tIns="37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63442"/>
              </a:buClr>
              <a:buSzPts val="465"/>
              <a:buFont typeface="Arial"/>
              <a:buNone/>
            </a:pPr>
            <a:r>
              <a:rPr b="0" i="0" lang="fr" sz="465" u="none" cap="none" strike="noStrike">
                <a:solidFill>
                  <a:srgbClr val="263442"/>
                </a:solidFill>
                <a:latin typeface="Arial"/>
                <a:ea typeface="Arial"/>
                <a:cs typeface="Arial"/>
                <a:sym typeface="Arial"/>
              </a:rPr>
              <a:t>Prélèvement (Picking)</a:t>
            </a:r>
            <a:endParaRPr b="0" i="0" sz="465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45" name="Google Shape;445;p22"/>
          <p:cNvSpPr/>
          <p:nvPr/>
        </p:nvSpPr>
        <p:spPr>
          <a:xfrm>
            <a:off x="4800705" y="2354635"/>
            <a:ext cx="146400" cy="146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75" lIns="375" spcFirstLastPara="1" rIns="375" wrap="square" tIns="3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C9271E"/>
              </a:buClr>
              <a:buSzPts val="590"/>
              <a:buFont typeface="Arial"/>
              <a:buNone/>
            </a:pPr>
            <a:r>
              <a:t/>
            </a:r>
            <a:endParaRPr b="0" i="0" sz="59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46" name="Google Shape;446;p22"/>
          <p:cNvSpPr/>
          <p:nvPr/>
        </p:nvSpPr>
        <p:spPr>
          <a:xfrm>
            <a:off x="4956153" y="2345491"/>
            <a:ext cx="713100" cy="3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375" lIns="375" spcFirstLastPara="1" rIns="375" wrap="square" tIns="37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63442"/>
              </a:buClr>
              <a:buSzPts val="465"/>
              <a:buFont typeface="Arial"/>
              <a:buNone/>
            </a:pPr>
            <a:r>
              <a:rPr b="0" i="0" lang="fr" sz="465" u="none" cap="none" strike="noStrike">
                <a:solidFill>
                  <a:srgbClr val="263442"/>
                </a:solidFill>
                <a:latin typeface="Arial"/>
                <a:ea typeface="Arial"/>
                <a:cs typeface="Arial"/>
                <a:sym typeface="Arial"/>
              </a:rPr>
              <a:t>Conditionnement (Packing)</a:t>
            </a:r>
            <a:endParaRPr b="0" i="0" sz="465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47" name="Google Shape;447;p22"/>
          <p:cNvSpPr/>
          <p:nvPr/>
        </p:nvSpPr>
        <p:spPr>
          <a:xfrm>
            <a:off x="4800705" y="2606095"/>
            <a:ext cx="146400" cy="146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75" lIns="375" spcFirstLastPara="1" rIns="375" wrap="square" tIns="3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C9271E"/>
              </a:buClr>
              <a:buSzPts val="590"/>
              <a:buFont typeface="Arial"/>
              <a:buNone/>
            </a:pPr>
            <a:r>
              <a:t/>
            </a:r>
            <a:endParaRPr b="0" i="0" sz="59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48" name="Google Shape;448;p22"/>
          <p:cNvSpPr/>
          <p:nvPr/>
        </p:nvSpPr>
        <p:spPr>
          <a:xfrm>
            <a:off x="4956153" y="2596951"/>
            <a:ext cx="713100" cy="3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375" lIns="375" spcFirstLastPara="1" rIns="375" wrap="square" tIns="37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63442"/>
              </a:buClr>
              <a:buSzPts val="465"/>
              <a:buFont typeface="Arial"/>
              <a:buNone/>
            </a:pPr>
            <a:r>
              <a:rPr b="0" i="0" lang="fr" sz="465" u="none" cap="none" strike="noStrike">
                <a:solidFill>
                  <a:srgbClr val="263442"/>
                </a:solidFill>
                <a:latin typeface="Arial"/>
                <a:ea typeface="Arial"/>
                <a:cs typeface="Arial"/>
                <a:sym typeface="Arial"/>
              </a:rPr>
              <a:t>Regroupement (Staging)</a:t>
            </a:r>
            <a:endParaRPr b="0" i="0" sz="465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49" name="Google Shape;449;p22"/>
          <p:cNvSpPr/>
          <p:nvPr/>
        </p:nvSpPr>
        <p:spPr>
          <a:xfrm>
            <a:off x="4956153" y="2848411"/>
            <a:ext cx="713100" cy="3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375" lIns="375" spcFirstLastPara="1" rIns="375" wrap="square" tIns="37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63442"/>
              </a:buClr>
              <a:buSzPts val="465"/>
              <a:buFont typeface="Arial"/>
              <a:buNone/>
            </a:pPr>
            <a:r>
              <a:rPr b="0" i="0" lang="fr" sz="465" u="none" cap="none" strike="noStrike">
                <a:solidFill>
                  <a:srgbClr val="263442"/>
                </a:solidFill>
                <a:latin typeface="Arial"/>
                <a:ea typeface="Arial"/>
                <a:cs typeface="Arial"/>
                <a:sym typeface="Arial"/>
              </a:rPr>
              <a:t>Consolidation</a:t>
            </a:r>
            <a:endParaRPr b="0" i="0" sz="465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50" name="Google Shape;450;p22"/>
          <p:cNvSpPr/>
          <p:nvPr/>
        </p:nvSpPr>
        <p:spPr>
          <a:xfrm>
            <a:off x="4800705" y="3109015"/>
            <a:ext cx="146400" cy="146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75" lIns="375" spcFirstLastPara="1" rIns="375" wrap="square" tIns="3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C9271E"/>
              </a:buClr>
              <a:buSzPts val="590"/>
              <a:buFont typeface="Arial"/>
              <a:buNone/>
            </a:pPr>
            <a:r>
              <a:t/>
            </a:r>
            <a:endParaRPr b="0" i="0" sz="59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51" name="Google Shape;451;p22"/>
          <p:cNvSpPr/>
          <p:nvPr/>
        </p:nvSpPr>
        <p:spPr>
          <a:xfrm>
            <a:off x="4956153" y="3099871"/>
            <a:ext cx="713100" cy="3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375" lIns="375" spcFirstLastPara="1" rIns="375" wrap="square" tIns="37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63442"/>
              </a:buClr>
              <a:buSzPts val="465"/>
              <a:buFont typeface="Arial"/>
              <a:buNone/>
            </a:pPr>
            <a:r>
              <a:rPr b="0" i="0" lang="fr" sz="465" u="none" cap="none" strike="noStrike">
                <a:solidFill>
                  <a:srgbClr val="263442"/>
                </a:solidFill>
                <a:latin typeface="Arial"/>
                <a:ea typeface="Arial"/>
                <a:cs typeface="Arial"/>
                <a:sym typeface="Arial"/>
              </a:rPr>
              <a:t>Chargement</a:t>
            </a:r>
            <a:endParaRPr b="0" i="0" sz="465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52" name="Google Shape;452;p22"/>
          <p:cNvSpPr/>
          <p:nvPr/>
        </p:nvSpPr>
        <p:spPr>
          <a:xfrm>
            <a:off x="4956153" y="3351331"/>
            <a:ext cx="713100" cy="3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375" lIns="375" spcFirstLastPara="1" rIns="375" wrap="square" tIns="37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63442"/>
              </a:buClr>
              <a:buSzPts val="465"/>
              <a:buFont typeface="Arial"/>
              <a:buNone/>
            </a:pPr>
            <a:r>
              <a:rPr b="0" i="0" lang="fr" sz="465" u="none" cap="none" strike="noStrike">
                <a:solidFill>
                  <a:srgbClr val="263442"/>
                </a:solidFill>
                <a:latin typeface="Arial"/>
                <a:ea typeface="Arial"/>
                <a:cs typeface="Arial"/>
                <a:sym typeface="Arial"/>
              </a:rPr>
              <a:t>Expédition</a:t>
            </a:r>
            <a:endParaRPr b="0" i="0" sz="465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53" name="Google Shape;453;p22"/>
          <p:cNvSpPr/>
          <p:nvPr/>
        </p:nvSpPr>
        <p:spPr>
          <a:xfrm>
            <a:off x="4956153" y="3602791"/>
            <a:ext cx="713100" cy="3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375" lIns="375" spcFirstLastPara="1" rIns="375" wrap="square" tIns="37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63442"/>
              </a:buClr>
              <a:buSzPts val="465"/>
              <a:buFont typeface="Arial"/>
              <a:buNone/>
            </a:pPr>
            <a:r>
              <a:rPr b="0" i="0" lang="fr" sz="465" u="none" cap="none" strike="noStrike">
                <a:solidFill>
                  <a:srgbClr val="263442"/>
                </a:solidFill>
                <a:latin typeface="Arial"/>
                <a:ea typeface="Arial"/>
                <a:cs typeface="Arial"/>
                <a:sym typeface="Arial"/>
              </a:rPr>
              <a:t>Retours clients</a:t>
            </a:r>
            <a:endParaRPr b="0" i="0" sz="465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54" name="Google Shape;454;p22"/>
          <p:cNvSpPr/>
          <p:nvPr/>
        </p:nvSpPr>
        <p:spPr>
          <a:xfrm>
            <a:off x="5788250" y="1691688"/>
            <a:ext cx="960000" cy="2062200"/>
          </a:xfrm>
          <a:prstGeom prst="roundRect">
            <a:avLst>
              <a:gd fmla="val 3810" name="adj"/>
            </a:avLst>
          </a:prstGeom>
          <a:solidFill>
            <a:srgbClr val="FFFFFF"/>
          </a:solidFill>
          <a:ln cap="flat" cmpd="sng" w="10150">
            <a:solidFill>
              <a:srgbClr val="C9271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55" name="Google Shape;455;p22"/>
          <p:cNvSpPr/>
          <p:nvPr/>
        </p:nvSpPr>
        <p:spPr>
          <a:xfrm>
            <a:off x="5788257" y="1691695"/>
            <a:ext cx="960000" cy="347400"/>
          </a:xfrm>
          <a:prstGeom prst="rect">
            <a:avLst/>
          </a:prstGeom>
          <a:solidFill>
            <a:srgbClr val="C9271E"/>
          </a:solidFill>
          <a:ln cap="flat" cmpd="sng" w="12700">
            <a:solidFill>
              <a:srgbClr val="C9271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56" name="Google Shape;456;p22"/>
          <p:cNvSpPr/>
          <p:nvPr/>
        </p:nvSpPr>
        <p:spPr>
          <a:xfrm>
            <a:off x="5843121" y="1737415"/>
            <a:ext cx="850500" cy="237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75" lIns="375" spcFirstLastPara="1" rIns="375" wrap="square" tIns="3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700"/>
              <a:buFont typeface="Arial"/>
              <a:buNone/>
            </a:pPr>
            <a:r>
              <a:rPr b="1" i="0" lang="fr" sz="7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YARD &amp; QUAIS</a:t>
            </a:r>
            <a:endParaRPr b="0" i="0" sz="7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57" name="Google Shape;457;p22"/>
          <p:cNvSpPr/>
          <p:nvPr/>
        </p:nvSpPr>
        <p:spPr>
          <a:xfrm>
            <a:off x="5989425" y="2094031"/>
            <a:ext cx="713100" cy="379500"/>
          </a:xfrm>
          <a:prstGeom prst="rect">
            <a:avLst/>
          </a:prstGeom>
          <a:noFill/>
          <a:ln>
            <a:noFill/>
          </a:ln>
        </p:spPr>
        <p:txBody>
          <a:bodyPr anchorCtr="0" anchor="t" bIns="375" lIns="375" spcFirstLastPara="1" rIns="375" wrap="square" tIns="37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63442"/>
              </a:buClr>
              <a:buSzPts val="494"/>
              <a:buFont typeface="Arial"/>
              <a:buNone/>
            </a:pPr>
            <a:r>
              <a:rPr b="0" i="0" lang="fr" sz="495" u="none" cap="none" strike="noStrike">
                <a:solidFill>
                  <a:srgbClr val="263442"/>
                </a:solidFill>
                <a:latin typeface="Arial"/>
                <a:ea typeface="Arial"/>
                <a:cs typeface="Arial"/>
                <a:sym typeface="Arial"/>
              </a:rPr>
              <a:t>Gestion de la cour</a:t>
            </a:r>
            <a:endParaRPr b="0" i="0" sz="495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58" name="Google Shape;458;p22"/>
          <p:cNvSpPr/>
          <p:nvPr/>
        </p:nvSpPr>
        <p:spPr>
          <a:xfrm>
            <a:off x="5989425" y="2382067"/>
            <a:ext cx="713100" cy="379500"/>
          </a:xfrm>
          <a:prstGeom prst="rect">
            <a:avLst/>
          </a:prstGeom>
          <a:noFill/>
          <a:ln>
            <a:noFill/>
          </a:ln>
        </p:spPr>
        <p:txBody>
          <a:bodyPr anchorCtr="0" anchor="t" bIns="375" lIns="375" spcFirstLastPara="1" rIns="375" wrap="square" tIns="37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63442"/>
              </a:buClr>
              <a:buSzPts val="494"/>
              <a:buFont typeface="Arial"/>
              <a:buNone/>
            </a:pPr>
            <a:r>
              <a:rPr b="0" i="0" lang="fr" sz="495" u="none" cap="none" strike="noStrike">
                <a:solidFill>
                  <a:srgbClr val="263442"/>
                </a:solidFill>
                <a:latin typeface="Arial"/>
                <a:ea typeface="Arial"/>
                <a:cs typeface="Arial"/>
                <a:sym typeface="Arial"/>
              </a:rPr>
              <a:t>Planification des quais</a:t>
            </a:r>
            <a:endParaRPr b="0" i="0" sz="495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59" name="Google Shape;459;p22"/>
          <p:cNvSpPr/>
          <p:nvPr/>
        </p:nvSpPr>
        <p:spPr>
          <a:xfrm>
            <a:off x="5989425" y="2670103"/>
            <a:ext cx="713100" cy="379500"/>
          </a:xfrm>
          <a:prstGeom prst="rect">
            <a:avLst/>
          </a:prstGeom>
          <a:noFill/>
          <a:ln>
            <a:noFill/>
          </a:ln>
        </p:spPr>
        <p:txBody>
          <a:bodyPr anchorCtr="0" anchor="t" bIns="375" lIns="375" spcFirstLastPara="1" rIns="375" wrap="square" tIns="37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63442"/>
              </a:buClr>
              <a:buSzPts val="494"/>
              <a:buFont typeface="Arial"/>
              <a:buNone/>
            </a:pPr>
            <a:r>
              <a:rPr b="0" i="0" lang="fr" sz="495" u="none" cap="none" strike="noStrike">
                <a:solidFill>
                  <a:srgbClr val="263442"/>
                </a:solidFill>
                <a:latin typeface="Arial"/>
                <a:ea typeface="Arial"/>
                <a:cs typeface="Arial"/>
                <a:sym typeface="Arial"/>
              </a:rPr>
              <a:t>Affectation des quais</a:t>
            </a:r>
            <a:endParaRPr b="0" i="0" sz="495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60" name="Google Shape;460;p22"/>
          <p:cNvSpPr/>
          <p:nvPr/>
        </p:nvSpPr>
        <p:spPr>
          <a:xfrm>
            <a:off x="5989425" y="2958139"/>
            <a:ext cx="713100" cy="379500"/>
          </a:xfrm>
          <a:prstGeom prst="rect">
            <a:avLst/>
          </a:prstGeom>
          <a:noFill/>
          <a:ln>
            <a:noFill/>
          </a:ln>
        </p:spPr>
        <p:txBody>
          <a:bodyPr anchorCtr="0" anchor="t" bIns="375" lIns="375" spcFirstLastPara="1" rIns="375" wrap="square" tIns="37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63442"/>
              </a:buClr>
              <a:buSzPts val="494"/>
              <a:buFont typeface="Arial"/>
              <a:buNone/>
            </a:pPr>
            <a:r>
              <a:rPr b="0" i="0" lang="fr" sz="495" u="none" cap="none" strike="noStrike">
                <a:solidFill>
                  <a:srgbClr val="263442"/>
                </a:solidFill>
                <a:latin typeface="Arial"/>
                <a:ea typeface="Arial"/>
                <a:cs typeface="Arial"/>
                <a:sym typeface="Arial"/>
              </a:rPr>
              <a:t>Gestion des portes</a:t>
            </a:r>
            <a:endParaRPr b="0" i="0" sz="495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61" name="Google Shape;461;p22"/>
          <p:cNvSpPr/>
          <p:nvPr/>
        </p:nvSpPr>
        <p:spPr>
          <a:xfrm>
            <a:off x="5989425" y="3246175"/>
            <a:ext cx="713100" cy="379500"/>
          </a:xfrm>
          <a:prstGeom prst="rect">
            <a:avLst/>
          </a:prstGeom>
          <a:noFill/>
          <a:ln>
            <a:noFill/>
          </a:ln>
        </p:spPr>
        <p:txBody>
          <a:bodyPr anchorCtr="0" anchor="t" bIns="375" lIns="375" spcFirstLastPara="1" rIns="375" wrap="square" tIns="37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63442"/>
              </a:buClr>
              <a:buSzPts val="494"/>
              <a:buFont typeface="Arial"/>
              <a:buNone/>
            </a:pPr>
            <a:r>
              <a:rPr b="0" i="0" lang="fr" sz="495" u="none" cap="none" strike="noStrike">
                <a:solidFill>
                  <a:srgbClr val="263442"/>
                </a:solidFill>
                <a:latin typeface="Arial"/>
                <a:ea typeface="Arial"/>
                <a:cs typeface="Arial"/>
                <a:sym typeface="Arial"/>
              </a:rPr>
              <a:t>Gestion des transporteurs</a:t>
            </a:r>
            <a:endParaRPr b="0" i="0" sz="495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62" name="Google Shape;462;p22"/>
          <p:cNvSpPr/>
          <p:nvPr/>
        </p:nvSpPr>
        <p:spPr>
          <a:xfrm>
            <a:off x="5833977" y="3543355"/>
            <a:ext cx="146400" cy="146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75" lIns="375" spcFirstLastPara="1" rIns="375" wrap="square" tIns="3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C9271E"/>
              </a:buClr>
              <a:buSzPts val="590"/>
              <a:buFont typeface="Arial"/>
              <a:buNone/>
            </a:pPr>
            <a:r>
              <a:t/>
            </a:r>
            <a:endParaRPr b="0" i="0" sz="59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63" name="Google Shape;463;p22"/>
          <p:cNvSpPr/>
          <p:nvPr/>
        </p:nvSpPr>
        <p:spPr>
          <a:xfrm>
            <a:off x="5989425" y="3534211"/>
            <a:ext cx="713100" cy="379500"/>
          </a:xfrm>
          <a:prstGeom prst="rect">
            <a:avLst/>
          </a:prstGeom>
          <a:noFill/>
          <a:ln>
            <a:noFill/>
          </a:ln>
        </p:spPr>
        <p:txBody>
          <a:bodyPr anchorCtr="0" anchor="t" bIns="375" lIns="375" spcFirstLastPara="1" rIns="375" wrap="square" tIns="37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63442"/>
              </a:buClr>
              <a:buSzPts val="494"/>
              <a:buFont typeface="Arial"/>
              <a:buNone/>
            </a:pPr>
            <a:r>
              <a:rPr b="0" i="0" lang="fr" sz="495" u="none" cap="none" strike="noStrike">
                <a:solidFill>
                  <a:srgbClr val="263442"/>
                </a:solidFill>
                <a:latin typeface="Arial"/>
                <a:ea typeface="Arial"/>
                <a:cs typeface="Arial"/>
                <a:sym typeface="Arial"/>
              </a:rPr>
              <a:t>Enregistrement des entrées / sorties</a:t>
            </a:r>
            <a:endParaRPr b="0" i="0" sz="495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64" name="Google Shape;464;p22"/>
          <p:cNvSpPr/>
          <p:nvPr/>
        </p:nvSpPr>
        <p:spPr>
          <a:xfrm>
            <a:off x="1655175" y="3896100"/>
            <a:ext cx="5093100" cy="530400"/>
          </a:xfrm>
          <a:prstGeom prst="roundRect">
            <a:avLst>
              <a:gd fmla="val 5263" name="adj"/>
            </a:avLst>
          </a:prstGeom>
          <a:solidFill>
            <a:srgbClr val="FFFFFF"/>
          </a:solidFill>
          <a:ln cap="flat" cmpd="sng" w="10150">
            <a:solidFill>
              <a:srgbClr val="C9271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65" name="Google Shape;465;p22"/>
          <p:cNvSpPr/>
          <p:nvPr/>
        </p:nvSpPr>
        <p:spPr>
          <a:xfrm>
            <a:off x="1655169" y="3896098"/>
            <a:ext cx="5093100" cy="219600"/>
          </a:xfrm>
          <a:prstGeom prst="rect">
            <a:avLst/>
          </a:prstGeom>
          <a:solidFill>
            <a:srgbClr val="FFFFFF"/>
          </a:solidFill>
          <a:ln cap="flat" cmpd="sng" w="10150">
            <a:solidFill>
              <a:srgbClr val="C9271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66" name="Google Shape;466;p22"/>
          <p:cNvSpPr/>
          <p:nvPr/>
        </p:nvSpPr>
        <p:spPr>
          <a:xfrm>
            <a:off x="2551281" y="3905242"/>
            <a:ext cx="3291900" cy="201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75" lIns="375" spcFirstLastPara="1" rIns="375" wrap="square" tIns="3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C9271E"/>
              </a:buClr>
              <a:buSzPts val="680"/>
              <a:buFont typeface="Arial"/>
              <a:buNone/>
            </a:pPr>
            <a:r>
              <a:rPr b="1" i="0" lang="fr" sz="680" u="none" cap="none" strike="noStrike">
                <a:solidFill>
                  <a:srgbClr val="C9271E"/>
                </a:solidFill>
                <a:latin typeface="Arial"/>
                <a:ea typeface="Arial"/>
                <a:cs typeface="Arial"/>
                <a:sym typeface="Arial"/>
              </a:rPr>
              <a:t>GESTION DES TÂCHES &amp; DES TRAVAUX</a:t>
            </a:r>
            <a:endParaRPr b="0" i="0" sz="68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67" name="Google Shape;467;p22"/>
          <p:cNvSpPr/>
          <p:nvPr/>
        </p:nvSpPr>
        <p:spPr>
          <a:xfrm>
            <a:off x="1966065" y="4170418"/>
            <a:ext cx="777300" cy="255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75" lIns="375" spcFirstLastPara="1" rIns="375" wrap="square" tIns="37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63442"/>
              </a:buClr>
              <a:buSzPts val="475"/>
              <a:buFont typeface="Arial"/>
              <a:buNone/>
            </a:pPr>
            <a:r>
              <a:rPr b="0" i="0" lang="fr" sz="475" u="none" cap="none" strike="noStrike">
                <a:solidFill>
                  <a:srgbClr val="263442"/>
                </a:solidFill>
                <a:latin typeface="Arial"/>
                <a:ea typeface="Arial"/>
                <a:cs typeface="Arial"/>
                <a:sym typeface="Arial"/>
              </a:rPr>
              <a:t>Création des tâches</a:t>
            </a:r>
            <a:endParaRPr b="0" i="0" sz="475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68" name="Google Shape;468;p22"/>
          <p:cNvSpPr/>
          <p:nvPr/>
        </p:nvSpPr>
        <p:spPr>
          <a:xfrm>
            <a:off x="2953617" y="4170418"/>
            <a:ext cx="777300" cy="255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75" lIns="375" spcFirstLastPara="1" rIns="375" wrap="square" tIns="37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63442"/>
              </a:buClr>
              <a:buSzPts val="475"/>
              <a:buFont typeface="Arial"/>
              <a:buNone/>
            </a:pPr>
            <a:r>
              <a:rPr b="0" i="0" lang="fr" sz="475" u="none" cap="none" strike="noStrike">
                <a:solidFill>
                  <a:srgbClr val="263442"/>
                </a:solidFill>
                <a:latin typeface="Arial"/>
                <a:ea typeface="Arial"/>
                <a:cs typeface="Arial"/>
                <a:sym typeface="Arial"/>
              </a:rPr>
              <a:t>Affectation des tâches</a:t>
            </a:r>
            <a:endParaRPr b="0" i="0" sz="475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69" name="Google Shape;469;p22"/>
          <p:cNvSpPr/>
          <p:nvPr/>
        </p:nvSpPr>
        <p:spPr>
          <a:xfrm>
            <a:off x="3941169" y="4170418"/>
            <a:ext cx="777300" cy="255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75" lIns="375" spcFirstLastPara="1" rIns="375" wrap="square" tIns="37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63442"/>
              </a:buClr>
              <a:buSzPts val="475"/>
              <a:buFont typeface="Arial"/>
              <a:buNone/>
            </a:pPr>
            <a:r>
              <a:rPr b="0" i="0" lang="fr" sz="475" u="none" cap="none" strike="noStrike">
                <a:solidFill>
                  <a:srgbClr val="263442"/>
                </a:solidFill>
                <a:latin typeface="Arial"/>
                <a:ea typeface="Arial"/>
                <a:cs typeface="Arial"/>
                <a:sym typeface="Arial"/>
              </a:rPr>
              <a:t>Exécution des tâches</a:t>
            </a:r>
            <a:endParaRPr b="0" i="0" sz="475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70" name="Google Shape;470;p22"/>
          <p:cNvSpPr/>
          <p:nvPr/>
        </p:nvSpPr>
        <p:spPr>
          <a:xfrm>
            <a:off x="4745841" y="4206994"/>
            <a:ext cx="164700" cy="164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75" lIns="375" spcFirstLastPara="1" rIns="375" wrap="square" tIns="3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73A63"/>
              </a:buClr>
              <a:buSzPts val="700"/>
              <a:buFont typeface="Arial"/>
              <a:buNone/>
            </a:pPr>
            <a:r>
              <a:t/>
            </a:r>
            <a:endParaRPr b="0" i="0" sz="7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71" name="Google Shape;471;p22"/>
          <p:cNvSpPr/>
          <p:nvPr/>
        </p:nvSpPr>
        <p:spPr>
          <a:xfrm>
            <a:off x="4928721" y="4170418"/>
            <a:ext cx="777300" cy="255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75" lIns="375" spcFirstLastPara="1" rIns="375" wrap="square" tIns="37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63442"/>
              </a:buClr>
              <a:buSzPts val="475"/>
              <a:buFont typeface="Arial"/>
              <a:buNone/>
            </a:pPr>
            <a:r>
              <a:rPr b="0" i="0" lang="fr" sz="475" u="none" cap="none" strike="noStrike">
                <a:solidFill>
                  <a:srgbClr val="263442"/>
                </a:solidFill>
                <a:latin typeface="Arial"/>
                <a:ea typeface="Arial"/>
                <a:cs typeface="Arial"/>
                <a:sym typeface="Arial"/>
              </a:rPr>
              <a:t>Suivi des statuts</a:t>
            </a:r>
            <a:endParaRPr b="0" i="0" sz="475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72" name="Google Shape;472;p22"/>
          <p:cNvSpPr/>
          <p:nvPr/>
        </p:nvSpPr>
        <p:spPr>
          <a:xfrm>
            <a:off x="5916273" y="4170418"/>
            <a:ext cx="777300" cy="255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75" lIns="375" spcFirstLastPara="1" rIns="375" wrap="square" tIns="37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63442"/>
              </a:buClr>
              <a:buSzPts val="475"/>
              <a:buFont typeface="Arial"/>
              <a:buNone/>
            </a:pPr>
            <a:r>
              <a:rPr b="0" i="0" lang="fr" sz="475" u="none" cap="none" strike="noStrike">
                <a:solidFill>
                  <a:srgbClr val="263442"/>
                </a:solidFill>
                <a:latin typeface="Arial"/>
                <a:ea typeface="Arial"/>
                <a:cs typeface="Arial"/>
                <a:sym typeface="Arial"/>
              </a:rPr>
              <a:t>Gestion des exceptions</a:t>
            </a:r>
            <a:endParaRPr b="0" i="0" sz="475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473" name="Google Shape;473;p22"/>
          <p:cNvCxnSpPr/>
          <p:nvPr/>
        </p:nvCxnSpPr>
        <p:spPr>
          <a:xfrm>
            <a:off x="2139801" y="3749794"/>
            <a:ext cx="0" cy="137100"/>
          </a:xfrm>
          <a:prstGeom prst="straightConnector1">
            <a:avLst/>
          </a:prstGeom>
          <a:noFill/>
          <a:ln cap="flat" cmpd="sng" w="9525">
            <a:solidFill>
              <a:srgbClr val="173A63"/>
            </a:solidFill>
            <a:prstDash val="solid"/>
            <a:round/>
            <a:headEnd len="sm" w="sm" type="none"/>
            <a:tailEnd len="med" w="med" type="triangle"/>
          </a:ln>
        </p:spPr>
      </p:cxnSp>
      <p:cxnSp>
        <p:nvCxnSpPr>
          <p:cNvPr id="474" name="Google Shape;474;p22"/>
          <p:cNvCxnSpPr/>
          <p:nvPr/>
        </p:nvCxnSpPr>
        <p:spPr>
          <a:xfrm>
            <a:off x="2139801" y="4445128"/>
            <a:ext cx="0" cy="237600"/>
          </a:xfrm>
          <a:prstGeom prst="straightConnector1">
            <a:avLst/>
          </a:prstGeom>
          <a:noFill/>
          <a:ln cap="flat" cmpd="sng" w="9525">
            <a:solidFill>
              <a:srgbClr val="173A63"/>
            </a:solidFill>
            <a:prstDash val="solid"/>
            <a:round/>
            <a:headEnd len="sm" w="sm" type="none"/>
            <a:tailEnd len="med" w="med" type="triangle"/>
          </a:ln>
        </p:spPr>
      </p:cxnSp>
      <p:cxnSp>
        <p:nvCxnSpPr>
          <p:cNvPr id="475" name="Google Shape;475;p22"/>
          <p:cNvCxnSpPr/>
          <p:nvPr/>
        </p:nvCxnSpPr>
        <p:spPr>
          <a:xfrm>
            <a:off x="3173073" y="3749794"/>
            <a:ext cx="0" cy="137100"/>
          </a:xfrm>
          <a:prstGeom prst="straightConnector1">
            <a:avLst/>
          </a:prstGeom>
          <a:noFill/>
          <a:ln cap="flat" cmpd="sng" w="9525">
            <a:solidFill>
              <a:srgbClr val="173A63"/>
            </a:solidFill>
            <a:prstDash val="solid"/>
            <a:round/>
            <a:headEnd len="sm" w="sm" type="none"/>
            <a:tailEnd len="med" w="med" type="triangle"/>
          </a:ln>
        </p:spPr>
      </p:cxnSp>
      <p:cxnSp>
        <p:nvCxnSpPr>
          <p:cNvPr id="476" name="Google Shape;476;p22"/>
          <p:cNvCxnSpPr/>
          <p:nvPr/>
        </p:nvCxnSpPr>
        <p:spPr>
          <a:xfrm>
            <a:off x="3173073" y="4445128"/>
            <a:ext cx="0" cy="237600"/>
          </a:xfrm>
          <a:prstGeom prst="straightConnector1">
            <a:avLst/>
          </a:prstGeom>
          <a:noFill/>
          <a:ln cap="flat" cmpd="sng" w="9525">
            <a:solidFill>
              <a:srgbClr val="173A63"/>
            </a:solidFill>
            <a:prstDash val="solid"/>
            <a:round/>
            <a:headEnd len="sm" w="sm" type="none"/>
            <a:tailEnd len="med" w="med" type="triangle"/>
          </a:ln>
        </p:spPr>
      </p:cxnSp>
      <p:cxnSp>
        <p:nvCxnSpPr>
          <p:cNvPr id="477" name="Google Shape;477;p22"/>
          <p:cNvCxnSpPr/>
          <p:nvPr/>
        </p:nvCxnSpPr>
        <p:spPr>
          <a:xfrm>
            <a:off x="4206345" y="3749794"/>
            <a:ext cx="0" cy="137100"/>
          </a:xfrm>
          <a:prstGeom prst="straightConnector1">
            <a:avLst/>
          </a:prstGeom>
          <a:noFill/>
          <a:ln cap="flat" cmpd="sng" w="9525">
            <a:solidFill>
              <a:srgbClr val="173A63"/>
            </a:solidFill>
            <a:prstDash val="solid"/>
            <a:round/>
            <a:headEnd len="sm" w="sm" type="none"/>
            <a:tailEnd len="med" w="med" type="triangle"/>
          </a:ln>
        </p:spPr>
      </p:cxnSp>
      <p:cxnSp>
        <p:nvCxnSpPr>
          <p:cNvPr id="478" name="Google Shape;478;p22"/>
          <p:cNvCxnSpPr/>
          <p:nvPr/>
        </p:nvCxnSpPr>
        <p:spPr>
          <a:xfrm>
            <a:off x="4206345" y="4445128"/>
            <a:ext cx="0" cy="237600"/>
          </a:xfrm>
          <a:prstGeom prst="straightConnector1">
            <a:avLst/>
          </a:prstGeom>
          <a:noFill/>
          <a:ln cap="flat" cmpd="sng" w="9525">
            <a:solidFill>
              <a:srgbClr val="173A63"/>
            </a:solidFill>
            <a:prstDash val="solid"/>
            <a:round/>
            <a:headEnd len="sm" w="sm" type="none"/>
            <a:tailEnd len="med" w="med" type="triangle"/>
          </a:ln>
        </p:spPr>
      </p:cxnSp>
      <p:cxnSp>
        <p:nvCxnSpPr>
          <p:cNvPr id="479" name="Google Shape;479;p22"/>
          <p:cNvCxnSpPr/>
          <p:nvPr/>
        </p:nvCxnSpPr>
        <p:spPr>
          <a:xfrm>
            <a:off x="5239617" y="3749794"/>
            <a:ext cx="0" cy="137100"/>
          </a:xfrm>
          <a:prstGeom prst="straightConnector1">
            <a:avLst/>
          </a:prstGeom>
          <a:noFill/>
          <a:ln cap="flat" cmpd="sng" w="9525">
            <a:solidFill>
              <a:srgbClr val="173A63"/>
            </a:solidFill>
            <a:prstDash val="solid"/>
            <a:round/>
            <a:headEnd len="sm" w="sm" type="none"/>
            <a:tailEnd len="med" w="med" type="triangle"/>
          </a:ln>
        </p:spPr>
      </p:cxnSp>
      <p:cxnSp>
        <p:nvCxnSpPr>
          <p:cNvPr id="480" name="Google Shape;480;p22"/>
          <p:cNvCxnSpPr/>
          <p:nvPr/>
        </p:nvCxnSpPr>
        <p:spPr>
          <a:xfrm>
            <a:off x="5239617" y="4445128"/>
            <a:ext cx="0" cy="237600"/>
          </a:xfrm>
          <a:prstGeom prst="straightConnector1">
            <a:avLst/>
          </a:prstGeom>
          <a:noFill/>
          <a:ln cap="flat" cmpd="sng" w="9525">
            <a:solidFill>
              <a:srgbClr val="173A63"/>
            </a:solidFill>
            <a:prstDash val="solid"/>
            <a:round/>
            <a:headEnd len="sm" w="sm" type="none"/>
            <a:tailEnd len="med" w="med" type="triangle"/>
          </a:ln>
        </p:spPr>
      </p:cxnSp>
      <p:cxnSp>
        <p:nvCxnSpPr>
          <p:cNvPr id="481" name="Google Shape;481;p22"/>
          <p:cNvCxnSpPr/>
          <p:nvPr/>
        </p:nvCxnSpPr>
        <p:spPr>
          <a:xfrm>
            <a:off x="6272889" y="3749794"/>
            <a:ext cx="0" cy="137100"/>
          </a:xfrm>
          <a:prstGeom prst="straightConnector1">
            <a:avLst/>
          </a:prstGeom>
          <a:noFill/>
          <a:ln cap="flat" cmpd="sng" w="9525">
            <a:solidFill>
              <a:srgbClr val="173A63"/>
            </a:solidFill>
            <a:prstDash val="solid"/>
            <a:round/>
            <a:headEnd len="sm" w="sm" type="none"/>
            <a:tailEnd len="med" w="med" type="triangle"/>
          </a:ln>
        </p:spPr>
      </p:cxnSp>
      <p:cxnSp>
        <p:nvCxnSpPr>
          <p:cNvPr id="482" name="Google Shape;482;p22"/>
          <p:cNvCxnSpPr/>
          <p:nvPr/>
        </p:nvCxnSpPr>
        <p:spPr>
          <a:xfrm>
            <a:off x="6272889" y="4445128"/>
            <a:ext cx="0" cy="237600"/>
          </a:xfrm>
          <a:prstGeom prst="straightConnector1">
            <a:avLst/>
          </a:prstGeom>
          <a:noFill/>
          <a:ln cap="flat" cmpd="sng" w="9525">
            <a:solidFill>
              <a:srgbClr val="173A63"/>
            </a:solidFill>
            <a:prstDash val="solid"/>
            <a:round/>
            <a:headEnd len="sm" w="sm" type="none"/>
            <a:tailEnd len="med" w="med" type="triangle"/>
          </a:ln>
        </p:spPr>
      </p:cxnSp>
      <p:sp>
        <p:nvSpPr>
          <p:cNvPr id="483" name="Google Shape;483;p22"/>
          <p:cNvSpPr/>
          <p:nvPr/>
        </p:nvSpPr>
        <p:spPr>
          <a:xfrm>
            <a:off x="6807750" y="3380174"/>
            <a:ext cx="1326000" cy="1042500"/>
          </a:xfrm>
          <a:prstGeom prst="roundRect">
            <a:avLst>
              <a:gd fmla="val 2899" name="adj"/>
            </a:avLst>
          </a:prstGeom>
          <a:solidFill>
            <a:srgbClr val="FBF8FD"/>
          </a:solidFill>
          <a:ln cap="flat" cmpd="sng" w="10150">
            <a:solidFill>
              <a:srgbClr val="8660A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84" name="Google Shape;484;p22"/>
          <p:cNvSpPr/>
          <p:nvPr/>
        </p:nvSpPr>
        <p:spPr>
          <a:xfrm>
            <a:off x="6880911" y="3471606"/>
            <a:ext cx="1243500" cy="219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75" lIns="375" spcFirstLastPara="1" rIns="375" wrap="square" tIns="3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73A63"/>
              </a:buClr>
              <a:buSzPts val="610"/>
              <a:buFont typeface="Arial"/>
              <a:buNone/>
            </a:pPr>
            <a:r>
              <a:rPr b="1" i="0" lang="fr" sz="610" u="none" cap="none" strike="noStrike">
                <a:solidFill>
                  <a:srgbClr val="173A63"/>
                </a:solidFill>
                <a:latin typeface="Arial"/>
                <a:ea typeface="Arial"/>
                <a:cs typeface="Arial"/>
                <a:sym typeface="Arial"/>
              </a:rPr>
              <a:t>STOCKAGE DES DONNÉES</a:t>
            </a:r>
            <a:endParaRPr b="0" i="0" sz="61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85" name="Google Shape;485;p22"/>
          <p:cNvSpPr/>
          <p:nvPr/>
        </p:nvSpPr>
        <p:spPr>
          <a:xfrm>
            <a:off x="6990639" y="3773358"/>
            <a:ext cx="255900" cy="237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75" lIns="375" spcFirstLastPara="1" rIns="375" wrap="square" tIns="3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73A63"/>
              </a:buClr>
              <a:buSzPts val="2000"/>
              <a:buFont typeface="Arial"/>
              <a:buNone/>
            </a:pPr>
            <a:r>
              <a:t/>
            </a:r>
            <a:endParaRPr b="0" i="0" sz="20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86" name="Google Shape;486;p22"/>
          <p:cNvSpPr/>
          <p:nvPr/>
        </p:nvSpPr>
        <p:spPr>
          <a:xfrm>
            <a:off x="7466127" y="3773358"/>
            <a:ext cx="219600" cy="219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75" lIns="375" spcFirstLastPara="1" rIns="375" wrap="square" tIns="3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263442"/>
              </a:buClr>
              <a:buSzPts val="1100"/>
              <a:buFont typeface="Arial"/>
              <a:buNone/>
            </a:pPr>
            <a:r>
              <a:t/>
            </a:r>
            <a:endParaRPr b="0" i="0" sz="11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87" name="Google Shape;487;p22"/>
          <p:cNvSpPr/>
          <p:nvPr/>
        </p:nvSpPr>
        <p:spPr>
          <a:xfrm>
            <a:off x="6903829" y="4020260"/>
            <a:ext cx="567000" cy="384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75" lIns="375" spcFirstLastPara="1" rIns="375" wrap="square" tIns="3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263442"/>
              </a:buClr>
              <a:buSzPts val="469"/>
              <a:buFont typeface="Arial"/>
              <a:buNone/>
            </a:pPr>
            <a:r>
              <a:rPr b="0" i="0" lang="fr" sz="470" u="none" cap="none" strike="noStrike">
                <a:solidFill>
                  <a:srgbClr val="263442"/>
                </a:solidFill>
                <a:latin typeface="Arial"/>
                <a:ea typeface="Arial"/>
                <a:cs typeface="Arial"/>
                <a:sym typeface="Arial"/>
              </a:rPr>
              <a:t>Base opérationnelle</a:t>
            </a:r>
            <a:endParaRPr b="0" i="0" sz="47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263442"/>
              </a:buClr>
              <a:buSzPts val="469"/>
              <a:buFont typeface="Arial"/>
              <a:buNone/>
            </a:pPr>
            <a:r>
              <a:rPr b="0" i="0" lang="fr" sz="470" u="none" cap="none" strike="noStrike">
                <a:solidFill>
                  <a:srgbClr val="263442"/>
                </a:solidFill>
                <a:latin typeface="Arial"/>
                <a:ea typeface="Arial"/>
                <a:cs typeface="Arial"/>
                <a:sym typeface="Arial"/>
              </a:rPr>
              <a:t>(OLTP)</a:t>
            </a:r>
            <a:endParaRPr b="0" i="0" sz="47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88" name="Google Shape;488;p22"/>
          <p:cNvSpPr/>
          <p:nvPr/>
        </p:nvSpPr>
        <p:spPr>
          <a:xfrm>
            <a:off x="7493728" y="3999660"/>
            <a:ext cx="594300" cy="384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75" lIns="375" spcFirstLastPara="1" rIns="375" wrap="square" tIns="3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263442"/>
              </a:buClr>
              <a:buSzPts val="469"/>
              <a:buFont typeface="Arial"/>
              <a:buNone/>
            </a:pPr>
            <a:r>
              <a:rPr b="0" i="0" lang="fr" sz="470" u="none" cap="none" strike="noStrike">
                <a:solidFill>
                  <a:srgbClr val="263442"/>
                </a:solidFill>
                <a:latin typeface="Arial"/>
                <a:ea typeface="Arial"/>
                <a:cs typeface="Arial"/>
                <a:sym typeface="Arial"/>
              </a:rPr>
              <a:t>Base analytique</a:t>
            </a:r>
            <a:endParaRPr b="0" i="0" sz="47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263442"/>
              </a:buClr>
              <a:buSzPts val="469"/>
              <a:buFont typeface="Arial"/>
              <a:buNone/>
            </a:pPr>
            <a:r>
              <a:rPr b="0" i="0" lang="fr" sz="470" u="none" cap="none" strike="noStrike">
                <a:solidFill>
                  <a:srgbClr val="263442"/>
                </a:solidFill>
                <a:latin typeface="Arial"/>
                <a:ea typeface="Arial"/>
                <a:cs typeface="Arial"/>
                <a:sym typeface="Arial"/>
              </a:rPr>
              <a:t>(OLAP / DWH)</a:t>
            </a:r>
            <a:endParaRPr b="0" i="0" sz="47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89" name="Google Shape;489;p22"/>
          <p:cNvSpPr/>
          <p:nvPr/>
        </p:nvSpPr>
        <p:spPr>
          <a:xfrm>
            <a:off x="169284" y="8641164"/>
            <a:ext cx="1389900" cy="1664100"/>
          </a:xfrm>
          <a:prstGeom prst="roundRect">
            <a:avLst>
              <a:gd fmla="val 2632" name="adj"/>
            </a:avLst>
          </a:prstGeom>
          <a:solidFill>
            <a:srgbClr val="FFFFFF"/>
          </a:solidFill>
          <a:ln cap="flat" cmpd="sng" w="10150">
            <a:solidFill>
              <a:srgbClr val="173A6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90" name="Google Shape;490;p22"/>
          <p:cNvSpPr/>
          <p:nvPr/>
        </p:nvSpPr>
        <p:spPr>
          <a:xfrm>
            <a:off x="6867249" y="7104983"/>
            <a:ext cx="146400" cy="164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75" lIns="375" spcFirstLastPara="1" rIns="375" wrap="square" tIns="3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263442"/>
              </a:buClr>
              <a:buSzPts val="560"/>
              <a:buFont typeface="Arial"/>
              <a:buNone/>
            </a:pPr>
            <a:r>
              <a:rPr b="1" i="0" lang="fr" sz="560" u="none" cap="none" strike="noStrike">
                <a:solidFill>
                  <a:srgbClr val="263442"/>
                </a:solidFill>
                <a:latin typeface="Arial"/>
                <a:ea typeface="Arial"/>
                <a:cs typeface="Arial"/>
                <a:sym typeface="Arial"/>
              </a:rPr>
              <a:t>•</a:t>
            </a:r>
            <a:endParaRPr b="0" i="0" sz="56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91" name="Google Shape;491;p22"/>
          <p:cNvSpPr/>
          <p:nvPr/>
        </p:nvSpPr>
        <p:spPr>
          <a:xfrm>
            <a:off x="7031841" y="7104983"/>
            <a:ext cx="1042500" cy="192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75" lIns="375" spcFirstLastPara="1" rIns="375" wrap="square" tIns="37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63442"/>
              </a:buClr>
              <a:buSzPts val="480"/>
              <a:buFont typeface="Arial"/>
              <a:buNone/>
            </a:pPr>
            <a:r>
              <a:rPr b="0" i="0" lang="fr" sz="480" u="none" cap="none" strike="noStrike">
                <a:solidFill>
                  <a:srgbClr val="263442"/>
                </a:solidFill>
                <a:latin typeface="Arial"/>
                <a:ea typeface="Arial"/>
                <a:cs typeface="Arial"/>
                <a:sym typeface="Arial"/>
              </a:rPr>
              <a:t>Caméras / Vision industrielle</a:t>
            </a:r>
            <a:endParaRPr b="0" i="0" sz="48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92" name="Google Shape;492;p22"/>
          <p:cNvSpPr/>
          <p:nvPr/>
        </p:nvSpPr>
        <p:spPr>
          <a:xfrm>
            <a:off x="6867249" y="7351871"/>
            <a:ext cx="146400" cy="164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75" lIns="375" spcFirstLastPara="1" rIns="375" wrap="square" tIns="3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263442"/>
              </a:buClr>
              <a:buSzPts val="560"/>
              <a:buFont typeface="Arial"/>
              <a:buNone/>
            </a:pPr>
            <a:r>
              <a:rPr b="1" i="0" lang="fr" sz="560" u="none" cap="none" strike="noStrike">
                <a:solidFill>
                  <a:srgbClr val="263442"/>
                </a:solidFill>
                <a:latin typeface="Arial"/>
                <a:ea typeface="Arial"/>
                <a:cs typeface="Arial"/>
                <a:sym typeface="Arial"/>
              </a:rPr>
              <a:t>•</a:t>
            </a:r>
            <a:endParaRPr b="0" i="0" sz="56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93" name="Google Shape;493;p22"/>
          <p:cNvSpPr/>
          <p:nvPr/>
        </p:nvSpPr>
        <p:spPr>
          <a:xfrm>
            <a:off x="7031841" y="7351871"/>
            <a:ext cx="1042500" cy="192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75" lIns="375" spcFirstLastPara="1" rIns="375" wrap="square" tIns="37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63442"/>
              </a:buClr>
              <a:buSzPts val="480"/>
              <a:buFont typeface="Arial"/>
              <a:buNone/>
            </a:pPr>
            <a:r>
              <a:rPr b="0" i="0" lang="fr" sz="480" u="none" cap="none" strike="noStrike">
                <a:solidFill>
                  <a:srgbClr val="263442"/>
                </a:solidFill>
                <a:latin typeface="Arial"/>
                <a:ea typeface="Arial"/>
                <a:cs typeface="Arial"/>
                <a:sym typeface="Arial"/>
              </a:rPr>
              <a:t>Systèmes opérateurs</a:t>
            </a:r>
            <a:endParaRPr b="0" i="0" sz="48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94" name="Google Shape;494;p22"/>
          <p:cNvSpPr/>
          <p:nvPr/>
        </p:nvSpPr>
        <p:spPr>
          <a:xfrm>
            <a:off x="155553" y="5733383"/>
            <a:ext cx="1417200" cy="1206900"/>
          </a:xfrm>
          <a:prstGeom prst="roundRect">
            <a:avLst>
              <a:gd fmla="val 3030" name="adj"/>
            </a:avLst>
          </a:prstGeom>
          <a:solidFill>
            <a:srgbClr val="FFFFFF"/>
          </a:solidFill>
          <a:ln cap="flat" cmpd="sng" w="9525">
            <a:solidFill>
              <a:srgbClr val="79A96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95" name="Google Shape;495;p22"/>
          <p:cNvSpPr/>
          <p:nvPr/>
        </p:nvSpPr>
        <p:spPr>
          <a:xfrm>
            <a:off x="265281" y="5824823"/>
            <a:ext cx="1197900" cy="347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75" lIns="375" spcFirstLastPara="1" rIns="375" wrap="square" tIns="37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79A96B"/>
              </a:buClr>
              <a:buSzPts val="900"/>
              <a:buFont typeface="Arial"/>
              <a:buNone/>
            </a:pPr>
            <a:r>
              <a:rPr b="1" i="0" lang="fr" sz="900" u="none" cap="none" strike="noStrike">
                <a:solidFill>
                  <a:srgbClr val="79A96B"/>
                </a:solidFill>
                <a:latin typeface="Arial"/>
                <a:ea typeface="Arial"/>
                <a:cs typeface="Arial"/>
                <a:sym typeface="Arial"/>
              </a:rPr>
              <a:t>RESSOURCES &amp;</a:t>
            </a:r>
            <a:endParaRPr b="0" i="0" sz="9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79A96B"/>
              </a:buClr>
              <a:buSzPts val="900"/>
              <a:buFont typeface="Arial"/>
              <a:buNone/>
            </a:pPr>
            <a:r>
              <a:rPr b="1" i="0" lang="fr" sz="900" u="none" cap="none" strike="noStrike">
                <a:solidFill>
                  <a:srgbClr val="79A96B"/>
                </a:solidFill>
                <a:latin typeface="Arial"/>
                <a:ea typeface="Arial"/>
                <a:cs typeface="Arial"/>
                <a:sym typeface="Arial"/>
              </a:rPr>
              <a:t>INFRASTRUCTURES</a:t>
            </a:r>
            <a:endParaRPr b="0" i="0" sz="9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96" name="Google Shape;496;p22"/>
          <p:cNvSpPr/>
          <p:nvPr/>
        </p:nvSpPr>
        <p:spPr>
          <a:xfrm>
            <a:off x="265281" y="6254591"/>
            <a:ext cx="1197900" cy="594300"/>
          </a:xfrm>
          <a:prstGeom prst="rect">
            <a:avLst/>
          </a:prstGeom>
          <a:noFill/>
          <a:ln>
            <a:noFill/>
          </a:ln>
        </p:spPr>
        <p:txBody>
          <a:bodyPr anchorCtr="0" anchor="t" bIns="375" lIns="375" spcFirstLastPara="1" rIns="375" wrap="square" tIns="37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73A63"/>
              </a:buClr>
              <a:buSzPts val="710"/>
              <a:buFont typeface="Arial"/>
              <a:buNone/>
            </a:pPr>
            <a:r>
              <a:rPr b="0" i="0" lang="fr" sz="710" u="none" cap="none" strike="noStrike">
                <a:solidFill>
                  <a:srgbClr val="173A63"/>
                </a:solidFill>
                <a:latin typeface="Arial"/>
                <a:ea typeface="Arial"/>
                <a:cs typeface="Arial"/>
                <a:sym typeface="Arial"/>
              </a:rPr>
              <a:t>Personnes, équipements et actifs</a:t>
            </a:r>
            <a:endParaRPr b="0" i="0" sz="71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97" name="Google Shape;497;p22"/>
          <p:cNvSpPr/>
          <p:nvPr/>
        </p:nvSpPr>
        <p:spPr>
          <a:xfrm>
            <a:off x="1623350" y="5753380"/>
            <a:ext cx="1369800" cy="1008300"/>
          </a:xfrm>
          <a:prstGeom prst="roundRect">
            <a:avLst>
              <a:gd fmla="val 2985" name="adj"/>
            </a:avLst>
          </a:prstGeom>
          <a:solidFill>
            <a:srgbClr val="F7FBF5"/>
          </a:solidFill>
          <a:ln cap="flat" cmpd="sng" w="7800">
            <a:solidFill>
              <a:srgbClr val="79A96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75250" lIns="75250" spcFirstLastPara="1" rIns="75250" wrap="square" tIns="7525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98" name="Google Shape;498;p22"/>
          <p:cNvSpPr/>
          <p:nvPr/>
        </p:nvSpPr>
        <p:spPr>
          <a:xfrm>
            <a:off x="1683558" y="5806059"/>
            <a:ext cx="1249500" cy="203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00" lIns="300" spcFirstLastPara="1" rIns="300" wrap="square" tIns="3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79A96B"/>
              </a:buClr>
              <a:buSzPts val="494"/>
              <a:buFont typeface="Arial"/>
              <a:buNone/>
            </a:pPr>
            <a:r>
              <a:rPr b="1" i="0" lang="fr" sz="494" u="none" cap="none" strike="noStrike">
                <a:solidFill>
                  <a:srgbClr val="79A96B"/>
                </a:solidFill>
                <a:latin typeface="Arial"/>
                <a:ea typeface="Arial"/>
                <a:cs typeface="Arial"/>
                <a:sym typeface="Arial"/>
              </a:rPr>
              <a:t>GESTION DE LA MAIN-D’ŒUVRE</a:t>
            </a:r>
            <a:endParaRPr b="0" i="0" sz="494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99" name="Google Shape;499;p22"/>
          <p:cNvSpPr/>
          <p:nvPr/>
        </p:nvSpPr>
        <p:spPr>
          <a:xfrm>
            <a:off x="1703234" y="6171903"/>
            <a:ext cx="120600" cy="135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00" lIns="300" spcFirstLastPara="1" rIns="300" wrap="square" tIns="3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263442"/>
              </a:buClr>
              <a:buSzPts val="432"/>
              <a:buFont typeface="Arial"/>
              <a:buNone/>
            </a:pPr>
            <a:r>
              <a:rPr b="1" i="0" lang="fr" sz="432" u="none" cap="none" strike="noStrike">
                <a:solidFill>
                  <a:srgbClr val="263442"/>
                </a:solidFill>
                <a:latin typeface="Arial"/>
                <a:ea typeface="Arial"/>
                <a:cs typeface="Arial"/>
                <a:sym typeface="Arial"/>
              </a:rPr>
              <a:t>•</a:t>
            </a:r>
            <a:endParaRPr b="0" i="0" sz="432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00" name="Google Shape;500;p22"/>
          <p:cNvSpPr/>
          <p:nvPr/>
        </p:nvSpPr>
        <p:spPr>
          <a:xfrm>
            <a:off x="1834076" y="6039353"/>
            <a:ext cx="1083600" cy="158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00" lIns="300" spcFirstLastPara="1" rIns="300" wrap="square" tIns="3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63442"/>
              </a:buClr>
              <a:buSzPts val="365"/>
              <a:buFont typeface="Arial"/>
              <a:buNone/>
            </a:pPr>
            <a:r>
              <a:rPr b="0" i="0" lang="fr" sz="366" u="none" cap="none" strike="noStrike">
                <a:solidFill>
                  <a:srgbClr val="263442"/>
                </a:solidFill>
                <a:latin typeface="Arial"/>
                <a:ea typeface="Arial"/>
                <a:cs typeface="Arial"/>
                <a:sym typeface="Arial"/>
              </a:rPr>
              <a:t>Planification du personnel</a:t>
            </a:r>
            <a:endParaRPr b="0" i="0" sz="366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01" name="Google Shape;501;p22"/>
          <p:cNvSpPr/>
          <p:nvPr/>
        </p:nvSpPr>
        <p:spPr>
          <a:xfrm>
            <a:off x="1703234" y="6314890"/>
            <a:ext cx="120600" cy="135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00" lIns="300" spcFirstLastPara="1" rIns="300" wrap="square" tIns="3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263442"/>
              </a:buClr>
              <a:buSzPts val="432"/>
              <a:buFont typeface="Arial"/>
              <a:buNone/>
            </a:pPr>
            <a:r>
              <a:rPr b="1" i="0" lang="fr" sz="432" u="none" cap="none" strike="noStrike">
                <a:solidFill>
                  <a:srgbClr val="263442"/>
                </a:solidFill>
                <a:latin typeface="Arial"/>
                <a:ea typeface="Arial"/>
                <a:cs typeface="Arial"/>
                <a:sym typeface="Arial"/>
              </a:rPr>
              <a:t>•</a:t>
            </a:r>
            <a:endParaRPr b="0" i="0" sz="432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02" name="Google Shape;502;p22"/>
          <p:cNvSpPr/>
          <p:nvPr/>
        </p:nvSpPr>
        <p:spPr>
          <a:xfrm>
            <a:off x="1834076" y="6182340"/>
            <a:ext cx="1083600" cy="158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00" lIns="300" spcFirstLastPara="1" rIns="300" wrap="square" tIns="3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63442"/>
              </a:buClr>
              <a:buSzPts val="365"/>
              <a:buFont typeface="Arial"/>
              <a:buNone/>
            </a:pPr>
            <a:r>
              <a:rPr b="0" i="0" lang="fr" sz="366" u="none" cap="none" strike="noStrike">
                <a:solidFill>
                  <a:srgbClr val="263442"/>
                </a:solidFill>
                <a:latin typeface="Arial"/>
                <a:ea typeface="Arial"/>
                <a:cs typeface="Arial"/>
                <a:sym typeface="Arial"/>
              </a:rPr>
              <a:t>Suivi des performances</a:t>
            </a:r>
            <a:endParaRPr b="0" i="0" sz="366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03" name="Google Shape;503;p22"/>
          <p:cNvSpPr/>
          <p:nvPr/>
        </p:nvSpPr>
        <p:spPr>
          <a:xfrm>
            <a:off x="1703234" y="6457876"/>
            <a:ext cx="120600" cy="135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00" lIns="300" spcFirstLastPara="1" rIns="300" wrap="square" tIns="3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263442"/>
              </a:buClr>
              <a:buSzPts val="432"/>
              <a:buFont typeface="Arial"/>
              <a:buNone/>
            </a:pPr>
            <a:r>
              <a:rPr b="1" i="0" lang="fr" sz="432" u="none" cap="none" strike="noStrike">
                <a:solidFill>
                  <a:srgbClr val="263442"/>
                </a:solidFill>
                <a:latin typeface="Arial"/>
                <a:ea typeface="Arial"/>
                <a:cs typeface="Arial"/>
                <a:sym typeface="Arial"/>
              </a:rPr>
              <a:t>•</a:t>
            </a:r>
            <a:endParaRPr b="0" i="0" sz="432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04" name="Google Shape;504;p22"/>
          <p:cNvSpPr/>
          <p:nvPr/>
        </p:nvSpPr>
        <p:spPr>
          <a:xfrm>
            <a:off x="1834076" y="6325326"/>
            <a:ext cx="1083600" cy="158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00" lIns="300" spcFirstLastPara="1" rIns="300" wrap="square" tIns="3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63442"/>
              </a:buClr>
              <a:buSzPts val="365"/>
              <a:buFont typeface="Arial"/>
              <a:buNone/>
            </a:pPr>
            <a:r>
              <a:rPr b="0" i="0" lang="fr" sz="366" u="none" cap="none" strike="noStrike">
                <a:solidFill>
                  <a:srgbClr val="263442"/>
                </a:solidFill>
                <a:latin typeface="Arial"/>
                <a:ea typeface="Arial"/>
                <a:cs typeface="Arial"/>
                <a:sym typeface="Arial"/>
              </a:rPr>
              <a:t>Gestion des compétences</a:t>
            </a:r>
            <a:endParaRPr b="0" i="0" sz="366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05" name="Google Shape;505;p22"/>
          <p:cNvSpPr/>
          <p:nvPr/>
        </p:nvSpPr>
        <p:spPr>
          <a:xfrm>
            <a:off x="1703234" y="6600863"/>
            <a:ext cx="120600" cy="135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00" lIns="300" spcFirstLastPara="1" rIns="300" wrap="square" tIns="3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263442"/>
              </a:buClr>
              <a:buSzPts val="432"/>
              <a:buFont typeface="Arial"/>
              <a:buNone/>
            </a:pPr>
            <a:r>
              <a:rPr b="1" i="0" lang="fr" sz="432" u="none" cap="none" strike="noStrike">
                <a:solidFill>
                  <a:srgbClr val="263442"/>
                </a:solidFill>
                <a:latin typeface="Arial"/>
                <a:ea typeface="Arial"/>
                <a:cs typeface="Arial"/>
                <a:sym typeface="Arial"/>
              </a:rPr>
              <a:t>•</a:t>
            </a:r>
            <a:endParaRPr b="0" i="0" sz="432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06" name="Google Shape;506;p22"/>
          <p:cNvSpPr/>
          <p:nvPr/>
        </p:nvSpPr>
        <p:spPr>
          <a:xfrm>
            <a:off x="1834076" y="6468313"/>
            <a:ext cx="1083600" cy="158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00" lIns="300" spcFirstLastPara="1" rIns="300" wrap="square" tIns="3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63442"/>
              </a:buClr>
              <a:buSzPts val="365"/>
              <a:buFont typeface="Arial"/>
              <a:buNone/>
            </a:pPr>
            <a:r>
              <a:rPr b="0" i="0" lang="fr" sz="366" u="none" cap="none" strike="noStrike">
                <a:solidFill>
                  <a:srgbClr val="263442"/>
                </a:solidFill>
                <a:latin typeface="Arial"/>
                <a:ea typeface="Arial"/>
                <a:cs typeface="Arial"/>
                <a:sym typeface="Arial"/>
              </a:rPr>
              <a:t>Équilibrage de la charge</a:t>
            </a:r>
            <a:endParaRPr b="0" i="0" sz="366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07" name="Google Shape;507;p22"/>
          <p:cNvSpPr/>
          <p:nvPr/>
        </p:nvSpPr>
        <p:spPr>
          <a:xfrm>
            <a:off x="1703234" y="6743850"/>
            <a:ext cx="120600" cy="135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00" lIns="300" spcFirstLastPara="1" rIns="300" wrap="square" tIns="3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263442"/>
              </a:buClr>
              <a:buSzPts val="432"/>
              <a:buFont typeface="Arial"/>
              <a:buNone/>
            </a:pPr>
            <a:r>
              <a:rPr b="1" i="0" lang="fr" sz="432" u="none" cap="none" strike="noStrike">
                <a:solidFill>
                  <a:srgbClr val="263442"/>
                </a:solidFill>
                <a:latin typeface="Arial"/>
                <a:ea typeface="Arial"/>
                <a:cs typeface="Arial"/>
                <a:sym typeface="Arial"/>
              </a:rPr>
              <a:t>•</a:t>
            </a:r>
            <a:endParaRPr b="0" i="0" sz="432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08" name="Google Shape;508;p22"/>
          <p:cNvSpPr/>
          <p:nvPr/>
        </p:nvSpPr>
        <p:spPr>
          <a:xfrm>
            <a:off x="1834076" y="6611300"/>
            <a:ext cx="1083600" cy="158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00" lIns="300" spcFirstLastPara="1" rIns="300" wrap="square" tIns="3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63442"/>
              </a:buClr>
              <a:buSzPts val="365"/>
              <a:buFont typeface="Arial"/>
              <a:buNone/>
            </a:pPr>
            <a:r>
              <a:rPr b="0" i="0" lang="fr" sz="366" u="none" cap="none" strike="noStrike">
                <a:solidFill>
                  <a:srgbClr val="263442"/>
                </a:solidFill>
                <a:latin typeface="Arial"/>
                <a:ea typeface="Arial"/>
                <a:cs typeface="Arial"/>
                <a:sym typeface="Arial"/>
              </a:rPr>
              <a:t>Suivi de la performance</a:t>
            </a:r>
            <a:endParaRPr b="0" i="0" sz="366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09" name="Google Shape;509;p22"/>
          <p:cNvSpPr/>
          <p:nvPr/>
        </p:nvSpPr>
        <p:spPr>
          <a:xfrm>
            <a:off x="3038227" y="5753380"/>
            <a:ext cx="1369800" cy="1008300"/>
          </a:xfrm>
          <a:prstGeom prst="roundRect">
            <a:avLst>
              <a:gd fmla="val 2985" name="adj"/>
            </a:avLst>
          </a:prstGeom>
          <a:solidFill>
            <a:srgbClr val="F7FBF5"/>
          </a:solidFill>
          <a:ln cap="flat" cmpd="sng" w="7800">
            <a:solidFill>
              <a:srgbClr val="79A96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75250" lIns="75250" spcFirstLastPara="1" rIns="75250" wrap="square" tIns="7525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10" name="Google Shape;510;p22"/>
          <p:cNvSpPr/>
          <p:nvPr/>
        </p:nvSpPr>
        <p:spPr>
          <a:xfrm>
            <a:off x="3098435" y="5806059"/>
            <a:ext cx="1249500" cy="203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00" lIns="300" spcFirstLastPara="1" rIns="300" wrap="square" tIns="3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79A96B"/>
              </a:buClr>
              <a:buSzPts val="494"/>
              <a:buFont typeface="Arial"/>
              <a:buNone/>
            </a:pPr>
            <a:r>
              <a:rPr b="1" i="0" lang="fr" sz="494" u="none" cap="none" strike="noStrike">
                <a:solidFill>
                  <a:srgbClr val="79A96B"/>
                </a:solidFill>
                <a:latin typeface="Arial"/>
                <a:ea typeface="Arial"/>
                <a:cs typeface="Arial"/>
                <a:sym typeface="Arial"/>
              </a:rPr>
              <a:t>GESTION DES ÉQUIPEMENTS</a:t>
            </a:r>
            <a:endParaRPr b="0" i="0" sz="494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11" name="Google Shape;511;p22"/>
          <p:cNvSpPr/>
          <p:nvPr/>
        </p:nvSpPr>
        <p:spPr>
          <a:xfrm>
            <a:off x="3113487" y="6039353"/>
            <a:ext cx="120600" cy="135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00" lIns="300" spcFirstLastPara="1" rIns="300" wrap="square" tIns="3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263442"/>
              </a:buClr>
              <a:buSzPts val="432"/>
              <a:buFont typeface="Arial"/>
              <a:buNone/>
            </a:pPr>
            <a:r>
              <a:rPr b="1" i="0" lang="fr" sz="432" u="none" cap="none" strike="noStrike">
                <a:solidFill>
                  <a:srgbClr val="263442"/>
                </a:solidFill>
                <a:latin typeface="Arial"/>
                <a:ea typeface="Arial"/>
                <a:cs typeface="Arial"/>
                <a:sym typeface="Arial"/>
              </a:rPr>
              <a:t>•</a:t>
            </a:r>
            <a:endParaRPr b="0" i="0" sz="432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12" name="Google Shape;512;p22"/>
          <p:cNvSpPr/>
          <p:nvPr/>
        </p:nvSpPr>
        <p:spPr>
          <a:xfrm>
            <a:off x="3248954" y="6039353"/>
            <a:ext cx="1083600" cy="158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00" lIns="300" spcFirstLastPara="1" rIns="300" wrap="square" tIns="3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63442"/>
              </a:buClr>
              <a:buSzPts val="365"/>
              <a:buFont typeface="Arial"/>
              <a:buNone/>
            </a:pPr>
            <a:r>
              <a:rPr b="0" i="0" lang="fr" sz="366" u="none" cap="none" strike="noStrike">
                <a:solidFill>
                  <a:srgbClr val="263442"/>
                </a:solidFill>
                <a:latin typeface="Arial"/>
                <a:ea typeface="Arial"/>
                <a:cs typeface="Arial"/>
                <a:sym typeface="Arial"/>
              </a:rPr>
              <a:t>Chariots / Transpalettes</a:t>
            </a:r>
            <a:endParaRPr b="0" i="0" sz="366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13" name="Google Shape;513;p22"/>
          <p:cNvSpPr/>
          <p:nvPr/>
        </p:nvSpPr>
        <p:spPr>
          <a:xfrm>
            <a:off x="3113487" y="6182340"/>
            <a:ext cx="120600" cy="135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00" lIns="300" spcFirstLastPara="1" rIns="300" wrap="square" tIns="3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263442"/>
              </a:buClr>
              <a:buSzPts val="432"/>
              <a:buFont typeface="Arial"/>
              <a:buNone/>
            </a:pPr>
            <a:r>
              <a:rPr b="1" i="0" lang="fr" sz="432" u="none" cap="none" strike="noStrike">
                <a:solidFill>
                  <a:srgbClr val="263442"/>
                </a:solidFill>
                <a:latin typeface="Arial"/>
                <a:ea typeface="Arial"/>
                <a:cs typeface="Arial"/>
                <a:sym typeface="Arial"/>
              </a:rPr>
              <a:t>•</a:t>
            </a:r>
            <a:endParaRPr b="0" i="0" sz="432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14" name="Google Shape;514;p22"/>
          <p:cNvSpPr/>
          <p:nvPr/>
        </p:nvSpPr>
        <p:spPr>
          <a:xfrm>
            <a:off x="3248954" y="6182340"/>
            <a:ext cx="1083600" cy="158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00" lIns="300" spcFirstLastPara="1" rIns="300" wrap="square" tIns="3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63442"/>
              </a:buClr>
              <a:buSzPts val="365"/>
              <a:buFont typeface="Arial"/>
              <a:buNone/>
            </a:pPr>
            <a:r>
              <a:rPr b="0" i="0" lang="fr" sz="366" u="none" cap="none" strike="noStrike">
                <a:solidFill>
                  <a:srgbClr val="263442"/>
                </a:solidFill>
                <a:latin typeface="Arial"/>
                <a:ea typeface="Arial"/>
                <a:cs typeface="Arial"/>
                <a:sym typeface="Arial"/>
              </a:rPr>
              <a:t>Convoyeurs / Trieurs</a:t>
            </a:r>
            <a:endParaRPr b="0" i="0" sz="366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15" name="Google Shape;515;p22"/>
          <p:cNvSpPr/>
          <p:nvPr/>
        </p:nvSpPr>
        <p:spPr>
          <a:xfrm>
            <a:off x="3113487" y="6325326"/>
            <a:ext cx="120600" cy="135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00" lIns="300" spcFirstLastPara="1" rIns="300" wrap="square" tIns="3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263442"/>
              </a:buClr>
              <a:buSzPts val="432"/>
              <a:buFont typeface="Arial"/>
              <a:buNone/>
            </a:pPr>
            <a:r>
              <a:rPr b="1" i="0" lang="fr" sz="432" u="none" cap="none" strike="noStrike">
                <a:solidFill>
                  <a:srgbClr val="263442"/>
                </a:solidFill>
                <a:latin typeface="Arial"/>
                <a:ea typeface="Arial"/>
                <a:cs typeface="Arial"/>
                <a:sym typeface="Arial"/>
              </a:rPr>
              <a:t>•</a:t>
            </a:r>
            <a:endParaRPr b="0" i="0" sz="432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16" name="Google Shape;516;p22"/>
          <p:cNvSpPr/>
          <p:nvPr/>
        </p:nvSpPr>
        <p:spPr>
          <a:xfrm>
            <a:off x="3248954" y="6325326"/>
            <a:ext cx="1083600" cy="158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00" lIns="300" spcFirstLastPara="1" rIns="300" wrap="square" tIns="3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63442"/>
              </a:buClr>
              <a:buSzPts val="365"/>
              <a:buFont typeface="Arial"/>
              <a:buNone/>
            </a:pPr>
            <a:r>
              <a:rPr b="0" i="0" lang="fr" sz="366" u="none" cap="none" strike="noStrike">
                <a:solidFill>
                  <a:srgbClr val="263442"/>
                </a:solidFill>
                <a:latin typeface="Arial"/>
                <a:ea typeface="Arial"/>
                <a:cs typeface="Arial"/>
                <a:sym typeface="Arial"/>
              </a:rPr>
              <a:t>AS/RS / Shuttle</a:t>
            </a:r>
            <a:endParaRPr b="0" i="0" sz="366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17" name="Google Shape;517;p22"/>
          <p:cNvSpPr/>
          <p:nvPr/>
        </p:nvSpPr>
        <p:spPr>
          <a:xfrm>
            <a:off x="3113487" y="6468313"/>
            <a:ext cx="120600" cy="135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00" lIns="300" spcFirstLastPara="1" rIns="300" wrap="square" tIns="3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263442"/>
              </a:buClr>
              <a:buSzPts val="432"/>
              <a:buFont typeface="Arial"/>
              <a:buNone/>
            </a:pPr>
            <a:r>
              <a:rPr b="1" i="0" lang="fr" sz="432" u="none" cap="none" strike="noStrike">
                <a:solidFill>
                  <a:srgbClr val="263442"/>
                </a:solidFill>
                <a:latin typeface="Arial"/>
                <a:ea typeface="Arial"/>
                <a:cs typeface="Arial"/>
                <a:sym typeface="Arial"/>
              </a:rPr>
              <a:t>•</a:t>
            </a:r>
            <a:endParaRPr b="0" i="0" sz="432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18" name="Google Shape;518;p22"/>
          <p:cNvSpPr/>
          <p:nvPr/>
        </p:nvSpPr>
        <p:spPr>
          <a:xfrm>
            <a:off x="3248954" y="6468313"/>
            <a:ext cx="1083600" cy="158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00" lIns="300" spcFirstLastPara="1" rIns="300" wrap="square" tIns="3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63442"/>
              </a:buClr>
              <a:buSzPts val="365"/>
              <a:buFont typeface="Arial"/>
              <a:buNone/>
            </a:pPr>
            <a:r>
              <a:rPr b="0" i="0" lang="fr" sz="366" u="none" cap="none" strike="noStrike">
                <a:solidFill>
                  <a:srgbClr val="263442"/>
                </a:solidFill>
                <a:latin typeface="Arial"/>
                <a:ea typeface="Arial"/>
                <a:cs typeface="Arial"/>
                <a:sym typeface="Arial"/>
              </a:rPr>
              <a:t>AMR / AGV / Robots</a:t>
            </a:r>
            <a:endParaRPr b="0" i="0" sz="366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19" name="Google Shape;519;p22"/>
          <p:cNvSpPr/>
          <p:nvPr/>
        </p:nvSpPr>
        <p:spPr>
          <a:xfrm>
            <a:off x="3113487" y="6611300"/>
            <a:ext cx="120600" cy="135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00" lIns="300" spcFirstLastPara="1" rIns="300" wrap="square" tIns="3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263442"/>
              </a:buClr>
              <a:buSzPts val="432"/>
              <a:buFont typeface="Arial"/>
              <a:buNone/>
            </a:pPr>
            <a:r>
              <a:rPr b="1" i="0" lang="fr" sz="432" u="none" cap="none" strike="noStrike">
                <a:solidFill>
                  <a:srgbClr val="263442"/>
                </a:solidFill>
                <a:latin typeface="Arial"/>
                <a:ea typeface="Arial"/>
                <a:cs typeface="Arial"/>
                <a:sym typeface="Arial"/>
              </a:rPr>
              <a:t>•</a:t>
            </a:r>
            <a:endParaRPr b="0" i="0" sz="432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20" name="Google Shape;520;p22"/>
          <p:cNvSpPr/>
          <p:nvPr/>
        </p:nvSpPr>
        <p:spPr>
          <a:xfrm>
            <a:off x="3248954" y="6611300"/>
            <a:ext cx="1083600" cy="158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00" lIns="300" spcFirstLastPara="1" rIns="300" wrap="square" tIns="3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63442"/>
              </a:buClr>
              <a:buSzPts val="365"/>
              <a:buFont typeface="Arial"/>
              <a:buNone/>
            </a:pPr>
            <a:r>
              <a:rPr b="0" i="0" lang="fr" sz="366" u="none" cap="none" strike="noStrike">
                <a:solidFill>
                  <a:srgbClr val="263442"/>
                </a:solidFill>
                <a:latin typeface="Arial"/>
                <a:ea typeface="Arial"/>
                <a:cs typeface="Arial"/>
                <a:sym typeface="Arial"/>
              </a:rPr>
              <a:t>Maintenance</a:t>
            </a:r>
            <a:endParaRPr b="0" i="0" sz="366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21" name="Google Shape;521;p22"/>
          <p:cNvSpPr/>
          <p:nvPr/>
        </p:nvSpPr>
        <p:spPr>
          <a:xfrm>
            <a:off x="5890114" y="5758359"/>
            <a:ext cx="1369800" cy="1061400"/>
          </a:xfrm>
          <a:prstGeom prst="roundRect">
            <a:avLst>
              <a:gd fmla="val 2985" name="adj"/>
            </a:avLst>
          </a:prstGeom>
          <a:solidFill>
            <a:srgbClr val="F7FBF5"/>
          </a:solidFill>
          <a:ln cap="flat" cmpd="sng" w="7800">
            <a:solidFill>
              <a:srgbClr val="79A96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75250" lIns="75250" spcFirstLastPara="1" rIns="75250" wrap="square" tIns="7525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22" name="Google Shape;522;p22"/>
          <p:cNvSpPr/>
          <p:nvPr/>
        </p:nvSpPr>
        <p:spPr>
          <a:xfrm>
            <a:off x="5950312" y="5811034"/>
            <a:ext cx="1249500" cy="203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00" lIns="300" spcFirstLastPara="1" rIns="300" wrap="square" tIns="3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79A96B"/>
              </a:buClr>
              <a:buSzPts val="494"/>
              <a:buFont typeface="Arial"/>
              <a:buNone/>
            </a:pPr>
            <a:r>
              <a:rPr b="1" i="0" lang="fr" sz="494" u="none" cap="none" strike="noStrike">
                <a:solidFill>
                  <a:srgbClr val="79A96B"/>
                </a:solidFill>
                <a:latin typeface="Arial"/>
                <a:ea typeface="Arial"/>
                <a:cs typeface="Arial"/>
                <a:sym typeface="Arial"/>
              </a:rPr>
              <a:t>INTERFACES WCS / WES</a:t>
            </a:r>
            <a:endParaRPr b="0" i="0" sz="494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23" name="Google Shape;523;p22"/>
          <p:cNvSpPr/>
          <p:nvPr/>
        </p:nvSpPr>
        <p:spPr>
          <a:xfrm>
            <a:off x="5845064" y="6044316"/>
            <a:ext cx="120600" cy="135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00" lIns="300" spcFirstLastPara="1" rIns="300" wrap="square" tIns="3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263442"/>
              </a:buClr>
              <a:buSzPts val="416"/>
              <a:buFont typeface="Arial"/>
              <a:buNone/>
            </a:pPr>
            <a:r>
              <a:rPr b="1" i="0" lang="fr" sz="416" u="none" cap="none" strike="noStrike">
                <a:solidFill>
                  <a:srgbClr val="263442"/>
                </a:solidFill>
                <a:latin typeface="Arial"/>
                <a:ea typeface="Arial"/>
                <a:cs typeface="Arial"/>
                <a:sym typeface="Arial"/>
              </a:rPr>
              <a:t>•</a:t>
            </a:r>
            <a:endParaRPr b="0" i="0" sz="416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24" name="Google Shape;524;p22"/>
          <p:cNvSpPr/>
          <p:nvPr/>
        </p:nvSpPr>
        <p:spPr>
          <a:xfrm>
            <a:off x="6100831" y="6044328"/>
            <a:ext cx="1083600" cy="158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00" lIns="300" spcFirstLastPara="1" rIns="300" wrap="square" tIns="3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63442"/>
              </a:buClr>
              <a:buSzPts val="350"/>
              <a:buFont typeface="Arial"/>
              <a:buNone/>
            </a:pPr>
            <a:r>
              <a:rPr b="0" i="0" lang="fr" sz="350" u="none" cap="none" strike="noStrike">
                <a:solidFill>
                  <a:srgbClr val="263442"/>
                </a:solidFill>
                <a:latin typeface="Arial"/>
                <a:ea typeface="Arial"/>
                <a:cs typeface="Arial"/>
                <a:sym typeface="Arial"/>
              </a:rPr>
              <a:t>Instructions aux équipements</a:t>
            </a:r>
            <a:endParaRPr b="0" i="0" sz="35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25" name="Google Shape;525;p22"/>
          <p:cNvSpPr/>
          <p:nvPr/>
        </p:nvSpPr>
        <p:spPr>
          <a:xfrm>
            <a:off x="5845064" y="6172251"/>
            <a:ext cx="120600" cy="135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00" lIns="300" spcFirstLastPara="1" rIns="300" wrap="square" tIns="3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263442"/>
              </a:buClr>
              <a:buSzPts val="416"/>
              <a:buFont typeface="Arial"/>
              <a:buNone/>
            </a:pPr>
            <a:r>
              <a:rPr b="1" i="0" lang="fr" sz="416" u="none" cap="none" strike="noStrike">
                <a:solidFill>
                  <a:srgbClr val="263442"/>
                </a:solidFill>
                <a:latin typeface="Arial"/>
                <a:ea typeface="Arial"/>
                <a:cs typeface="Arial"/>
                <a:sym typeface="Arial"/>
              </a:rPr>
              <a:t>•</a:t>
            </a:r>
            <a:endParaRPr b="0" i="0" sz="416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26" name="Google Shape;526;p22"/>
          <p:cNvSpPr/>
          <p:nvPr/>
        </p:nvSpPr>
        <p:spPr>
          <a:xfrm>
            <a:off x="6100831" y="6172264"/>
            <a:ext cx="1083600" cy="158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00" lIns="300" spcFirstLastPara="1" rIns="300" wrap="square" tIns="3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63442"/>
              </a:buClr>
              <a:buSzPts val="350"/>
              <a:buFont typeface="Arial"/>
              <a:buNone/>
            </a:pPr>
            <a:r>
              <a:rPr b="0" i="0" lang="fr" sz="350" u="none" cap="none" strike="noStrike">
                <a:solidFill>
                  <a:srgbClr val="263442"/>
                </a:solidFill>
                <a:latin typeface="Arial"/>
                <a:ea typeface="Arial"/>
                <a:cs typeface="Arial"/>
                <a:sym typeface="Arial"/>
              </a:rPr>
              <a:t>État des équipements</a:t>
            </a:r>
            <a:endParaRPr b="0" i="0" sz="35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27" name="Google Shape;527;p22"/>
          <p:cNvSpPr/>
          <p:nvPr/>
        </p:nvSpPr>
        <p:spPr>
          <a:xfrm>
            <a:off x="5845064" y="6300187"/>
            <a:ext cx="120600" cy="135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00" lIns="300" spcFirstLastPara="1" rIns="300" wrap="square" tIns="3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263442"/>
              </a:buClr>
              <a:buSzPts val="416"/>
              <a:buFont typeface="Arial"/>
              <a:buNone/>
            </a:pPr>
            <a:r>
              <a:rPr b="1" i="0" lang="fr" sz="416" u="none" cap="none" strike="noStrike">
                <a:solidFill>
                  <a:srgbClr val="263442"/>
                </a:solidFill>
                <a:latin typeface="Arial"/>
                <a:ea typeface="Arial"/>
                <a:cs typeface="Arial"/>
                <a:sym typeface="Arial"/>
              </a:rPr>
              <a:t>•</a:t>
            </a:r>
            <a:endParaRPr b="0" i="0" sz="416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28" name="Google Shape;528;p22"/>
          <p:cNvSpPr/>
          <p:nvPr/>
        </p:nvSpPr>
        <p:spPr>
          <a:xfrm>
            <a:off x="6100831" y="6300199"/>
            <a:ext cx="1083600" cy="158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00" lIns="300" spcFirstLastPara="1" rIns="300" wrap="square" tIns="3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63442"/>
              </a:buClr>
              <a:buSzPts val="350"/>
              <a:buFont typeface="Arial"/>
              <a:buNone/>
            </a:pPr>
            <a:r>
              <a:rPr b="0" i="0" lang="fr" sz="350" u="none" cap="none" strike="noStrike">
                <a:solidFill>
                  <a:srgbClr val="263442"/>
                </a:solidFill>
                <a:latin typeface="Arial"/>
                <a:ea typeface="Arial"/>
                <a:cs typeface="Arial"/>
                <a:sym typeface="Arial"/>
              </a:rPr>
              <a:t>Gestion des erreurs</a:t>
            </a:r>
            <a:endParaRPr b="0" i="0" sz="35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29" name="Google Shape;529;p22"/>
          <p:cNvSpPr/>
          <p:nvPr/>
        </p:nvSpPr>
        <p:spPr>
          <a:xfrm>
            <a:off x="5845064" y="6428122"/>
            <a:ext cx="120600" cy="135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00" lIns="300" spcFirstLastPara="1" rIns="300" wrap="square" tIns="3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263442"/>
              </a:buClr>
              <a:buSzPts val="416"/>
              <a:buFont typeface="Arial"/>
              <a:buNone/>
            </a:pPr>
            <a:r>
              <a:rPr b="1" i="0" lang="fr" sz="416" u="none" cap="none" strike="noStrike">
                <a:solidFill>
                  <a:srgbClr val="263442"/>
                </a:solidFill>
                <a:latin typeface="Arial"/>
                <a:ea typeface="Arial"/>
                <a:cs typeface="Arial"/>
                <a:sym typeface="Arial"/>
              </a:rPr>
              <a:t>•</a:t>
            </a:r>
            <a:endParaRPr b="0" i="0" sz="416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30" name="Google Shape;530;p22"/>
          <p:cNvSpPr/>
          <p:nvPr/>
        </p:nvSpPr>
        <p:spPr>
          <a:xfrm>
            <a:off x="6100831" y="6428134"/>
            <a:ext cx="1083600" cy="158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00" lIns="300" spcFirstLastPara="1" rIns="300" wrap="square" tIns="3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63442"/>
              </a:buClr>
              <a:buSzPts val="350"/>
              <a:buFont typeface="Arial"/>
              <a:buNone/>
            </a:pPr>
            <a:r>
              <a:rPr b="0" i="0" lang="fr" sz="350" u="none" cap="none" strike="noStrike">
                <a:solidFill>
                  <a:srgbClr val="263442"/>
                </a:solidFill>
                <a:latin typeface="Arial"/>
                <a:ea typeface="Arial"/>
                <a:cs typeface="Arial"/>
                <a:sym typeface="Arial"/>
              </a:rPr>
              <a:t>Contrôle des itinéraires</a:t>
            </a:r>
            <a:endParaRPr b="0" i="0" sz="35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31" name="Google Shape;531;p22"/>
          <p:cNvSpPr/>
          <p:nvPr/>
        </p:nvSpPr>
        <p:spPr>
          <a:xfrm>
            <a:off x="5845064" y="6556057"/>
            <a:ext cx="120600" cy="135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00" lIns="300" spcFirstLastPara="1" rIns="300" wrap="square" tIns="3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263442"/>
              </a:buClr>
              <a:buSzPts val="416"/>
              <a:buFont typeface="Arial"/>
              <a:buNone/>
            </a:pPr>
            <a:r>
              <a:rPr b="1" i="0" lang="fr" sz="416" u="none" cap="none" strike="noStrike">
                <a:solidFill>
                  <a:srgbClr val="263442"/>
                </a:solidFill>
                <a:latin typeface="Arial"/>
                <a:ea typeface="Arial"/>
                <a:cs typeface="Arial"/>
                <a:sym typeface="Arial"/>
              </a:rPr>
              <a:t>•</a:t>
            </a:r>
            <a:endParaRPr b="0" i="0" sz="416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32" name="Google Shape;532;p22"/>
          <p:cNvSpPr/>
          <p:nvPr/>
        </p:nvSpPr>
        <p:spPr>
          <a:xfrm>
            <a:off x="6100831" y="6556070"/>
            <a:ext cx="1083600" cy="158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00" lIns="300" spcFirstLastPara="1" rIns="300" wrap="square" tIns="3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63442"/>
              </a:buClr>
              <a:buSzPts val="350"/>
              <a:buFont typeface="Arial"/>
              <a:buNone/>
            </a:pPr>
            <a:r>
              <a:rPr b="0" i="0" lang="fr" sz="350" u="none" cap="none" strike="noStrike">
                <a:solidFill>
                  <a:srgbClr val="263442"/>
                </a:solidFill>
                <a:latin typeface="Arial"/>
                <a:ea typeface="Arial"/>
                <a:cs typeface="Arial"/>
                <a:sym typeface="Arial"/>
              </a:rPr>
              <a:t>Gestion du trafic</a:t>
            </a:r>
            <a:endParaRPr b="0" i="0" sz="35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33" name="Google Shape;533;p22"/>
          <p:cNvSpPr/>
          <p:nvPr/>
        </p:nvSpPr>
        <p:spPr>
          <a:xfrm>
            <a:off x="6100831" y="6684005"/>
            <a:ext cx="1083600" cy="158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00" lIns="300" spcFirstLastPara="1" rIns="300" wrap="square" tIns="3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63442"/>
              </a:buClr>
              <a:buSzPts val="350"/>
              <a:buFont typeface="Arial"/>
              <a:buNone/>
            </a:pPr>
            <a:r>
              <a:rPr b="0" i="0" lang="fr" sz="350" u="none" cap="none" strike="noStrike">
                <a:solidFill>
                  <a:srgbClr val="263442"/>
                </a:solidFill>
                <a:latin typeface="Arial"/>
                <a:ea typeface="Arial"/>
                <a:cs typeface="Arial"/>
                <a:sym typeface="Arial"/>
              </a:rPr>
              <a:t>Gestion des tâches</a:t>
            </a:r>
            <a:endParaRPr b="0" i="0" sz="35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34" name="Google Shape;534;p22"/>
          <p:cNvSpPr/>
          <p:nvPr/>
        </p:nvSpPr>
        <p:spPr>
          <a:xfrm>
            <a:off x="7339744" y="5771034"/>
            <a:ext cx="1113900" cy="1008300"/>
          </a:xfrm>
          <a:prstGeom prst="roundRect">
            <a:avLst>
              <a:gd fmla="val 2985" name="adj"/>
            </a:avLst>
          </a:prstGeom>
          <a:solidFill>
            <a:srgbClr val="F7FBF5"/>
          </a:solidFill>
          <a:ln cap="flat" cmpd="sng" w="7800">
            <a:solidFill>
              <a:srgbClr val="79A96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75250" lIns="75250" spcFirstLastPara="1" rIns="75250" wrap="square" tIns="7525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35" name="Google Shape;535;p22"/>
          <p:cNvSpPr/>
          <p:nvPr/>
        </p:nvSpPr>
        <p:spPr>
          <a:xfrm>
            <a:off x="7399785" y="5792701"/>
            <a:ext cx="993600" cy="113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00" lIns="300" spcFirstLastPara="1" rIns="300" wrap="square" tIns="3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79A96B"/>
              </a:buClr>
              <a:buSzPts val="494"/>
              <a:buFont typeface="Arial"/>
              <a:buNone/>
            </a:pPr>
            <a:r>
              <a:rPr b="1" i="0" lang="fr" sz="494" u="none" cap="none" strike="noStrike">
                <a:solidFill>
                  <a:srgbClr val="79A96B"/>
                </a:solidFill>
                <a:latin typeface="Arial"/>
                <a:ea typeface="Arial"/>
                <a:cs typeface="Arial"/>
                <a:sym typeface="Arial"/>
              </a:rPr>
              <a:t>GESTION DES ACTIFS</a:t>
            </a:r>
            <a:endParaRPr b="0" i="0" sz="494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36" name="Google Shape;536;p22"/>
          <p:cNvSpPr/>
          <p:nvPr/>
        </p:nvSpPr>
        <p:spPr>
          <a:xfrm>
            <a:off x="155553" y="7141559"/>
            <a:ext cx="1417200" cy="1243500"/>
          </a:xfrm>
          <a:prstGeom prst="roundRect">
            <a:avLst>
              <a:gd fmla="val 2941" name="adj"/>
            </a:avLst>
          </a:prstGeom>
          <a:solidFill>
            <a:srgbClr val="FFFFFF"/>
          </a:solidFill>
          <a:ln cap="flat" cmpd="sng" w="9525">
            <a:solidFill>
              <a:srgbClr val="8660A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37" name="Google Shape;537;p22"/>
          <p:cNvSpPr/>
          <p:nvPr/>
        </p:nvSpPr>
        <p:spPr>
          <a:xfrm>
            <a:off x="265281" y="7232999"/>
            <a:ext cx="1197900" cy="347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75" lIns="375" spcFirstLastPara="1" rIns="375" wrap="square" tIns="37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8660A7"/>
              </a:buClr>
              <a:buSzPts val="900"/>
              <a:buFont typeface="Arial"/>
              <a:buNone/>
            </a:pPr>
            <a:r>
              <a:rPr b="1" i="0" lang="fr" sz="900" u="none" cap="none" strike="noStrike">
                <a:solidFill>
                  <a:srgbClr val="8660A7"/>
                </a:solidFill>
                <a:latin typeface="Arial"/>
                <a:ea typeface="Arial"/>
                <a:cs typeface="Arial"/>
                <a:sym typeface="Arial"/>
              </a:rPr>
              <a:t>INTELLIGENCE &amp;</a:t>
            </a:r>
            <a:endParaRPr b="0" i="0" sz="9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8660A7"/>
              </a:buClr>
              <a:buSzPts val="900"/>
              <a:buFont typeface="Arial"/>
              <a:buNone/>
            </a:pPr>
            <a:r>
              <a:rPr b="1" i="0" lang="fr" sz="900" u="none" cap="none" strike="noStrike">
                <a:solidFill>
                  <a:srgbClr val="8660A7"/>
                </a:solidFill>
                <a:latin typeface="Arial"/>
                <a:ea typeface="Arial"/>
                <a:cs typeface="Arial"/>
                <a:sym typeface="Arial"/>
              </a:rPr>
              <a:t>AIDE À LA DÉCISION</a:t>
            </a:r>
            <a:endParaRPr b="0" i="0" sz="9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38" name="Google Shape;538;p22"/>
          <p:cNvSpPr/>
          <p:nvPr/>
        </p:nvSpPr>
        <p:spPr>
          <a:xfrm>
            <a:off x="265281" y="7662767"/>
            <a:ext cx="1197900" cy="630900"/>
          </a:xfrm>
          <a:prstGeom prst="rect">
            <a:avLst/>
          </a:prstGeom>
          <a:noFill/>
          <a:ln>
            <a:noFill/>
          </a:ln>
        </p:spPr>
        <p:txBody>
          <a:bodyPr anchorCtr="0" anchor="t" bIns="375" lIns="375" spcFirstLastPara="1" rIns="375" wrap="square" tIns="37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73A63"/>
              </a:buClr>
              <a:buSzPts val="710"/>
              <a:buFont typeface="Arial"/>
              <a:buNone/>
            </a:pPr>
            <a:r>
              <a:rPr b="0" i="0" lang="fr" sz="710" u="none" cap="none" strike="noStrike">
                <a:solidFill>
                  <a:srgbClr val="173A63"/>
                </a:solidFill>
                <a:latin typeface="Arial"/>
                <a:ea typeface="Arial"/>
                <a:cs typeface="Arial"/>
                <a:sym typeface="Arial"/>
              </a:rPr>
              <a:t>Analyser, prédire, optimiser, décider</a:t>
            </a:r>
            <a:endParaRPr b="0" i="0" sz="71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39" name="Google Shape;539;p22"/>
          <p:cNvSpPr/>
          <p:nvPr/>
        </p:nvSpPr>
        <p:spPr>
          <a:xfrm>
            <a:off x="1655175" y="7141550"/>
            <a:ext cx="1216200" cy="1170300"/>
          </a:xfrm>
          <a:prstGeom prst="roundRect">
            <a:avLst>
              <a:gd fmla="val 3279" name="adj"/>
            </a:avLst>
          </a:prstGeom>
          <a:solidFill>
            <a:srgbClr val="FBF8FD"/>
          </a:solidFill>
          <a:ln cap="flat" cmpd="sng" w="9525">
            <a:solidFill>
              <a:srgbClr val="8660A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40" name="Google Shape;540;p22"/>
          <p:cNvSpPr/>
          <p:nvPr/>
        </p:nvSpPr>
        <p:spPr>
          <a:xfrm>
            <a:off x="1728321" y="7205567"/>
            <a:ext cx="1069800" cy="246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75" lIns="375" spcFirstLastPara="1" rIns="375" wrap="square" tIns="3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8660A7"/>
              </a:buClr>
              <a:buSzPts val="600"/>
              <a:buFont typeface="Arial"/>
              <a:buNone/>
            </a:pPr>
            <a:r>
              <a:rPr b="1" i="0" lang="fr" sz="600" u="none" cap="none" strike="noStrike">
                <a:solidFill>
                  <a:srgbClr val="8660A7"/>
                </a:solidFill>
                <a:latin typeface="Arial"/>
                <a:ea typeface="Arial"/>
                <a:cs typeface="Arial"/>
                <a:sym typeface="Arial"/>
              </a:rPr>
              <a:t>PRÉVISION DE LA DEMANDE</a:t>
            </a:r>
            <a:endParaRPr b="0" i="0" sz="6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8660A7"/>
              </a:buClr>
              <a:buSzPts val="600"/>
              <a:buFont typeface="Arial"/>
              <a:buNone/>
            </a:pPr>
            <a:r>
              <a:rPr b="1" i="0" lang="fr" sz="600" u="none" cap="none" strike="noStrike">
                <a:solidFill>
                  <a:srgbClr val="8660A7"/>
                </a:solidFill>
                <a:latin typeface="Arial"/>
                <a:ea typeface="Arial"/>
                <a:cs typeface="Arial"/>
                <a:sym typeface="Arial"/>
              </a:rPr>
              <a:t>&amp; DE LA CHARGE</a:t>
            </a:r>
            <a:endParaRPr b="0" i="0" sz="6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41" name="Google Shape;541;p22"/>
          <p:cNvSpPr/>
          <p:nvPr/>
        </p:nvSpPr>
        <p:spPr>
          <a:xfrm>
            <a:off x="1746609" y="7489031"/>
            <a:ext cx="146400" cy="164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75" lIns="375" spcFirstLastPara="1" rIns="375" wrap="square" tIns="3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263442"/>
              </a:buClr>
              <a:buSzPts val="560"/>
              <a:buFont typeface="Arial"/>
              <a:buNone/>
            </a:pPr>
            <a:r>
              <a:rPr b="1" i="0" lang="fr" sz="560" u="none" cap="none" strike="noStrike">
                <a:solidFill>
                  <a:srgbClr val="263442"/>
                </a:solidFill>
                <a:latin typeface="Arial"/>
                <a:ea typeface="Arial"/>
                <a:cs typeface="Arial"/>
                <a:sym typeface="Arial"/>
              </a:rPr>
              <a:t>•</a:t>
            </a:r>
            <a:endParaRPr b="0" i="0" sz="56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42" name="Google Shape;542;p22"/>
          <p:cNvSpPr/>
          <p:nvPr/>
        </p:nvSpPr>
        <p:spPr>
          <a:xfrm>
            <a:off x="1911201" y="7489031"/>
            <a:ext cx="868800" cy="192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75" lIns="375" spcFirstLastPara="1" rIns="375" wrap="square" tIns="37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63442"/>
              </a:buClr>
              <a:buSzPts val="480"/>
              <a:buFont typeface="Arial"/>
              <a:buNone/>
            </a:pPr>
            <a:r>
              <a:rPr b="0" i="0" lang="fr" sz="480" u="none" cap="none" strike="noStrike">
                <a:solidFill>
                  <a:srgbClr val="263442"/>
                </a:solidFill>
                <a:latin typeface="Arial"/>
                <a:ea typeface="Arial"/>
                <a:cs typeface="Arial"/>
                <a:sym typeface="Arial"/>
              </a:rPr>
              <a:t>Prévisions des inbound</a:t>
            </a:r>
            <a:endParaRPr b="0" i="0" sz="48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43" name="Google Shape;543;p22"/>
          <p:cNvSpPr/>
          <p:nvPr/>
        </p:nvSpPr>
        <p:spPr>
          <a:xfrm>
            <a:off x="1746609" y="7735919"/>
            <a:ext cx="146400" cy="164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75" lIns="375" spcFirstLastPara="1" rIns="375" wrap="square" tIns="3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263442"/>
              </a:buClr>
              <a:buSzPts val="560"/>
              <a:buFont typeface="Arial"/>
              <a:buNone/>
            </a:pPr>
            <a:r>
              <a:rPr b="1" i="0" lang="fr" sz="560" u="none" cap="none" strike="noStrike">
                <a:solidFill>
                  <a:srgbClr val="263442"/>
                </a:solidFill>
                <a:latin typeface="Arial"/>
                <a:ea typeface="Arial"/>
                <a:cs typeface="Arial"/>
                <a:sym typeface="Arial"/>
              </a:rPr>
              <a:t>•</a:t>
            </a:r>
            <a:endParaRPr b="0" i="0" sz="56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44" name="Google Shape;544;p22"/>
          <p:cNvSpPr/>
          <p:nvPr/>
        </p:nvSpPr>
        <p:spPr>
          <a:xfrm>
            <a:off x="1911201" y="7735919"/>
            <a:ext cx="868800" cy="192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75" lIns="375" spcFirstLastPara="1" rIns="375" wrap="square" tIns="37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63442"/>
              </a:buClr>
              <a:buSzPts val="480"/>
              <a:buFont typeface="Arial"/>
              <a:buNone/>
            </a:pPr>
            <a:r>
              <a:rPr b="0" i="0" lang="fr" sz="480" u="none" cap="none" strike="noStrike">
                <a:solidFill>
                  <a:srgbClr val="263442"/>
                </a:solidFill>
                <a:latin typeface="Arial"/>
                <a:ea typeface="Arial"/>
                <a:cs typeface="Arial"/>
                <a:sym typeface="Arial"/>
              </a:rPr>
              <a:t>Prévisions des outbound</a:t>
            </a:r>
            <a:endParaRPr b="0" i="0" sz="48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45" name="Google Shape;545;p22"/>
          <p:cNvSpPr/>
          <p:nvPr/>
        </p:nvSpPr>
        <p:spPr>
          <a:xfrm>
            <a:off x="1746609" y="7982807"/>
            <a:ext cx="146400" cy="164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75" lIns="375" spcFirstLastPara="1" rIns="375" wrap="square" tIns="3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263442"/>
              </a:buClr>
              <a:buSzPts val="560"/>
              <a:buFont typeface="Arial"/>
              <a:buNone/>
            </a:pPr>
            <a:r>
              <a:rPr b="1" i="0" lang="fr" sz="560" u="none" cap="none" strike="noStrike">
                <a:solidFill>
                  <a:srgbClr val="263442"/>
                </a:solidFill>
                <a:latin typeface="Arial"/>
                <a:ea typeface="Arial"/>
                <a:cs typeface="Arial"/>
                <a:sym typeface="Arial"/>
              </a:rPr>
              <a:t>•</a:t>
            </a:r>
            <a:endParaRPr b="0" i="0" sz="56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46" name="Google Shape;546;p22"/>
          <p:cNvSpPr/>
          <p:nvPr/>
        </p:nvSpPr>
        <p:spPr>
          <a:xfrm>
            <a:off x="1911201" y="7982807"/>
            <a:ext cx="868800" cy="192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75" lIns="375" spcFirstLastPara="1" rIns="375" wrap="square" tIns="37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63442"/>
              </a:buClr>
              <a:buSzPts val="480"/>
              <a:buFont typeface="Arial"/>
              <a:buNone/>
            </a:pPr>
            <a:r>
              <a:rPr b="0" i="0" lang="fr" sz="480" u="none" cap="none" strike="noStrike">
                <a:solidFill>
                  <a:srgbClr val="263442"/>
                </a:solidFill>
                <a:latin typeface="Arial"/>
                <a:ea typeface="Arial"/>
                <a:cs typeface="Arial"/>
                <a:sym typeface="Arial"/>
              </a:rPr>
              <a:t>Prévisions des ressources</a:t>
            </a:r>
            <a:endParaRPr b="0" i="0" sz="48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47" name="Google Shape;547;p22"/>
          <p:cNvSpPr/>
          <p:nvPr/>
        </p:nvSpPr>
        <p:spPr>
          <a:xfrm>
            <a:off x="2953625" y="7141550"/>
            <a:ext cx="1216200" cy="1170300"/>
          </a:xfrm>
          <a:prstGeom prst="roundRect">
            <a:avLst>
              <a:gd fmla="val 3279" name="adj"/>
            </a:avLst>
          </a:prstGeom>
          <a:solidFill>
            <a:srgbClr val="FBF8FD"/>
          </a:solidFill>
          <a:ln cap="flat" cmpd="sng" w="9525">
            <a:solidFill>
              <a:srgbClr val="8660A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48" name="Google Shape;548;p22"/>
          <p:cNvSpPr/>
          <p:nvPr/>
        </p:nvSpPr>
        <p:spPr>
          <a:xfrm>
            <a:off x="3026769" y="7205567"/>
            <a:ext cx="1069800" cy="246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75" lIns="375" spcFirstLastPara="1" rIns="375" wrap="square" tIns="3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8660A7"/>
              </a:buClr>
              <a:buSzPts val="600"/>
              <a:buFont typeface="Arial"/>
              <a:buNone/>
            </a:pPr>
            <a:r>
              <a:rPr b="1" i="0" lang="fr" sz="600" u="none" cap="none" strike="noStrike">
                <a:solidFill>
                  <a:srgbClr val="8660A7"/>
                </a:solidFill>
                <a:latin typeface="Arial"/>
                <a:ea typeface="Arial"/>
                <a:cs typeface="Arial"/>
                <a:sym typeface="Arial"/>
              </a:rPr>
              <a:t>OPTIMISATION DU SLOTTING</a:t>
            </a:r>
            <a:endParaRPr b="0" i="0" sz="6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49" name="Google Shape;549;p22"/>
          <p:cNvSpPr/>
          <p:nvPr/>
        </p:nvSpPr>
        <p:spPr>
          <a:xfrm>
            <a:off x="3045057" y="7489031"/>
            <a:ext cx="146400" cy="164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75" lIns="375" spcFirstLastPara="1" rIns="375" wrap="square" tIns="3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263442"/>
              </a:buClr>
              <a:buSzPts val="560"/>
              <a:buFont typeface="Arial"/>
              <a:buNone/>
            </a:pPr>
            <a:r>
              <a:rPr b="1" i="0" lang="fr" sz="560" u="none" cap="none" strike="noStrike">
                <a:solidFill>
                  <a:srgbClr val="263442"/>
                </a:solidFill>
                <a:latin typeface="Arial"/>
                <a:ea typeface="Arial"/>
                <a:cs typeface="Arial"/>
                <a:sym typeface="Arial"/>
              </a:rPr>
              <a:t>•</a:t>
            </a:r>
            <a:endParaRPr b="0" i="0" sz="56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50" name="Google Shape;550;p22"/>
          <p:cNvSpPr/>
          <p:nvPr/>
        </p:nvSpPr>
        <p:spPr>
          <a:xfrm>
            <a:off x="3209649" y="7489031"/>
            <a:ext cx="868800" cy="192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75" lIns="375" spcFirstLastPara="1" rIns="375" wrap="square" tIns="37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63442"/>
              </a:buClr>
              <a:buSzPts val="480"/>
              <a:buFont typeface="Arial"/>
              <a:buNone/>
            </a:pPr>
            <a:r>
              <a:rPr b="0" i="0" lang="fr" sz="480" u="none" cap="none" strike="noStrike">
                <a:solidFill>
                  <a:srgbClr val="263442"/>
                </a:solidFill>
                <a:latin typeface="Arial"/>
                <a:ea typeface="Arial"/>
                <a:cs typeface="Arial"/>
                <a:sym typeface="Arial"/>
              </a:rPr>
              <a:t>ABC / Vélocité</a:t>
            </a:r>
            <a:endParaRPr b="0" i="0" sz="48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51" name="Google Shape;551;p22"/>
          <p:cNvSpPr/>
          <p:nvPr/>
        </p:nvSpPr>
        <p:spPr>
          <a:xfrm>
            <a:off x="3045057" y="7735919"/>
            <a:ext cx="146400" cy="164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75" lIns="375" spcFirstLastPara="1" rIns="375" wrap="square" tIns="3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263442"/>
              </a:buClr>
              <a:buSzPts val="560"/>
              <a:buFont typeface="Arial"/>
              <a:buNone/>
            </a:pPr>
            <a:r>
              <a:rPr b="1" i="0" lang="fr" sz="560" u="none" cap="none" strike="noStrike">
                <a:solidFill>
                  <a:srgbClr val="263442"/>
                </a:solidFill>
                <a:latin typeface="Arial"/>
                <a:ea typeface="Arial"/>
                <a:cs typeface="Arial"/>
                <a:sym typeface="Arial"/>
              </a:rPr>
              <a:t>•</a:t>
            </a:r>
            <a:endParaRPr b="0" i="0" sz="56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52" name="Google Shape;552;p22"/>
          <p:cNvSpPr/>
          <p:nvPr/>
        </p:nvSpPr>
        <p:spPr>
          <a:xfrm>
            <a:off x="3209649" y="7735919"/>
            <a:ext cx="868800" cy="192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75" lIns="375" spcFirstLastPara="1" rIns="375" wrap="square" tIns="37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63442"/>
              </a:buClr>
              <a:buSzPts val="480"/>
              <a:buFont typeface="Arial"/>
              <a:buNone/>
            </a:pPr>
            <a:r>
              <a:rPr b="0" i="0" lang="fr" sz="480" u="none" cap="none" strike="noStrike">
                <a:solidFill>
                  <a:srgbClr val="263442"/>
                </a:solidFill>
                <a:latin typeface="Arial"/>
                <a:ea typeface="Arial"/>
                <a:cs typeface="Arial"/>
                <a:sym typeface="Arial"/>
              </a:rPr>
              <a:t>Occupation de l’espace</a:t>
            </a:r>
            <a:endParaRPr b="0" i="0" sz="48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53" name="Google Shape;553;p22"/>
          <p:cNvSpPr/>
          <p:nvPr/>
        </p:nvSpPr>
        <p:spPr>
          <a:xfrm>
            <a:off x="3045057" y="7982807"/>
            <a:ext cx="146400" cy="164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75" lIns="375" spcFirstLastPara="1" rIns="375" wrap="square" tIns="3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263442"/>
              </a:buClr>
              <a:buSzPts val="560"/>
              <a:buFont typeface="Arial"/>
              <a:buNone/>
            </a:pPr>
            <a:r>
              <a:rPr b="1" i="0" lang="fr" sz="560" u="none" cap="none" strike="noStrike">
                <a:solidFill>
                  <a:srgbClr val="263442"/>
                </a:solidFill>
                <a:latin typeface="Arial"/>
                <a:ea typeface="Arial"/>
                <a:cs typeface="Arial"/>
                <a:sym typeface="Arial"/>
              </a:rPr>
              <a:t>•</a:t>
            </a:r>
            <a:endParaRPr b="0" i="0" sz="56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54" name="Google Shape;554;p22"/>
          <p:cNvSpPr/>
          <p:nvPr/>
        </p:nvSpPr>
        <p:spPr>
          <a:xfrm>
            <a:off x="3209649" y="7982807"/>
            <a:ext cx="868800" cy="192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75" lIns="375" spcFirstLastPara="1" rIns="375" wrap="square" tIns="37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63442"/>
              </a:buClr>
              <a:buSzPts val="480"/>
              <a:buFont typeface="Arial"/>
              <a:buNone/>
            </a:pPr>
            <a:r>
              <a:rPr b="0" i="0" lang="fr" sz="480" u="none" cap="none" strike="noStrike">
                <a:solidFill>
                  <a:srgbClr val="263442"/>
                </a:solidFill>
                <a:latin typeface="Arial"/>
                <a:ea typeface="Arial"/>
                <a:cs typeface="Arial"/>
                <a:sym typeface="Arial"/>
              </a:rPr>
              <a:t>Règles dynamiques</a:t>
            </a:r>
            <a:endParaRPr b="0" i="0" sz="48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55" name="Google Shape;555;p22"/>
          <p:cNvSpPr/>
          <p:nvPr/>
        </p:nvSpPr>
        <p:spPr>
          <a:xfrm>
            <a:off x="4252075" y="7141549"/>
            <a:ext cx="1216200" cy="1170300"/>
          </a:xfrm>
          <a:prstGeom prst="roundRect">
            <a:avLst>
              <a:gd fmla="val 3279" name="adj"/>
            </a:avLst>
          </a:prstGeom>
          <a:solidFill>
            <a:srgbClr val="FBF8FD"/>
          </a:solidFill>
          <a:ln cap="flat" cmpd="sng" w="9525">
            <a:solidFill>
              <a:srgbClr val="8660A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56" name="Google Shape;556;p22"/>
          <p:cNvSpPr/>
          <p:nvPr/>
        </p:nvSpPr>
        <p:spPr>
          <a:xfrm>
            <a:off x="4325217" y="7205567"/>
            <a:ext cx="1069800" cy="246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75" lIns="375" spcFirstLastPara="1" rIns="375" wrap="square" tIns="3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8660A7"/>
              </a:buClr>
              <a:buSzPts val="600"/>
              <a:buFont typeface="Arial"/>
              <a:buNone/>
            </a:pPr>
            <a:r>
              <a:rPr b="1" i="0" lang="fr" sz="600" u="none" cap="none" strike="noStrike">
                <a:solidFill>
                  <a:srgbClr val="8660A7"/>
                </a:solidFill>
                <a:latin typeface="Arial"/>
                <a:ea typeface="Arial"/>
                <a:cs typeface="Arial"/>
                <a:sym typeface="Arial"/>
              </a:rPr>
              <a:t>OPTIMISATION DES</a:t>
            </a:r>
            <a:endParaRPr b="0" i="0" sz="6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8660A7"/>
              </a:buClr>
              <a:buSzPts val="600"/>
              <a:buFont typeface="Arial"/>
              <a:buNone/>
            </a:pPr>
            <a:r>
              <a:rPr b="1" i="0" lang="fr" sz="600" u="none" cap="none" strike="noStrike">
                <a:solidFill>
                  <a:srgbClr val="8660A7"/>
                </a:solidFill>
                <a:latin typeface="Arial"/>
                <a:ea typeface="Arial"/>
                <a:cs typeface="Arial"/>
                <a:sym typeface="Arial"/>
              </a:rPr>
              <a:t>ORDRES / TÂCHES</a:t>
            </a:r>
            <a:endParaRPr b="0" i="0" sz="6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57" name="Google Shape;557;p22"/>
          <p:cNvSpPr/>
          <p:nvPr/>
        </p:nvSpPr>
        <p:spPr>
          <a:xfrm>
            <a:off x="4343505" y="7489031"/>
            <a:ext cx="146400" cy="164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75" lIns="375" spcFirstLastPara="1" rIns="375" wrap="square" tIns="3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263442"/>
              </a:buClr>
              <a:buSzPts val="560"/>
              <a:buFont typeface="Arial"/>
              <a:buNone/>
            </a:pPr>
            <a:r>
              <a:rPr b="1" i="0" lang="fr" sz="560" u="none" cap="none" strike="noStrike">
                <a:solidFill>
                  <a:srgbClr val="263442"/>
                </a:solidFill>
                <a:latin typeface="Arial"/>
                <a:ea typeface="Arial"/>
                <a:cs typeface="Arial"/>
                <a:sym typeface="Arial"/>
              </a:rPr>
              <a:t>•</a:t>
            </a:r>
            <a:endParaRPr b="0" i="0" sz="56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58" name="Google Shape;558;p22"/>
          <p:cNvSpPr/>
          <p:nvPr/>
        </p:nvSpPr>
        <p:spPr>
          <a:xfrm>
            <a:off x="4508097" y="7489031"/>
            <a:ext cx="868800" cy="192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75" lIns="375" spcFirstLastPara="1" rIns="375" wrap="square" tIns="37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63442"/>
              </a:buClr>
              <a:buSzPts val="480"/>
              <a:buFont typeface="Arial"/>
              <a:buNone/>
            </a:pPr>
            <a:r>
              <a:rPr b="0" i="0" lang="fr" sz="480" u="none" cap="none" strike="noStrike">
                <a:solidFill>
                  <a:srgbClr val="263442"/>
                </a:solidFill>
                <a:latin typeface="Arial"/>
                <a:ea typeface="Arial"/>
                <a:cs typeface="Arial"/>
                <a:sym typeface="Arial"/>
              </a:rPr>
              <a:t>Regroupement des vagues</a:t>
            </a:r>
            <a:endParaRPr b="0" i="0" sz="48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59" name="Google Shape;559;p22"/>
          <p:cNvSpPr/>
          <p:nvPr/>
        </p:nvSpPr>
        <p:spPr>
          <a:xfrm>
            <a:off x="4343505" y="7699343"/>
            <a:ext cx="146400" cy="164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75" lIns="375" spcFirstLastPara="1" rIns="375" wrap="square" tIns="3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263442"/>
              </a:buClr>
              <a:buSzPts val="560"/>
              <a:buFont typeface="Arial"/>
              <a:buNone/>
            </a:pPr>
            <a:r>
              <a:rPr b="1" i="0" lang="fr" sz="560" u="none" cap="none" strike="noStrike">
                <a:solidFill>
                  <a:srgbClr val="263442"/>
                </a:solidFill>
                <a:latin typeface="Arial"/>
                <a:ea typeface="Arial"/>
                <a:cs typeface="Arial"/>
                <a:sym typeface="Arial"/>
              </a:rPr>
              <a:t>•</a:t>
            </a:r>
            <a:endParaRPr b="0" i="0" sz="56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60" name="Google Shape;560;p22"/>
          <p:cNvSpPr/>
          <p:nvPr/>
        </p:nvSpPr>
        <p:spPr>
          <a:xfrm>
            <a:off x="4508097" y="7699343"/>
            <a:ext cx="868800" cy="192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75" lIns="375" spcFirstLastPara="1" rIns="375" wrap="square" tIns="37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63442"/>
              </a:buClr>
              <a:buSzPts val="480"/>
              <a:buFont typeface="Arial"/>
              <a:buNone/>
            </a:pPr>
            <a:r>
              <a:rPr b="0" i="0" lang="fr" sz="480" u="none" cap="none" strike="noStrike">
                <a:solidFill>
                  <a:srgbClr val="263442"/>
                </a:solidFill>
                <a:latin typeface="Arial"/>
                <a:ea typeface="Arial"/>
                <a:cs typeface="Arial"/>
                <a:sym typeface="Arial"/>
              </a:rPr>
              <a:t>Optimisation des parcours</a:t>
            </a:r>
            <a:endParaRPr b="0" i="0" sz="48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61" name="Google Shape;561;p22"/>
          <p:cNvSpPr/>
          <p:nvPr/>
        </p:nvSpPr>
        <p:spPr>
          <a:xfrm>
            <a:off x="4343505" y="7909655"/>
            <a:ext cx="146400" cy="164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75" lIns="375" spcFirstLastPara="1" rIns="375" wrap="square" tIns="3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263442"/>
              </a:buClr>
              <a:buSzPts val="560"/>
              <a:buFont typeface="Arial"/>
              <a:buNone/>
            </a:pPr>
            <a:r>
              <a:rPr b="1" i="0" lang="fr" sz="560" u="none" cap="none" strike="noStrike">
                <a:solidFill>
                  <a:srgbClr val="263442"/>
                </a:solidFill>
                <a:latin typeface="Arial"/>
                <a:ea typeface="Arial"/>
                <a:cs typeface="Arial"/>
                <a:sym typeface="Arial"/>
              </a:rPr>
              <a:t>•</a:t>
            </a:r>
            <a:endParaRPr b="0" i="0" sz="56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62" name="Google Shape;562;p22"/>
          <p:cNvSpPr/>
          <p:nvPr/>
        </p:nvSpPr>
        <p:spPr>
          <a:xfrm>
            <a:off x="4508097" y="7909655"/>
            <a:ext cx="868800" cy="192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75" lIns="375" spcFirstLastPara="1" rIns="375" wrap="square" tIns="37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63442"/>
              </a:buClr>
              <a:buSzPts val="480"/>
              <a:buFont typeface="Arial"/>
              <a:buNone/>
            </a:pPr>
            <a:r>
              <a:rPr b="0" i="0" lang="fr" sz="480" u="none" cap="none" strike="noStrike">
                <a:solidFill>
                  <a:srgbClr val="263442"/>
                </a:solidFill>
                <a:latin typeface="Arial"/>
                <a:ea typeface="Arial"/>
                <a:cs typeface="Arial"/>
                <a:sym typeface="Arial"/>
              </a:rPr>
              <a:t>Séquençage des tâches</a:t>
            </a:r>
            <a:endParaRPr b="0" i="0" sz="48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63" name="Google Shape;563;p22"/>
          <p:cNvSpPr/>
          <p:nvPr/>
        </p:nvSpPr>
        <p:spPr>
          <a:xfrm>
            <a:off x="4343505" y="8119967"/>
            <a:ext cx="146400" cy="164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75" lIns="375" spcFirstLastPara="1" rIns="375" wrap="square" tIns="3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263442"/>
              </a:buClr>
              <a:buSzPts val="560"/>
              <a:buFont typeface="Arial"/>
              <a:buNone/>
            </a:pPr>
            <a:r>
              <a:rPr b="1" i="0" lang="fr" sz="560" u="none" cap="none" strike="noStrike">
                <a:solidFill>
                  <a:srgbClr val="263442"/>
                </a:solidFill>
                <a:latin typeface="Arial"/>
                <a:ea typeface="Arial"/>
                <a:cs typeface="Arial"/>
                <a:sym typeface="Arial"/>
              </a:rPr>
              <a:t>•</a:t>
            </a:r>
            <a:endParaRPr b="0" i="0" sz="56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64" name="Google Shape;564;p22"/>
          <p:cNvSpPr/>
          <p:nvPr/>
        </p:nvSpPr>
        <p:spPr>
          <a:xfrm>
            <a:off x="4508097" y="8119967"/>
            <a:ext cx="868800" cy="192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75" lIns="375" spcFirstLastPara="1" rIns="375" wrap="square" tIns="37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63442"/>
              </a:buClr>
              <a:buSzPts val="480"/>
              <a:buFont typeface="Arial"/>
              <a:buNone/>
            </a:pPr>
            <a:r>
              <a:rPr b="0" i="0" lang="fr" sz="480" u="none" cap="none" strike="noStrike">
                <a:solidFill>
                  <a:srgbClr val="263442"/>
                </a:solidFill>
                <a:latin typeface="Arial"/>
                <a:ea typeface="Arial"/>
                <a:cs typeface="Arial"/>
                <a:sym typeface="Arial"/>
              </a:rPr>
              <a:t>Priorisation intelligente</a:t>
            </a:r>
            <a:endParaRPr b="0" i="0" sz="48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65" name="Google Shape;565;p22"/>
          <p:cNvSpPr/>
          <p:nvPr/>
        </p:nvSpPr>
        <p:spPr>
          <a:xfrm>
            <a:off x="5550525" y="7141550"/>
            <a:ext cx="1216200" cy="1170300"/>
          </a:xfrm>
          <a:prstGeom prst="roundRect">
            <a:avLst>
              <a:gd fmla="val 3279" name="adj"/>
            </a:avLst>
          </a:prstGeom>
          <a:solidFill>
            <a:srgbClr val="FBF8FD"/>
          </a:solidFill>
          <a:ln cap="flat" cmpd="sng" w="9525">
            <a:solidFill>
              <a:srgbClr val="8660A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66" name="Google Shape;566;p22"/>
          <p:cNvSpPr/>
          <p:nvPr/>
        </p:nvSpPr>
        <p:spPr>
          <a:xfrm>
            <a:off x="5623665" y="7205567"/>
            <a:ext cx="1069800" cy="246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75" lIns="375" spcFirstLastPara="1" rIns="375" wrap="square" tIns="3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8660A7"/>
              </a:buClr>
              <a:buSzPts val="600"/>
              <a:buFont typeface="Arial"/>
              <a:buNone/>
            </a:pPr>
            <a:r>
              <a:rPr b="1" i="0" lang="fr" sz="600" u="none" cap="none" strike="noStrike">
                <a:solidFill>
                  <a:srgbClr val="8660A7"/>
                </a:solidFill>
                <a:latin typeface="Arial"/>
                <a:ea typeface="Arial"/>
                <a:cs typeface="Arial"/>
                <a:sym typeface="Arial"/>
              </a:rPr>
              <a:t>OPTIMISATION DE LA</a:t>
            </a:r>
            <a:endParaRPr b="0" i="0" sz="6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8660A7"/>
              </a:buClr>
              <a:buSzPts val="600"/>
              <a:buFont typeface="Arial"/>
              <a:buNone/>
            </a:pPr>
            <a:r>
              <a:rPr b="1" i="0" lang="fr" sz="600" u="none" cap="none" strike="noStrike">
                <a:solidFill>
                  <a:srgbClr val="8660A7"/>
                </a:solidFill>
                <a:latin typeface="Arial"/>
                <a:ea typeface="Arial"/>
                <a:cs typeface="Arial"/>
                <a:sym typeface="Arial"/>
              </a:rPr>
              <a:t>MAIN-D’ŒUVRE</a:t>
            </a:r>
            <a:endParaRPr b="0" i="0" sz="6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67" name="Google Shape;567;p22"/>
          <p:cNvSpPr/>
          <p:nvPr/>
        </p:nvSpPr>
        <p:spPr>
          <a:xfrm>
            <a:off x="5641953" y="7489031"/>
            <a:ext cx="146400" cy="164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75" lIns="375" spcFirstLastPara="1" rIns="375" wrap="square" tIns="3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263442"/>
              </a:buClr>
              <a:buSzPts val="560"/>
              <a:buFont typeface="Arial"/>
              <a:buNone/>
            </a:pPr>
            <a:r>
              <a:rPr b="1" i="0" lang="fr" sz="560" u="none" cap="none" strike="noStrike">
                <a:solidFill>
                  <a:srgbClr val="263442"/>
                </a:solidFill>
                <a:latin typeface="Arial"/>
                <a:ea typeface="Arial"/>
                <a:cs typeface="Arial"/>
                <a:sym typeface="Arial"/>
              </a:rPr>
              <a:t>•</a:t>
            </a:r>
            <a:endParaRPr b="0" i="0" sz="56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68" name="Google Shape;568;p22"/>
          <p:cNvSpPr/>
          <p:nvPr/>
        </p:nvSpPr>
        <p:spPr>
          <a:xfrm>
            <a:off x="5806545" y="7489031"/>
            <a:ext cx="868800" cy="192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75" lIns="375" spcFirstLastPara="1" rIns="375" wrap="square" tIns="37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63442"/>
              </a:buClr>
              <a:buSzPts val="480"/>
              <a:buFont typeface="Arial"/>
              <a:buNone/>
            </a:pPr>
            <a:r>
              <a:rPr b="0" i="0" lang="fr" sz="480" u="none" cap="none" strike="noStrike">
                <a:solidFill>
                  <a:srgbClr val="263442"/>
                </a:solidFill>
                <a:latin typeface="Arial"/>
                <a:ea typeface="Arial"/>
                <a:cs typeface="Arial"/>
                <a:sym typeface="Arial"/>
              </a:rPr>
              <a:t>Niveaux d’effectifs</a:t>
            </a:r>
            <a:endParaRPr b="0" i="0" sz="48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69" name="Google Shape;569;p22"/>
          <p:cNvSpPr/>
          <p:nvPr/>
        </p:nvSpPr>
        <p:spPr>
          <a:xfrm>
            <a:off x="5641953" y="7699343"/>
            <a:ext cx="146400" cy="164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75" lIns="375" spcFirstLastPara="1" rIns="375" wrap="square" tIns="3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263442"/>
              </a:buClr>
              <a:buSzPts val="560"/>
              <a:buFont typeface="Arial"/>
              <a:buNone/>
            </a:pPr>
            <a:r>
              <a:rPr b="1" i="0" lang="fr" sz="560" u="none" cap="none" strike="noStrike">
                <a:solidFill>
                  <a:srgbClr val="263442"/>
                </a:solidFill>
                <a:latin typeface="Arial"/>
                <a:ea typeface="Arial"/>
                <a:cs typeface="Arial"/>
                <a:sym typeface="Arial"/>
              </a:rPr>
              <a:t>•</a:t>
            </a:r>
            <a:endParaRPr b="0" i="0" sz="56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70" name="Google Shape;570;p22"/>
          <p:cNvSpPr/>
          <p:nvPr/>
        </p:nvSpPr>
        <p:spPr>
          <a:xfrm>
            <a:off x="5806545" y="7699343"/>
            <a:ext cx="868800" cy="192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75" lIns="375" spcFirstLastPara="1" rIns="375" wrap="square" tIns="37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63442"/>
              </a:buClr>
              <a:buSzPts val="480"/>
              <a:buFont typeface="Arial"/>
              <a:buNone/>
            </a:pPr>
            <a:r>
              <a:rPr b="0" i="0" lang="fr" sz="480" u="none" cap="none" strike="noStrike">
                <a:solidFill>
                  <a:srgbClr val="263442"/>
                </a:solidFill>
                <a:latin typeface="Arial"/>
                <a:ea typeface="Arial"/>
                <a:cs typeface="Arial"/>
                <a:sym typeface="Arial"/>
              </a:rPr>
              <a:t>Affectation des tâches</a:t>
            </a:r>
            <a:endParaRPr b="0" i="0" sz="48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71" name="Google Shape;571;p22"/>
          <p:cNvSpPr/>
          <p:nvPr/>
        </p:nvSpPr>
        <p:spPr>
          <a:xfrm>
            <a:off x="5641953" y="7909655"/>
            <a:ext cx="146400" cy="164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75" lIns="375" spcFirstLastPara="1" rIns="375" wrap="square" tIns="3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263442"/>
              </a:buClr>
              <a:buSzPts val="560"/>
              <a:buFont typeface="Arial"/>
              <a:buNone/>
            </a:pPr>
            <a:r>
              <a:rPr b="1" i="0" lang="fr" sz="560" u="none" cap="none" strike="noStrike">
                <a:solidFill>
                  <a:srgbClr val="263442"/>
                </a:solidFill>
                <a:latin typeface="Arial"/>
                <a:ea typeface="Arial"/>
                <a:cs typeface="Arial"/>
                <a:sym typeface="Arial"/>
              </a:rPr>
              <a:t>•</a:t>
            </a:r>
            <a:endParaRPr b="0" i="0" sz="56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72" name="Google Shape;572;p22"/>
          <p:cNvSpPr/>
          <p:nvPr/>
        </p:nvSpPr>
        <p:spPr>
          <a:xfrm>
            <a:off x="5806545" y="7909655"/>
            <a:ext cx="868800" cy="192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75" lIns="375" spcFirstLastPara="1" rIns="375" wrap="square" tIns="37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63442"/>
              </a:buClr>
              <a:buSzPts val="480"/>
              <a:buFont typeface="Arial"/>
              <a:buNone/>
            </a:pPr>
            <a:r>
              <a:rPr b="0" i="0" lang="fr" sz="480" u="none" cap="none" strike="noStrike">
                <a:solidFill>
                  <a:srgbClr val="263442"/>
                </a:solidFill>
                <a:latin typeface="Arial"/>
                <a:ea typeface="Arial"/>
                <a:cs typeface="Arial"/>
                <a:sym typeface="Arial"/>
              </a:rPr>
              <a:t>Productivité</a:t>
            </a:r>
            <a:endParaRPr b="0" i="0" sz="48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73" name="Google Shape;573;p22"/>
          <p:cNvSpPr/>
          <p:nvPr/>
        </p:nvSpPr>
        <p:spPr>
          <a:xfrm>
            <a:off x="5641953" y="8119967"/>
            <a:ext cx="146400" cy="164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75" lIns="375" spcFirstLastPara="1" rIns="375" wrap="square" tIns="3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263442"/>
              </a:buClr>
              <a:buSzPts val="560"/>
              <a:buFont typeface="Arial"/>
              <a:buNone/>
            </a:pPr>
            <a:r>
              <a:rPr b="1" i="0" lang="fr" sz="560" u="none" cap="none" strike="noStrike">
                <a:solidFill>
                  <a:srgbClr val="263442"/>
                </a:solidFill>
                <a:latin typeface="Arial"/>
                <a:ea typeface="Arial"/>
                <a:cs typeface="Arial"/>
                <a:sym typeface="Arial"/>
              </a:rPr>
              <a:t>•</a:t>
            </a:r>
            <a:endParaRPr b="0" i="0" sz="56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74" name="Google Shape;574;p22"/>
          <p:cNvSpPr/>
          <p:nvPr/>
        </p:nvSpPr>
        <p:spPr>
          <a:xfrm>
            <a:off x="5806545" y="8119967"/>
            <a:ext cx="868800" cy="192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75" lIns="375" spcFirstLastPara="1" rIns="375" wrap="square" tIns="37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63442"/>
              </a:buClr>
              <a:buSzPts val="480"/>
              <a:buFont typeface="Arial"/>
              <a:buNone/>
            </a:pPr>
            <a:r>
              <a:rPr b="0" i="0" lang="fr" sz="480" u="none" cap="none" strike="noStrike">
                <a:solidFill>
                  <a:srgbClr val="263442"/>
                </a:solidFill>
                <a:latin typeface="Arial"/>
                <a:ea typeface="Arial"/>
                <a:cs typeface="Arial"/>
                <a:sym typeface="Arial"/>
              </a:rPr>
              <a:t>Équilibrage de la charge</a:t>
            </a:r>
            <a:endParaRPr b="0" i="0" sz="48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75" name="Google Shape;575;p22"/>
          <p:cNvSpPr/>
          <p:nvPr/>
        </p:nvSpPr>
        <p:spPr>
          <a:xfrm>
            <a:off x="6848950" y="7141550"/>
            <a:ext cx="1316700" cy="1170300"/>
          </a:xfrm>
          <a:prstGeom prst="roundRect">
            <a:avLst>
              <a:gd fmla="val 3279" name="adj"/>
            </a:avLst>
          </a:prstGeom>
          <a:solidFill>
            <a:srgbClr val="FBF8FD"/>
          </a:solidFill>
          <a:ln cap="flat" cmpd="sng" w="9525">
            <a:solidFill>
              <a:srgbClr val="8660A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76" name="Google Shape;576;p22"/>
          <p:cNvSpPr/>
          <p:nvPr/>
        </p:nvSpPr>
        <p:spPr>
          <a:xfrm>
            <a:off x="6922113" y="7205567"/>
            <a:ext cx="1170300" cy="246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75" lIns="375" spcFirstLastPara="1" rIns="375" wrap="square" tIns="3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8660A7"/>
              </a:buClr>
              <a:buSzPts val="600"/>
              <a:buFont typeface="Arial"/>
              <a:buNone/>
            </a:pPr>
            <a:r>
              <a:rPr b="1" i="0" lang="fr" sz="600" u="none" cap="none" strike="noStrike">
                <a:solidFill>
                  <a:srgbClr val="8660A7"/>
                </a:solidFill>
                <a:latin typeface="Arial"/>
                <a:ea typeface="Arial"/>
                <a:cs typeface="Arial"/>
                <a:sym typeface="Arial"/>
              </a:rPr>
              <a:t>DÉTECTION D’ANOMALIES</a:t>
            </a:r>
            <a:endParaRPr b="0" i="0" sz="6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8660A7"/>
              </a:buClr>
              <a:buSzPts val="600"/>
              <a:buFont typeface="Arial"/>
              <a:buNone/>
            </a:pPr>
            <a:r>
              <a:rPr b="1" i="0" lang="fr" sz="600" u="none" cap="none" strike="noStrike">
                <a:solidFill>
                  <a:srgbClr val="8660A7"/>
                </a:solidFill>
                <a:latin typeface="Arial"/>
                <a:ea typeface="Arial"/>
                <a:cs typeface="Arial"/>
                <a:sym typeface="Arial"/>
              </a:rPr>
              <a:t>&amp; GESTION DES RISQUES</a:t>
            </a:r>
            <a:endParaRPr b="0" i="0" sz="6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77" name="Google Shape;577;p22"/>
          <p:cNvSpPr/>
          <p:nvPr/>
        </p:nvSpPr>
        <p:spPr>
          <a:xfrm>
            <a:off x="6940401" y="7489031"/>
            <a:ext cx="146400" cy="164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75" lIns="375" spcFirstLastPara="1" rIns="375" wrap="square" tIns="3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263442"/>
              </a:buClr>
              <a:buSzPts val="560"/>
              <a:buFont typeface="Arial"/>
              <a:buNone/>
            </a:pPr>
            <a:r>
              <a:rPr b="1" i="0" lang="fr" sz="560" u="none" cap="none" strike="noStrike">
                <a:solidFill>
                  <a:srgbClr val="263442"/>
                </a:solidFill>
                <a:latin typeface="Arial"/>
                <a:ea typeface="Arial"/>
                <a:cs typeface="Arial"/>
                <a:sym typeface="Arial"/>
              </a:rPr>
              <a:t>•</a:t>
            </a:r>
            <a:endParaRPr b="0" i="0" sz="56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78" name="Google Shape;578;p22"/>
          <p:cNvSpPr/>
          <p:nvPr/>
        </p:nvSpPr>
        <p:spPr>
          <a:xfrm>
            <a:off x="7104993" y="7489031"/>
            <a:ext cx="969300" cy="192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75" lIns="375" spcFirstLastPara="1" rIns="375" wrap="square" tIns="37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63442"/>
              </a:buClr>
              <a:buSzPts val="480"/>
              <a:buFont typeface="Arial"/>
              <a:buNone/>
            </a:pPr>
            <a:r>
              <a:rPr b="0" i="0" lang="fr" sz="480" u="none" cap="none" strike="noStrike">
                <a:solidFill>
                  <a:srgbClr val="263442"/>
                </a:solidFill>
                <a:latin typeface="Arial"/>
                <a:ea typeface="Arial"/>
                <a:cs typeface="Arial"/>
                <a:sym typeface="Arial"/>
              </a:rPr>
              <a:t>Détection d’anomalies</a:t>
            </a:r>
            <a:endParaRPr b="0" i="0" sz="48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79" name="Google Shape;579;p22"/>
          <p:cNvSpPr/>
          <p:nvPr/>
        </p:nvSpPr>
        <p:spPr>
          <a:xfrm>
            <a:off x="6940401" y="7699343"/>
            <a:ext cx="146400" cy="164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75" lIns="375" spcFirstLastPara="1" rIns="375" wrap="square" tIns="3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263442"/>
              </a:buClr>
              <a:buSzPts val="560"/>
              <a:buFont typeface="Arial"/>
              <a:buNone/>
            </a:pPr>
            <a:r>
              <a:rPr b="1" i="0" lang="fr" sz="560" u="none" cap="none" strike="noStrike">
                <a:solidFill>
                  <a:srgbClr val="263442"/>
                </a:solidFill>
                <a:latin typeface="Arial"/>
                <a:ea typeface="Arial"/>
                <a:cs typeface="Arial"/>
                <a:sym typeface="Arial"/>
              </a:rPr>
              <a:t>•</a:t>
            </a:r>
            <a:endParaRPr b="0" i="0" sz="56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80" name="Google Shape;580;p22"/>
          <p:cNvSpPr/>
          <p:nvPr/>
        </p:nvSpPr>
        <p:spPr>
          <a:xfrm>
            <a:off x="7104993" y="7699343"/>
            <a:ext cx="969300" cy="192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75" lIns="375" spcFirstLastPara="1" rIns="375" wrap="square" tIns="37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63442"/>
              </a:buClr>
              <a:buSzPts val="480"/>
              <a:buFont typeface="Arial"/>
              <a:buNone/>
            </a:pPr>
            <a:r>
              <a:rPr b="0" i="0" lang="fr" sz="480" u="none" cap="none" strike="noStrike">
                <a:solidFill>
                  <a:srgbClr val="263442"/>
                </a:solidFill>
                <a:latin typeface="Arial"/>
                <a:ea typeface="Arial"/>
                <a:cs typeface="Arial"/>
                <a:sym typeface="Arial"/>
              </a:rPr>
              <a:t>Écarts de processus</a:t>
            </a:r>
            <a:endParaRPr b="0" i="0" sz="48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81" name="Google Shape;581;p22"/>
          <p:cNvSpPr/>
          <p:nvPr/>
        </p:nvSpPr>
        <p:spPr>
          <a:xfrm>
            <a:off x="6940401" y="7909655"/>
            <a:ext cx="146400" cy="164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75" lIns="375" spcFirstLastPara="1" rIns="375" wrap="square" tIns="3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263442"/>
              </a:buClr>
              <a:buSzPts val="560"/>
              <a:buFont typeface="Arial"/>
              <a:buNone/>
            </a:pPr>
            <a:r>
              <a:rPr b="1" i="0" lang="fr" sz="560" u="none" cap="none" strike="noStrike">
                <a:solidFill>
                  <a:srgbClr val="263442"/>
                </a:solidFill>
                <a:latin typeface="Arial"/>
                <a:ea typeface="Arial"/>
                <a:cs typeface="Arial"/>
                <a:sym typeface="Arial"/>
              </a:rPr>
              <a:t>•</a:t>
            </a:r>
            <a:endParaRPr b="0" i="0" sz="56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82" name="Google Shape;582;p22"/>
          <p:cNvSpPr/>
          <p:nvPr/>
        </p:nvSpPr>
        <p:spPr>
          <a:xfrm>
            <a:off x="7104993" y="7909655"/>
            <a:ext cx="969300" cy="192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75" lIns="375" spcFirstLastPara="1" rIns="375" wrap="square" tIns="37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63442"/>
              </a:buClr>
              <a:buSzPts val="480"/>
              <a:buFont typeface="Arial"/>
              <a:buNone/>
            </a:pPr>
            <a:r>
              <a:rPr b="0" i="0" lang="fr" sz="480" u="none" cap="none" strike="noStrike">
                <a:solidFill>
                  <a:srgbClr val="263442"/>
                </a:solidFill>
                <a:latin typeface="Arial"/>
                <a:ea typeface="Arial"/>
                <a:cs typeface="Arial"/>
                <a:sym typeface="Arial"/>
              </a:rPr>
              <a:t>Gestion des risques</a:t>
            </a:r>
            <a:endParaRPr b="0" i="0" sz="48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83" name="Google Shape;583;p22"/>
          <p:cNvSpPr/>
          <p:nvPr/>
        </p:nvSpPr>
        <p:spPr>
          <a:xfrm>
            <a:off x="6940401" y="8119967"/>
            <a:ext cx="146400" cy="164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75" lIns="375" spcFirstLastPara="1" rIns="375" wrap="square" tIns="3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263442"/>
              </a:buClr>
              <a:buSzPts val="560"/>
              <a:buFont typeface="Arial"/>
              <a:buNone/>
            </a:pPr>
            <a:r>
              <a:rPr b="1" i="0" lang="fr" sz="560" u="none" cap="none" strike="noStrike">
                <a:solidFill>
                  <a:srgbClr val="263442"/>
                </a:solidFill>
                <a:latin typeface="Arial"/>
                <a:ea typeface="Arial"/>
                <a:cs typeface="Arial"/>
                <a:sym typeface="Arial"/>
              </a:rPr>
              <a:t>•</a:t>
            </a:r>
            <a:endParaRPr b="0" i="0" sz="56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84" name="Google Shape;584;p22"/>
          <p:cNvSpPr/>
          <p:nvPr/>
        </p:nvSpPr>
        <p:spPr>
          <a:xfrm>
            <a:off x="7104993" y="8119967"/>
            <a:ext cx="969300" cy="192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75" lIns="375" spcFirstLastPara="1" rIns="375" wrap="square" tIns="37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63442"/>
              </a:buClr>
              <a:buSzPts val="480"/>
              <a:buFont typeface="Arial"/>
              <a:buNone/>
            </a:pPr>
            <a:r>
              <a:rPr b="0" i="0" lang="fr" sz="480" u="none" cap="none" strike="noStrike">
                <a:solidFill>
                  <a:srgbClr val="263442"/>
                </a:solidFill>
                <a:latin typeface="Arial"/>
                <a:ea typeface="Arial"/>
                <a:cs typeface="Arial"/>
                <a:sym typeface="Arial"/>
              </a:rPr>
              <a:t>Tableaux de contrôle</a:t>
            </a:r>
            <a:endParaRPr b="0" i="0" sz="48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85" name="Google Shape;585;p22"/>
          <p:cNvSpPr/>
          <p:nvPr/>
        </p:nvSpPr>
        <p:spPr>
          <a:xfrm>
            <a:off x="2809625" y="2098888"/>
            <a:ext cx="713100" cy="1593300"/>
          </a:xfrm>
          <a:prstGeom prst="rect">
            <a:avLst/>
          </a:prstGeom>
          <a:noFill/>
          <a:ln>
            <a:noFill/>
          </a:ln>
        </p:spPr>
        <p:txBody>
          <a:bodyPr anchorCtr="0" anchor="t" bIns="375" lIns="375" spcFirstLastPara="1" rIns="375" wrap="square" tIns="3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fr" sz="465">
                <a:solidFill>
                  <a:srgbClr val="263442"/>
                </a:solidFill>
              </a:rPr>
              <a:t>Gestion de l’emplacement</a:t>
            </a:r>
            <a:endParaRPr sz="465">
              <a:solidFill>
                <a:schemeClr val="dk1"/>
              </a:solidFill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495">
              <a:solidFill>
                <a:srgbClr val="263442"/>
              </a:solidFill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495">
              <a:solidFill>
                <a:srgbClr val="263442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fr" sz="465">
                <a:solidFill>
                  <a:srgbClr val="263442"/>
                </a:solidFill>
              </a:rPr>
              <a:t>Gestion des stocks</a:t>
            </a:r>
            <a:endParaRPr sz="465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495">
              <a:solidFill>
                <a:srgbClr val="263442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495">
              <a:solidFill>
                <a:srgbClr val="263442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fr" sz="465">
                <a:solidFill>
                  <a:srgbClr val="263442"/>
                </a:solidFill>
              </a:rPr>
              <a:t>Emplacement</a:t>
            </a:r>
            <a:endParaRPr sz="465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495">
              <a:solidFill>
                <a:srgbClr val="263442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465">
              <a:solidFill>
                <a:srgbClr val="263442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fr" sz="465">
                <a:solidFill>
                  <a:srgbClr val="263442"/>
                </a:solidFill>
              </a:rPr>
              <a:t>Réapprovisionnement</a:t>
            </a:r>
            <a:endParaRPr sz="465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495">
              <a:solidFill>
                <a:srgbClr val="263442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495">
              <a:solidFill>
                <a:srgbClr val="263442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fr" sz="465">
                <a:solidFill>
                  <a:srgbClr val="263442"/>
                </a:solidFill>
              </a:rPr>
              <a:t>Stock de réserve</a:t>
            </a:r>
            <a:endParaRPr sz="465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495">
              <a:solidFill>
                <a:srgbClr val="263442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495">
              <a:solidFill>
                <a:srgbClr val="263442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fr" sz="465">
                <a:solidFill>
                  <a:srgbClr val="263442"/>
                </a:solidFill>
              </a:rPr>
              <a:t>Inventaire tournant</a:t>
            </a:r>
            <a:endParaRPr sz="465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495">
              <a:solidFill>
                <a:srgbClr val="263442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495">
              <a:solidFill>
                <a:srgbClr val="263442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fr" sz="465">
                <a:solidFill>
                  <a:srgbClr val="263442"/>
                </a:solidFill>
              </a:rPr>
              <a:t>Gestion des lots / dates</a:t>
            </a:r>
            <a:endParaRPr sz="465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495">
              <a:solidFill>
                <a:srgbClr val="263442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fr" sz="465">
                <a:solidFill>
                  <a:srgbClr val="263442"/>
                </a:solidFill>
              </a:rPr>
              <a:t>Ajustement d’inventaire</a:t>
            </a:r>
            <a:endParaRPr sz="495">
              <a:solidFill>
                <a:srgbClr val="263442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495">
              <a:solidFill>
                <a:srgbClr val="263442"/>
              </a:solidFill>
            </a:endParaRPr>
          </a:p>
        </p:txBody>
      </p:sp>
      <p:sp>
        <p:nvSpPr>
          <p:cNvPr id="586" name="Google Shape;586;p22"/>
          <p:cNvSpPr/>
          <p:nvPr/>
        </p:nvSpPr>
        <p:spPr>
          <a:xfrm>
            <a:off x="7557401" y="3727753"/>
            <a:ext cx="494000" cy="310800"/>
          </a:xfrm>
          <a:prstGeom prst="flowChartMagneticDisk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87" name="Google Shape;587;p22"/>
          <p:cNvSpPr/>
          <p:nvPr/>
        </p:nvSpPr>
        <p:spPr>
          <a:xfrm>
            <a:off x="6921813" y="3746015"/>
            <a:ext cx="494000" cy="310800"/>
          </a:xfrm>
          <a:prstGeom prst="flowChartMagneticDisk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88" name="Google Shape;588;p22"/>
          <p:cNvSpPr/>
          <p:nvPr/>
        </p:nvSpPr>
        <p:spPr>
          <a:xfrm>
            <a:off x="7309620" y="6011009"/>
            <a:ext cx="1083600" cy="560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00" lIns="300" spcFirstLastPara="1" rIns="300" wrap="square" tIns="300">
            <a:noAutofit/>
          </a:bodyPr>
          <a:lstStyle/>
          <a:p>
            <a:pPr indent="-210358" lvl="0" marL="376292" marR="0" rtl="0" algn="l">
              <a:spcBef>
                <a:spcPts val="0"/>
              </a:spcBef>
              <a:spcAft>
                <a:spcPts val="0"/>
              </a:spcAft>
              <a:buClr>
                <a:srgbClr val="263442"/>
              </a:buClr>
              <a:buSzPts val="350"/>
              <a:buChar char="●"/>
            </a:pPr>
            <a:r>
              <a:rPr lang="fr" sz="350">
                <a:solidFill>
                  <a:srgbClr val="263442"/>
                </a:solidFill>
              </a:rPr>
              <a:t>Suivi des actifs </a:t>
            </a:r>
            <a:endParaRPr sz="350">
              <a:solidFill>
                <a:srgbClr val="263442"/>
              </a:solidFill>
            </a:endParaRPr>
          </a:p>
          <a:p>
            <a:pPr indent="0" lvl="0" marL="376292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350">
              <a:solidFill>
                <a:srgbClr val="263442"/>
              </a:solidFill>
            </a:endParaRPr>
          </a:p>
          <a:p>
            <a:pPr indent="-210358" lvl="0" marL="376292" marR="0" rtl="0" algn="l">
              <a:spcBef>
                <a:spcPts val="0"/>
              </a:spcBef>
              <a:spcAft>
                <a:spcPts val="0"/>
              </a:spcAft>
              <a:buClr>
                <a:srgbClr val="263442"/>
              </a:buClr>
              <a:buSzPts val="350"/>
              <a:buChar char="●"/>
            </a:pPr>
            <a:r>
              <a:rPr lang="fr" sz="350">
                <a:solidFill>
                  <a:srgbClr val="263442"/>
                </a:solidFill>
              </a:rPr>
              <a:t>Étalonnage </a:t>
            </a:r>
            <a:endParaRPr sz="350">
              <a:solidFill>
                <a:srgbClr val="263442"/>
              </a:solidFill>
            </a:endParaRPr>
          </a:p>
          <a:p>
            <a:pPr indent="0" lvl="0" marL="376292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350">
              <a:solidFill>
                <a:srgbClr val="263442"/>
              </a:solidFill>
            </a:endParaRPr>
          </a:p>
          <a:p>
            <a:pPr indent="-210358" lvl="0" marL="376292" marR="0" rtl="0" algn="l">
              <a:spcBef>
                <a:spcPts val="0"/>
              </a:spcBef>
              <a:spcAft>
                <a:spcPts val="0"/>
              </a:spcAft>
              <a:buClr>
                <a:srgbClr val="263442"/>
              </a:buClr>
              <a:buSzPts val="350"/>
              <a:buChar char="●"/>
            </a:pPr>
            <a:r>
              <a:rPr lang="fr" sz="350">
                <a:solidFill>
                  <a:srgbClr val="263442"/>
                </a:solidFill>
              </a:rPr>
              <a:t>Taux d'utilisation </a:t>
            </a:r>
            <a:endParaRPr sz="350">
              <a:solidFill>
                <a:srgbClr val="263442"/>
              </a:solidFill>
            </a:endParaRPr>
          </a:p>
          <a:p>
            <a:pPr indent="0" lvl="0" marL="376292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350">
              <a:solidFill>
                <a:srgbClr val="263442"/>
              </a:solidFill>
            </a:endParaRPr>
          </a:p>
          <a:p>
            <a:pPr indent="-210358" lvl="0" marL="376292" marR="0" rtl="0" algn="l">
              <a:spcBef>
                <a:spcPts val="0"/>
              </a:spcBef>
              <a:spcAft>
                <a:spcPts val="0"/>
              </a:spcAft>
              <a:buClr>
                <a:srgbClr val="263442"/>
              </a:buClr>
              <a:buSzPts val="350"/>
              <a:buChar char="●"/>
            </a:pPr>
            <a:r>
              <a:rPr lang="fr" sz="350">
                <a:solidFill>
                  <a:srgbClr val="263442"/>
                </a:solidFill>
              </a:rPr>
              <a:t>Surveillance de l'état </a:t>
            </a:r>
            <a:endParaRPr sz="350">
              <a:solidFill>
                <a:srgbClr val="263442"/>
              </a:solidFill>
            </a:endParaRPr>
          </a:p>
          <a:p>
            <a:pPr indent="0" lvl="0" marL="376292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350">
              <a:solidFill>
                <a:srgbClr val="263442"/>
              </a:solidFill>
            </a:endParaRPr>
          </a:p>
          <a:p>
            <a:pPr indent="-210358" lvl="0" marL="376292" marR="0" rtl="0" algn="l">
              <a:spcBef>
                <a:spcPts val="0"/>
              </a:spcBef>
              <a:spcAft>
                <a:spcPts val="0"/>
              </a:spcAft>
              <a:buClr>
                <a:srgbClr val="263442"/>
              </a:buClr>
              <a:buSzPts val="350"/>
              <a:buChar char="●"/>
            </a:pPr>
            <a:r>
              <a:rPr lang="fr" sz="350">
                <a:solidFill>
                  <a:srgbClr val="263442"/>
                </a:solidFill>
              </a:rPr>
              <a:t>Gestion du cycle de vie</a:t>
            </a:r>
            <a:endParaRPr b="0" i="0" sz="35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89" name="Google Shape;589;p22"/>
          <p:cNvSpPr/>
          <p:nvPr/>
        </p:nvSpPr>
        <p:spPr>
          <a:xfrm>
            <a:off x="297206" y="8732798"/>
            <a:ext cx="1197900" cy="347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75" lIns="375" spcFirstLastPara="1" rIns="375" wrap="square" tIns="3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fr" sz="1000">
                <a:solidFill>
                  <a:srgbClr val="085041"/>
                </a:solidFill>
                <a:highlight>
                  <a:srgbClr val="E1F5EE"/>
                </a:highlight>
                <a:latin typeface="Roboto"/>
                <a:ea typeface="Roboto"/>
                <a:cs typeface="Roboto"/>
                <a:sym typeface="Roboto"/>
              </a:rPr>
              <a:t>Terminaux &amp;</a:t>
            </a:r>
            <a:endParaRPr b="1" sz="1000">
              <a:solidFill>
                <a:srgbClr val="085041"/>
              </a:solidFill>
              <a:highlight>
                <a:srgbClr val="E1F5EE"/>
              </a:highlight>
              <a:latin typeface="Roboto"/>
              <a:ea typeface="Roboto"/>
              <a:cs typeface="Roboto"/>
              <a:sym typeface="Roboto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79A96B"/>
              </a:buClr>
              <a:buSzPts val="900"/>
              <a:buFont typeface="Arial"/>
              <a:buNone/>
            </a:pPr>
            <a:r>
              <a:rPr b="1" lang="fr" sz="1000">
                <a:solidFill>
                  <a:srgbClr val="085041"/>
                </a:solidFill>
                <a:highlight>
                  <a:srgbClr val="E1F5EE"/>
                </a:highlight>
                <a:latin typeface="Roboto"/>
                <a:ea typeface="Roboto"/>
                <a:cs typeface="Roboto"/>
                <a:sym typeface="Roboto"/>
              </a:rPr>
              <a:t>appareils de terrain</a:t>
            </a:r>
            <a:r>
              <a:rPr lang="fr" sz="1100">
                <a:solidFill>
                  <a:schemeClr val="dk1"/>
                </a:solidFill>
              </a:rPr>
              <a:t> </a:t>
            </a:r>
            <a:endParaRPr b="1" sz="900">
              <a:solidFill>
                <a:srgbClr val="79A96B"/>
              </a:solidFill>
            </a:endParaRPr>
          </a:p>
        </p:txBody>
      </p:sp>
      <p:sp>
        <p:nvSpPr>
          <p:cNvPr id="590" name="Google Shape;590;p22"/>
          <p:cNvSpPr/>
          <p:nvPr/>
        </p:nvSpPr>
        <p:spPr>
          <a:xfrm>
            <a:off x="1746600" y="8623025"/>
            <a:ext cx="6543900" cy="1593300"/>
          </a:xfrm>
          <a:prstGeom prst="roundRect">
            <a:avLst>
              <a:gd fmla="val 16667" name="adj"/>
            </a:avLst>
          </a:prstGeom>
          <a:noFill/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91" name="Google Shape;591;p22"/>
          <p:cNvSpPr/>
          <p:nvPr/>
        </p:nvSpPr>
        <p:spPr>
          <a:xfrm>
            <a:off x="1966075" y="8865025"/>
            <a:ext cx="850500" cy="429900"/>
          </a:xfrm>
          <a:prstGeom prst="roundRect">
            <a:avLst>
              <a:gd fmla="val 16667" name="adj"/>
            </a:avLst>
          </a:prstGeom>
          <a:solidFill>
            <a:srgbClr val="00F74E">
              <a:alpha val="13330"/>
            </a:srgbClr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92" name="Google Shape;592;p22"/>
          <p:cNvSpPr/>
          <p:nvPr/>
        </p:nvSpPr>
        <p:spPr>
          <a:xfrm>
            <a:off x="3026775" y="8860775"/>
            <a:ext cx="850500" cy="429900"/>
          </a:xfrm>
          <a:prstGeom prst="roundRect">
            <a:avLst>
              <a:gd fmla="val 16667" name="adj"/>
            </a:avLst>
          </a:prstGeom>
          <a:solidFill>
            <a:srgbClr val="00F74E">
              <a:alpha val="13330"/>
            </a:srgbClr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93" name="Google Shape;593;p22"/>
          <p:cNvSpPr/>
          <p:nvPr/>
        </p:nvSpPr>
        <p:spPr>
          <a:xfrm>
            <a:off x="4206338" y="8860500"/>
            <a:ext cx="850500" cy="429900"/>
          </a:xfrm>
          <a:prstGeom prst="roundRect">
            <a:avLst>
              <a:gd fmla="val 16667" name="adj"/>
            </a:avLst>
          </a:prstGeom>
          <a:solidFill>
            <a:srgbClr val="00F74E">
              <a:alpha val="13330"/>
            </a:srgbClr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94" name="Google Shape;594;p22"/>
          <p:cNvSpPr/>
          <p:nvPr/>
        </p:nvSpPr>
        <p:spPr>
          <a:xfrm>
            <a:off x="5481925" y="8869800"/>
            <a:ext cx="850500" cy="429900"/>
          </a:xfrm>
          <a:prstGeom prst="roundRect">
            <a:avLst>
              <a:gd fmla="val 16667" name="adj"/>
            </a:avLst>
          </a:prstGeom>
          <a:solidFill>
            <a:srgbClr val="00F74E">
              <a:alpha val="13330"/>
            </a:srgbClr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95" name="Google Shape;595;p22"/>
          <p:cNvSpPr/>
          <p:nvPr/>
        </p:nvSpPr>
        <p:spPr>
          <a:xfrm>
            <a:off x="6757500" y="8860775"/>
            <a:ext cx="850500" cy="429900"/>
          </a:xfrm>
          <a:prstGeom prst="roundRect">
            <a:avLst>
              <a:gd fmla="val 16667" name="adj"/>
            </a:avLst>
          </a:prstGeom>
          <a:solidFill>
            <a:srgbClr val="00F74E">
              <a:alpha val="13330"/>
            </a:srgbClr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96" name="Google Shape;596;p22"/>
          <p:cNvSpPr/>
          <p:nvPr/>
        </p:nvSpPr>
        <p:spPr>
          <a:xfrm>
            <a:off x="1955238" y="9426575"/>
            <a:ext cx="850500" cy="429900"/>
          </a:xfrm>
          <a:prstGeom prst="roundRect">
            <a:avLst>
              <a:gd fmla="val 16667" name="adj"/>
            </a:avLst>
          </a:prstGeom>
          <a:solidFill>
            <a:srgbClr val="00F74E">
              <a:alpha val="13330"/>
            </a:srgbClr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97" name="Google Shape;597;p22"/>
          <p:cNvSpPr/>
          <p:nvPr/>
        </p:nvSpPr>
        <p:spPr>
          <a:xfrm>
            <a:off x="3015938" y="9422325"/>
            <a:ext cx="850500" cy="429900"/>
          </a:xfrm>
          <a:prstGeom prst="roundRect">
            <a:avLst>
              <a:gd fmla="val 16667" name="adj"/>
            </a:avLst>
          </a:prstGeom>
          <a:solidFill>
            <a:srgbClr val="00F74E">
              <a:alpha val="13330"/>
            </a:srgbClr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98" name="Google Shape;598;p22"/>
          <p:cNvSpPr/>
          <p:nvPr/>
        </p:nvSpPr>
        <p:spPr>
          <a:xfrm>
            <a:off x="4195500" y="9422050"/>
            <a:ext cx="850500" cy="429900"/>
          </a:xfrm>
          <a:prstGeom prst="roundRect">
            <a:avLst>
              <a:gd fmla="val 16667" name="adj"/>
            </a:avLst>
          </a:prstGeom>
          <a:solidFill>
            <a:srgbClr val="00F74E">
              <a:alpha val="13330"/>
            </a:srgbClr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99" name="Google Shape;599;p22"/>
          <p:cNvSpPr/>
          <p:nvPr/>
        </p:nvSpPr>
        <p:spPr>
          <a:xfrm>
            <a:off x="5471088" y="9431350"/>
            <a:ext cx="850500" cy="429900"/>
          </a:xfrm>
          <a:prstGeom prst="roundRect">
            <a:avLst>
              <a:gd fmla="val 16667" name="adj"/>
            </a:avLst>
          </a:prstGeom>
          <a:solidFill>
            <a:srgbClr val="00F74E">
              <a:alpha val="13330"/>
            </a:srgbClr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00" name="Google Shape;600;p22"/>
          <p:cNvSpPr/>
          <p:nvPr/>
        </p:nvSpPr>
        <p:spPr>
          <a:xfrm>
            <a:off x="6746663" y="9422325"/>
            <a:ext cx="850500" cy="429900"/>
          </a:xfrm>
          <a:prstGeom prst="roundRect">
            <a:avLst>
              <a:gd fmla="val 16667" name="adj"/>
            </a:avLst>
          </a:prstGeom>
          <a:solidFill>
            <a:srgbClr val="00F74E">
              <a:alpha val="13330"/>
            </a:srgbClr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01" name="Google Shape;601;p22"/>
          <p:cNvSpPr/>
          <p:nvPr/>
        </p:nvSpPr>
        <p:spPr>
          <a:xfrm>
            <a:off x="1991850" y="8997700"/>
            <a:ext cx="777300" cy="347400"/>
          </a:xfrm>
          <a:prstGeom prst="rect">
            <a:avLst/>
          </a:prstGeom>
          <a:noFill/>
          <a:ln>
            <a:noFill/>
          </a:ln>
        </p:spPr>
        <p:txBody>
          <a:bodyPr anchorCtr="0" anchor="t" bIns="375" lIns="375" spcFirstLastPara="1" rIns="375" wrap="square" tIns="375">
            <a:noAutofit/>
          </a:bodyPr>
          <a:lstStyle/>
          <a:p>
            <a:pPr indent="0" lvl="0" marL="63500" marR="6350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fr" sz="750">
                <a:solidFill>
                  <a:srgbClr val="085041"/>
                </a:solidFill>
                <a:highlight>
                  <a:srgbClr val="E1F5EE"/>
                </a:highlight>
                <a:latin typeface="Roboto"/>
                <a:ea typeface="Roboto"/>
                <a:cs typeface="Roboto"/>
                <a:sym typeface="Roboto"/>
              </a:rPr>
              <a:t>Terminaux RF </a:t>
            </a:r>
            <a:endParaRPr sz="750">
              <a:solidFill>
                <a:srgbClr val="085041"/>
              </a:solidFill>
              <a:highlight>
                <a:srgbClr val="E1F5EE"/>
              </a:highlight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1000">
              <a:solidFill>
                <a:schemeClr val="dk1"/>
              </a:solidFill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73A63"/>
              </a:buClr>
              <a:buSzPts val="710"/>
              <a:buFont typeface="Arial"/>
              <a:buNone/>
            </a:pPr>
            <a:r>
              <a:t/>
            </a:r>
            <a:endParaRPr sz="610">
              <a:solidFill>
                <a:srgbClr val="173A63"/>
              </a:solidFill>
            </a:endParaRPr>
          </a:p>
        </p:txBody>
      </p:sp>
      <p:sp>
        <p:nvSpPr>
          <p:cNvPr id="602" name="Google Shape;602;p22"/>
          <p:cNvSpPr/>
          <p:nvPr/>
        </p:nvSpPr>
        <p:spPr>
          <a:xfrm>
            <a:off x="3063425" y="8915375"/>
            <a:ext cx="896100" cy="347400"/>
          </a:xfrm>
          <a:prstGeom prst="rect">
            <a:avLst/>
          </a:prstGeom>
          <a:noFill/>
          <a:ln>
            <a:noFill/>
          </a:ln>
        </p:spPr>
        <p:txBody>
          <a:bodyPr anchorCtr="0" anchor="t" bIns="375" lIns="375" spcFirstLastPara="1" rIns="375" wrap="square" tIns="37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73A63"/>
              </a:buClr>
              <a:buSzPts val="710"/>
              <a:buFont typeface="Arial"/>
              <a:buNone/>
            </a:pPr>
            <a:r>
              <a:rPr lang="fr" sz="750">
                <a:solidFill>
                  <a:srgbClr val="085041"/>
                </a:solidFill>
                <a:highlight>
                  <a:srgbClr val="E1F5EE"/>
                </a:highlight>
                <a:latin typeface="Roboto"/>
                <a:ea typeface="Roboto"/>
                <a:cs typeface="Roboto"/>
                <a:sym typeface="Roboto"/>
              </a:rPr>
              <a:t>Scanners </a:t>
            </a:r>
            <a:r>
              <a:rPr lang="fr" sz="750">
                <a:solidFill>
                  <a:srgbClr val="085041"/>
                </a:solidFill>
                <a:highlight>
                  <a:srgbClr val="E1F5EE"/>
                </a:highlight>
                <a:latin typeface="Roboto"/>
                <a:ea typeface="Roboto"/>
                <a:cs typeface="Roboto"/>
                <a:sym typeface="Roboto"/>
              </a:rPr>
              <a:t>c</a:t>
            </a:r>
            <a:r>
              <a:rPr lang="fr" sz="750">
                <a:solidFill>
                  <a:srgbClr val="085041"/>
                </a:solidFill>
                <a:highlight>
                  <a:srgbClr val="E1F5EE"/>
                </a:highlight>
                <a:latin typeface="Roboto"/>
                <a:ea typeface="Roboto"/>
                <a:cs typeface="Roboto"/>
                <a:sym typeface="Roboto"/>
              </a:rPr>
              <a:t>odes-barres / QR</a:t>
            </a:r>
            <a:r>
              <a:rPr lang="fr" sz="1000">
                <a:solidFill>
                  <a:schemeClr val="dk1"/>
                </a:solidFill>
              </a:rPr>
              <a:t> </a:t>
            </a:r>
            <a:endParaRPr sz="510">
              <a:solidFill>
                <a:srgbClr val="173A63"/>
              </a:solidFill>
            </a:endParaRPr>
          </a:p>
        </p:txBody>
      </p:sp>
      <p:sp>
        <p:nvSpPr>
          <p:cNvPr id="603" name="Google Shape;603;p22"/>
          <p:cNvSpPr/>
          <p:nvPr/>
        </p:nvSpPr>
        <p:spPr>
          <a:xfrm>
            <a:off x="4206375" y="8952175"/>
            <a:ext cx="896100" cy="347400"/>
          </a:xfrm>
          <a:prstGeom prst="rect">
            <a:avLst/>
          </a:prstGeom>
          <a:noFill/>
          <a:ln>
            <a:noFill/>
          </a:ln>
        </p:spPr>
        <p:txBody>
          <a:bodyPr anchorCtr="0" anchor="t" bIns="375" lIns="375" spcFirstLastPara="1" rIns="375" wrap="square" tIns="37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73A63"/>
              </a:buClr>
              <a:buSzPts val="710"/>
              <a:buFont typeface="Arial"/>
              <a:buNone/>
            </a:pPr>
            <a:r>
              <a:rPr lang="fr" sz="850">
                <a:solidFill>
                  <a:srgbClr val="085041"/>
                </a:solidFill>
                <a:highlight>
                  <a:srgbClr val="E1F5EE"/>
                </a:highlight>
                <a:latin typeface="Roboto"/>
                <a:ea typeface="Roboto"/>
                <a:cs typeface="Roboto"/>
                <a:sym typeface="Roboto"/>
              </a:rPr>
              <a:t>Caméras / vision</a:t>
            </a:r>
            <a:r>
              <a:rPr lang="fr" sz="1100">
                <a:solidFill>
                  <a:schemeClr val="dk1"/>
                </a:solidFill>
              </a:rPr>
              <a:t> </a:t>
            </a:r>
            <a:endParaRPr sz="510">
              <a:solidFill>
                <a:srgbClr val="173A63"/>
              </a:solidFill>
            </a:endParaRPr>
          </a:p>
        </p:txBody>
      </p:sp>
      <p:sp>
        <p:nvSpPr>
          <p:cNvPr id="604" name="Google Shape;604;p22"/>
          <p:cNvSpPr/>
          <p:nvPr/>
        </p:nvSpPr>
        <p:spPr>
          <a:xfrm>
            <a:off x="5481938" y="8915475"/>
            <a:ext cx="896100" cy="347400"/>
          </a:xfrm>
          <a:prstGeom prst="rect">
            <a:avLst/>
          </a:prstGeom>
          <a:noFill/>
          <a:ln>
            <a:noFill/>
          </a:ln>
        </p:spPr>
        <p:txBody>
          <a:bodyPr anchorCtr="0" anchor="t" bIns="375" lIns="375" spcFirstLastPara="1" rIns="375" wrap="square" tIns="375">
            <a:noAutofit/>
          </a:bodyPr>
          <a:lstStyle/>
          <a:p>
            <a:pPr indent="0" lvl="0" marL="63500" marR="6350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fr" sz="850">
                <a:solidFill>
                  <a:srgbClr val="085041"/>
                </a:solidFill>
                <a:highlight>
                  <a:srgbClr val="E1F5EE"/>
                </a:highlight>
                <a:latin typeface="Roboto"/>
                <a:ea typeface="Roboto"/>
                <a:cs typeface="Roboto"/>
                <a:sym typeface="Roboto"/>
              </a:rPr>
              <a:t>Balances / pesage</a:t>
            </a:r>
            <a:endParaRPr sz="850">
              <a:solidFill>
                <a:srgbClr val="085041"/>
              </a:solidFill>
              <a:highlight>
                <a:srgbClr val="E1F5EE"/>
              </a:highlight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1100">
              <a:solidFill>
                <a:schemeClr val="dk1"/>
              </a:solidFill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73A63"/>
              </a:buClr>
              <a:buSzPts val="710"/>
              <a:buFont typeface="Arial"/>
              <a:buNone/>
            </a:pPr>
            <a:r>
              <a:t/>
            </a:r>
            <a:endParaRPr sz="850">
              <a:solidFill>
                <a:srgbClr val="085041"/>
              </a:solidFill>
              <a:highlight>
                <a:srgbClr val="E1F5EE"/>
              </a:highlight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605" name="Google Shape;605;p22"/>
          <p:cNvSpPr/>
          <p:nvPr/>
        </p:nvSpPr>
        <p:spPr>
          <a:xfrm>
            <a:off x="4206375" y="8952175"/>
            <a:ext cx="896100" cy="347400"/>
          </a:xfrm>
          <a:prstGeom prst="rect">
            <a:avLst/>
          </a:prstGeom>
          <a:noFill/>
          <a:ln>
            <a:noFill/>
          </a:ln>
        </p:spPr>
        <p:txBody>
          <a:bodyPr anchorCtr="0" anchor="t" bIns="375" lIns="375" spcFirstLastPara="1" rIns="375" wrap="square" tIns="37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73A63"/>
              </a:buClr>
              <a:buSzPts val="710"/>
              <a:buFont typeface="Arial"/>
              <a:buNone/>
            </a:pPr>
            <a:r>
              <a:rPr lang="fr" sz="850">
                <a:solidFill>
                  <a:srgbClr val="085041"/>
                </a:solidFill>
                <a:highlight>
                  <a:srgbClr val="E1F5EE"/>
                </a:highlight>
                <a:latin typeface="Roboto"/>
                <a:ea typeface="Roboto"/>
                <a:cs typeface="Roboto"/>
                <a:sym typeface="Roboto"/>
              </a:rPr>
              <a:t>Caméras / vision</a:t>
            </a:r>
            <a:r>
              <a:rPr lang="fr" sz="1100">
                <a:solidFill>
                  <a:schemeClr val="dk1"/>
                </a:solidFill>
              </a:rPr>
              <a:t> </a:t>
            </a:r>
            <a:endParaRPr sz="510">
              <a:solidFill>
                <a:srgbClr val="173A63"/>
              </a:solidFill>
            </a:endParaRPr>
          </a:p>
        </p:txBody>
      </p:sp>
      <p:sp>
        <p:nvSpPr>
          <p:cNvPr id="606" name="Google Shape;606;p22"/>
          <p:cNvSpPr/>
          <p:nvPr/>
        </p:nvSpPr>
        <p:spPr>
          <a:xfrm>
            <a:off x="6711863" y="8888075"/>
            <a:ext cx="896100" cy="347400"/>
          </a:xfrm>
          <a:prstGeom prst="rect">
            <a:avLst/>
          </a:prstGeom>
          <a:noFill/>
          <a:ln>
            <a:noFill/>
          </a:ln>
        </p:spPr>
        <p:txBody>
          <a:bodyPr anchorCtr="0" anchor="t" bIns="375" lIns="375" spcFirstLastPara="1" rIns="375" wrap="square" tIns="375">
            <a:noAutofit/>
          </a:bodyPr>
          <a:lstStyle/>
          <a:p>
            <a:pPr indent="0" lvl="0" marL="63500" marR="6350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fr" sz="850">
                <a:solidFill>
                  <a:srgbClr val="085041"/>
                </a:solidFill>
                <a:highlight>
                  <a:srgbClr val="E1F5EE"/>
                </a:highlight>
                <a:latin typeface="Roboto"/>
                <a:ea typeface="Roboto"/>
                <a:cs typeface="Roboto"/>
                <a:sym typeface="Roboto"/>
              </a:rPr>
              <a:t>Pick-to-Light / Put-to-Light</a:t>
            </a:r>
            <a:endParaRPr sz="850">
              <a:solidFill>
                <a:srgbClr val="085041"/>
              </a:solidFill>
              <a:highlight>
                <a:srgbClr val="E1F5EE"/>
              </a:highlight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1100">
              <a:solidFill>
                <a:schemeClr val="dk1"/>
              </a:solidFill>
            </a:endParaRPr>
          </a:p>
          <a:p>
            <a:pPr indent="0" lvl="0" marL="63500" marR="6350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850">
              <a:solidFill>
                <a:srgbClr val="085041"/>
              </a:solidFill>
              <a:highlight>
                <a:srgbClr val="E1F5EE"/>
              </a:highlight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1100">
              <a:solidFill>
                <a:schemeClr val="dk1"/>
              </a:solidFill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73A63"/>
              </a:buClr>
              <a:buSzPts val="710"/>
              <a:buFont typeface="Arial"/>
              <a:buNone/>
            </a:pPr>
            <a:r>
              <a:t/>
            </a:r>
            <a:endParaRPr sz="850">
              <a:solidFill>
                <a:srgbClr val="085041"/>
              </a:solidFill>
              <a:highlight>
                <a:srgbClr val="E1F5EE"/>
              </a:highlight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607" name="Google Shape;607;p22"/>
          <p:cNvSpPr/>
          <p:nvPr/>
        </p:nvSpPr>
        <p:spPr>
          <a:xfrm>
            <a:off x="1897538" y="9537400"/>
            <a:ext cx="896100" cy="347400"/>
          </a:xfrm>
          <a:prstGeom prst="rect">
            <a:avLst/>
          </a:prstGeom>
          <a:noFill/>
          <a:ln>
            <a:noFill/>
          </a:ln>
        </p:spPr>
        <p:txBody>
          <a:bodyPr anchorCtr="0" anchor="t" bIns="375" lIns="375" spcFirstLastPara="1" rIns="375" wrap="square" tIns="375">
            <a:noAutofit/>
          </a:bodyPr>
          <a:lstStyle/>
          <a:p>
            <a:pPr indent="0" lvl="0" marL="63500" marR="6350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fr" sz="850">
                <a:solidFill>
                  <a:srgbClr val="085041"/>
                </a:solidFill>
                <a:highlight>
                  <a:srgbClr val="E1F5EE"/>
                </a:highlight>
                <a:latin typeface="Roboto"/>
                <a:ea typeface="Roboto"/>
                <a:cs typeface="Roboto"/>
                <a:sym typeface="Roboto"/>
              </a:rPr>
              <a:t>Lecteurs RFID</a:t>
            </a:r>
            <a:endParaRPr sz="850">
              <a:solidFill>
                <a:srgbClr val="085041"/>
              </a:solidFill>
              <a:highlight>
                <a:srgbClr val="E1F5EE"/>
              </a:highlight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1100">
              <a:solidFill>
                <a:schemeClr val="dk1"/>
              </a:solidFill>
            </a:endParaRPr>
          </a:p>
          <a:p>
            <a:pPr indent="0" lvl="0" marL="63500" marR="6350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850">
              <a:solidFill>
                <a:srgbClr val="085041"/>
              </a:solidFill>
              <a:highlight>
                <a:srgbClr val="E1F5EE"/>
              </a:highlight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1100">
              <a:solidFill>
                <a:schemeClr val="dk1"/>
              </a:solidFill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73A63"/>
              </a:buClr>
              <a:buSzPts val="710"/>
              <a:buFont typeface="Arial"/>
              <a:buNone/>
            </a:pPr>
            <a:r>
              <a:t/>
            </a:r>
            <a:endParaRPr sz="850">
              <a:solidFill>
                <a:srgbClr val="085041"/>
              </a:solidFill>
              <a:highlight>
                <a:srgbClr val="E1F5EE"/>
              </a:highlight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608" name="Google Shape;608;p22"/>
          <p:cNvSpPr/>
          <p:nvPr/>
        </p:nvSpPr>
        <p:spPr>
          <a:xfrm>
            <a:off x="3132025" y="9528250"/>
            <a:ext cx="896100" cy="347400"/>
          </a:xfrm>
          <a:prstGeom prst="rect">
            <a:avLst/>
          </a:prstGeom>
          <a:noFill/>
          <a:ln>
            <a:noFill/>
          </a:ln>
        </p:spPr>
        <p:txBody>
          <a:bodyPr anchorCtr="0" anchor="t" bIns="375" lIns="375" spcFirstLastPara="1" rIns="375" wrap="square" tIns="37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73A63"/>
              </a:buClr>
              <a:buSzPts val="710"/>
              <a:buFont typeface="Arial"/>
              <a:buNone/>
            </a:pPr>
            <a:r>
              <a:rPr lang="fr" sz="750">
                <a:solidFill>
                  <a:srgbClr val="085041"/>
                </a:solidFill>
                <a:highlight>
                  <a:srgbClr val="E1F5EE"/>
                </a:highlight>
                <a:latin typeface="Roboto"/>
                <a:ea typeface="Roboto"/>
                <a:cs typeface="Roboto"/>
                <a:sym typeface="Roboto"/>
              </a:rPr>
              <a:t>capteurs</a:t>
            </a:r>
            <a:endParaRPr sz="510">
              <a:solidFill>
                <a:srgbClr val="173A63"/>
              </a:solidFill>
            </a:endParaRPr>
          </a:p>
        </p:txBody>
      </p:sp>
      <p:sp>
        <p:nvSpPr>
          <p:cNvPr id="609" name="Google Shape;609;p22"/>
          <p:cNvSpPr/>
          <p:nvPr/>
        </p:nvSpPr>
        <p:spPr>
          <a:xfrm>
            <a:off x="4149925" y="9482450"/>
            <a:ext cx="896100" cy="347400"/>
          </a:xfrm>
          <a:prstGeom prst="rect">
            <a:avLst/>
          </a:prstGeom>
          <a:noFill/>
          <a:ln>
            <a:noFill/>
          </a:ln>
        </p:spPr>
        <p:txBody>
          <a:bodyPr anchorCtr="0" anchor="t" bIns="375" lIns="375" spcFirstLastPara="1" rIns="375" wrap="square" tIns="375">
            <a:noAutofit/>
          </a:bodyPr>
          <a:lstStyle/>
          <a:p>
            <a:pPr indent="0" lvl="0" marL="63500" marR="6350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fr" sz="850">
                <a:solidFill>
                  <a:srgbClr val="085041"/>
                </a:solidFill>
                <a:highlight>
                  <a:srgbClr val="E1F5EE"/>
                </a:highlight>
                <a:latin typeface="Roboto"/>
                <a:ea typeface="Roboto"/>
                <a:cs typeface="Roboto"/>
                <a:sym typeface="Roboto"/>
              </a:rPr>
              <a:t>Systèmes vocaux</a:t>
            </a:r>
            <a:endParaRPr sz="850">
              <a:solidFill>
                <a:srgbClr val="085041"/>
              </a:solidFill>
              <a:highlight>
                <a:srgbClr val="E1F5EE"/>
              </a:highlight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1100">
              <a:solidFill>
                <a:schemeClr val="dk1"/>
              </a:solidFill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73A63"/>
              </a:buClr>
              <a:buSzPts val="710"/>
              <a:buFont typeface="Arial"/>
              <a:buNone/>
            </a:pPr>
            <a:r>
              <a:t/>
            </a:r>
            <a:endParaRPr sz="750">
              <a:solidFill>
                <a:srgbClr val="085041"/>
              </a:solidFill>
              <a:highlight>
                <a:srgbClr val="E1F5EE"/>
              </a:highlight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610" name="Google Shape;610;p22"/>
          <p:cNvSpPr/>
          <p:nvPr/>
        </p:nvSpPr>
        <p:spPr>
          <a:xfrm>
            <a:off x="5448300" y="9491500"/>
            <a:ext cx="896100" cy="347400"/>
          </a:xfrm>
          <a:prstGeom prst="rect">
            <a:avLst/>
          </a:prstGeom>
          <a:noFill/>
          <a:ln>
            <a:noFill/>
          </a:ln>
        </p:spPr>
        <p:txBody>
          <a:bodyPr anchorCtr="0" anchor="t" bIns="375" lIns="375" spcFirstLastPara="1" rIns="375" wrap="square" tIns="375">
            <a:noAutofit/>
          </a:bodyPr>
          <a:lstStyle/>
          <a:p>
            <a:pPr indent="0" lvl="0" marL="63500" marR="6350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fr" sz="850">
                <a:solidFill>
                  <a:srgbClr val="085041"/>
                </a:solidFill>
                <a:highlight>
                  <a:srgbClr val="E1F5EE"/>
                </a:highlight>
                <a:latin typeface="Roboto"/>
                <a:ea typeface="Roboto"/>
                <a:cs typeface="Roboto"/>
                <a:sym typeface="Roboto"/>
              </a:rPr>
              <a:t>Smartphone / Tablet</a:t>
            </a:r>
            <a:endParaRPr sz="850">
              <a:solidFill>
                <a:srgbClr val="085041"/>
              </a:solidFill>
              <a:highlight>
                <a:srgbClr val="E1F5EE"/>
              </a:highlight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1100">
              <a:solidFill>
                <a:schemeClr val="dk1"/>
              </a:solidFill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73A63"/>
              </a:buClr>
              <a:buSzPts val="710"/>
              <a:buFont typeface="Arial"/>
              <a:buNone/>
            </a:pPr>
            <a:r>
              <a:t/>
            </a:r>
            <a:endParaRPr sz="750">
              <a:solidFill>
                <a:srgbClr val="085041"/>
              </a:solidFill>
              <a:highlight>
                <a:srgbClr val="E1F5EE"/>
              </a:highlight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611" name="Google Shape;611;p22"/>
          <p:cNvSpPr/>
          <p:nvPr/>
        </p:nvSpPr>
        <p:spPr>
          <a:xfrm>
            <a:off x="6711875" y="9481350"/>
            <a:ext cx="896100" cy="347400"/>
          </a:xfrm>
          <a:prstGeom prst="rect">
            <a:avLst/>
          </a:prstGeom>
          <a:noFill/>
          <a:ln>
            <a:noFill/>
          </a:ln>
        </p:spPr>
        <p:txBody>
          <a:bodyPr anchorCtr="0" anchor="t" bIns="375" lIns="375" spcFirstLastPara="1" rIns="375" wrap="square" tIns="375">
            <a:noAutofit/>
          </a:bodyPr>
          <a:lstStyle/>
          <a:p>
            <a:pPr indent="0" lvl="0" marL="63500" marR="6350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fr" sz="850">
                <a:solidFill>
                  <a:srgbClr val="085041"/>
                </a:solidFill>
                <a:highlight>
                  <a:srgbClr val="E1F5EE"/>
                </a:highlight>
                <a:latin typeface="Roboto"/>
                <a:ea typeface="Roboto"/>
                <a:cs typeface="Roboto"/>
                <a:sym typeface="Roboto"/>
              </a:rPr>
              <a:t>Vehicle terminal</a:t>
            </a:r>
            <a:endParaRPr sz="850">
              <a:solidFill>
                <a:srgbClr val="085041"/>
              </a:solidFill>
              <a:highlight>
                <a:srgbClr val="E1F5EE"/>
              </a:highlight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1100">
              <a:solidFill>
                <a:schemeClr val="dk1"/>
              </a:solidFill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73A63"/>
              </a:buClr>
              <a:buSzPts val="710"/>
              <a:buFont typeface="Arial"/>
              <a:buNone/>
            </a:pPr>
            <a:r>
              <a:t/>
            </a:r>
            <a:endParaRPr sz="750">
              <a:solidFill>
                <a:srgbClr val="085041"/>
              </a:solidFill>
              <a:highlight>
                <a:srgbClr val="E1F5EE"/>
              </a:highlight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612" name="Google Shape;612;p22"/>
          <p:cNvSpPr/>
          <p:nvPr/>
        </p:nvSpPr>
        <p:spPr>
          <a:xfrm>
            <a:off x="4441650" y="5730250"/>
            <a:ext cx="1369800" cy="1056900"/>
          </a:xfrm>
          <a:prstGeom prst="roundRect">
            <a:avLst>
              <a:gd fmla="val 2985" name="adj"/>
            </a:avLst>
          </a:prstGeom>
          <a:solidFill>
            <a:srgbClr val="F7FBF5"/>
          </a:solidFill>
          <a:ln cap="flat" cmpd="sng" w="7800">
            <a:solidFill>
              <a:srgbClr val="79A96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75250" lIns="75250" spcFirstLastPara="1" rIns="75250" wrap="square" tIns="7525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13" name="Google Shape;613;p22"/>
          <p:cNvSpPr/>
          <p:nvPr/>
        </p:nvSpPr>
        <p:spPr>
          <a:xfrm>
            <a:off x="4494283" y="5787334"/>
            <a:ext cx="1249500" cy="21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00" lIns="300" spcFirstLastPara="1" rIns="300" wrap="square" tIns="3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79A96B"/>
              </a:buClr>
              <a:buSzPts val="494"/>
              <a:buFont typeface="Arial"/>
              <a:buNone/>
            </a:pPr>
            <a:r>
              <a:rPr b="1" lang="fr" sz="494">
                <a:solidFill>
                  <a:srgbClr val="79A96B"/>
                </a:solidFill>
              </a:rPr>
              <a:t>GESTION ÉNERGÉTIQUE &amp; ENVIRONNEMENTALE </a:t>
            </a:r>
            <a:endParaRPr b="0" i="0" sz="494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14" name="Google Shape;614;p22"/>
          <p:cNvSpPr/>
          <p:nvPr/>
        </p:nvSpPr>
        <p:spPr>
          <a:xfrm>
            <a:off x="4622223" y="5983132"/>
            <a:ext cx="1113900" cy="808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00" lIns="300" spcFirstLastPara="1" rIns="300" wrap="square" tIns="3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366">
              <a:solidFill>
                <a:srgbClr val="263442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fr" sz="366">
                <a:solidFill>
                  <a:srgbClr val="263442"/>
                </a:solidFill>
              </a:rPr>
              <a:t>Consommation électrique par zone</a:t>
            </a:r>
            <a:endParaRPr sz="366">
              <a:solidFill>
                <a:srgbClr val="263442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366">
              <a:solidFill>
                <a:srgbClr val="263442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fr" sz="366">
                <a:solidFill>
                  <a:srgbClr val="263442"/>
                </a:solidFill>
              </a:rPr>
              <a:t>Consommation des équipements</a:t>
            </a:r>
            <a:endParaRPr sz="366">
              <a:solidFill>
                <a:srgbClr val="263442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366">
              <a:solidFill>
                <a:srgbClr val="263442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fr" sz="366">
                <a:solidFill>
                  <a:srgbClr val="263442"/>
                </a:solidFill>
              </a:rPr>
              <a:t>Température / humidité</a:t>
            </a:r>
            <a:endParaRPr sz="366">
              <a:solidFill>
                <a:srgbClr val="263442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366">
              <a:solidFill>
                <a:srgbClr val="263442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fr" sz="366">
                <a:solidFill>
                  <a:srgbClr val="263442"/>
                </a:solidFill>
              </a:rPr>
              <a:t>Seuils &amp; consignes</a:t>
            </a:r>
            <a:endParaRPr sz="366">
              <a:solidFill>
                <a:srgbClr val="263442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366">
              <a:solidFill>
                <a:srgbClr val="263442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fr" sz="366">
                <a:solidFill>
                  <a:srgbClr val="263442"/>
                </a:solidFill>
              </a:rPr>
              <a:t>Modes marche / veille / arrêt</a:t>
            </a:r>
            <a:endParaRPr sz="366">
              <a:solidFill>
                <a:srgbClr val="263442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366">
              <a:solidFill>
                <a:srgbClr val="263442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fr" sz="366">
                <a:solidFill>
                  <a:srgbClr val="263442"/>
                </a:solidFill>
              </a:rPr>
              <a:t>Suivi des pics de consommation</a:t>
            </a:r>
            <a:endParaRPr sz="366">
              <a:solidFill>
                <a:srgbClr val="263442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366">
              <a:solidFill>
                <a:srgbClr val="263442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fr" sz="366">
                <a:solidFill>
                  <a:srgbClr val="263442"/>
                </a:solidFill>
              </a:rPr>
              <a:t>Historique énergétique</a:t>
            </a:r>
            <a:endParaRPr sz="366">
              <a:solidFill>
                <a:srgbClr val="263442"/>
              </a:solidFill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63442"/>
              </a:buClr>
              <a:buSzPts val="365"/>
              <a:buFont typeface="Arial"/>
              <a:buNone/>
            </a:pPr>
            <a:r>
              <a:t/>
            </a:r>
            <a:endParaRPr sz="366">
              <a:solidFill>
                <a:srgbClr val="263442"/>
              </a:solidFill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7FAFE"/>
        </a:solidFill>
      </p:bgPr>
    </p:bg>
    <p:spTree>
      <p:nvGrpSpPr>
        <p:cNvPr id="619" name="Shape 6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0" name="Google Shape;620;p23"/>
          <p:cNvSpPr/>
          <p:nvPr/>
        </p:nvSpPr>
        <p:spPr>
          <a:xfrm>
            <a:off x="240036" y="96012"/>
            <a:ext cx="8641500" cy="246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200" lIns="200" spcFirstLastPara="1" rIns="200" wrap="square" tIns="2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B376D"/>
              </a:buClr>
              <a:buSzPts val="1700"/>
              <a:buFont typeface="Play"/>
              <a:buNone/>
            </a:pPr>
            <a:r>
              <a:rPr b="1" i="0" lang="fr" sz="1700" u="none" cap="none" strike="noStrike">
                <a:solidFill>
                  <a:srgbClr val="0B376D"/>
                </a:solidFill>
                <a:latin typeface="Play"/>
                <a:ea typeface="Play"/>
                <a:cs typeface="Play"/>
                <a:sym typeface="Play"/>
              </a:rPr>
              <a:t>USE CASES SMART WMS — CARTE GLOBALE</a:t>
            </a:r>
            <a:endParaRPr b="0" i="0" sz="17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21" name="Google Shape;621;p23"/>
          <p:cNvSpPr/>
          <p:nvPr/>
        </p:nvSpPr>
        <p:spPr>
          <a:xfrm>
            <a:off x="514364" y="356616"/>
            <a:ext cx="8092500" cy="171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200" lIns="200" spcFirstLastPara="1" rIns="200" wrap="square" tIns="2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5B677A"/>
              </a:buClr>
              <a:buSzPts val="800"/>
              <a:buFont typeface="Arial"/>
              <a:buNone/>
            </a:pPr>
            <a:r>
              <a:rPr b="0" i="0" lang="fr" sz="800" u="none" cap="none" strike="noStrike">
                <a:solidFill>
                  <a:srgbClr val="5B677A"/>
                </a:solidFill>
                <a:latin typeface="Arial"/>
                <a:ea typeface="Arial"/>
                <a:cs typeface="Arial"/>
                <a:sym typeface="Arial"/>
              </a:rPr>
              <a:t>18 cas d’usage structurés par processus : ce qui est fait, avec quels dispositifs, et pour quel bénéfice</a:t>
            </a:r>
            <a:endParaRPr b="0" i="0" sz="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622" name="Google Shape;622;p23"/>
          <p:cNvCxnSpPr/>
          <p:nvPr/>
        </p:nvCxnSpPr>
        <p:spPr>
          <a:xfrm>
            <a:off x="308618" y="603504"/>
            <a:ext cx="8538600" cy="0"/>
          </a:xfrm>
          <a:prstGeom prst="straightConnector1">
            <a:avLst/>
          </a:prstGeom>
          <a:noFill/>
          <a:ln cap="flat" cmpd="sng" w="9525">
            <a:solidFill>
              <a:srgbClr val="B8C7D9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623" name="Google Shape;623;p23"/>
          <p:cNvSpPr/>
          <p:nvPr/>
        </p:nvSpPr>
        <p:spPr>
          <a:xfrm>
            <a:off x="240036" y="706374"/>
            <a:ext cx="2709000" cy="445800"/>
          </a:xfrm>
          <a:prstGeom prst="roundRect">
            <a:avLst>
              <a:gd fmla="val 20000" name="adj"/>
            </a:avLst>
          </a:prstGeom>
          <a:solidFill>
            <a:srgbClr val="D92525"/>
          </a:solidFill>
          <a:ln cap="flat" cmpd="sng" w="9525">
            <a:solidFill>
              <a:srgbClr val="D9252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24" name="Google Shape;624;p23"/>
          <p:cNvSpPr/>
          <p:nvPr/>
        </p:nvSpPr>
        <p:spPr>
          <a:xfrm>
            <a:off x="336051" y="754380"/>
            <a:ext cx="342900" cy="363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200" lIns="200" spcFirstLastPara="1" rIns="200" wrap="square" tIns="2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Quattrocento Sans"/>
              <a:buNone/>
            </a:pPr>
            <a:r>
              <a:rPr b="0" i="0" lang="fr" sz="1400" u="none" cap="none" strike="noStrike">
                <a:solidFill>
                  <a:srgbClr val="FFFFFF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🚚</a:t>
            </a:r>
            <a:endParaRPr b="0" i="0" sz="1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25" name="Google Shape;625;p23"/>
          <p:cNvSpPr/>
          <p:nvPr/>
        </p:nvSpPr>
        <p:spPr>
          <a:xfrm>
            <a:off x="733826" y="761238"/>
            <a:ext cx="2146500" cy="171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200" lIns="200" spcFirstLastPara="1" rIns="200" wrap="square" tIns="2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Play"/>
              <a:buNone/>
            </a:pPr>
            <a:r>
              <a:rPr b="1" i="0" lang="fr" sz="1000" u="none" cap="none" strike="noStrike">
                <a:solidFill>
                  <a:srgbClr val="FFFFFF"/>
                </a:solidFill>
                <a:latin typeface="Play"/>
                <a:ea typeface="Play"/>
                <a:cs typeface="Play"/>
                <a:sym typeface="Play"/>
              </a:rPr>
              <a:t>RÉCEPTION</a:t>
            </a:r>
            <a:endParaRPr b="0" i="0" sz="10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26" name="Google Shape;626;p23"/>
          <p:cNvSpPr/>
          <p:nvPr/>
        </p:nvSpPr>
        <p:spPr>
          <a:xfrm>
            <a:off x="733826" y="973836"/>
            <a:ext cx="2146500" cy="137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200" lIns="200" spcFirstLastPara="1" rIns="200" wrap="square" tIns="2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600"/>
              <a:buFont typeface="Arial"/>
              <a:buNone/>
            </a:pPr>
            <a:r>
              <a:rPr b="0" i="0" lang="fr" sz="6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Faire entrer juste et vite</a:t>
            </a:r>
            <a:endParaRPr b="0" i="0" sz="6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27" name="Google Shape;627;p23"/>
          <p:cNvSpPr/>
          <p:nvPr/>
        </p:nvSpPr>
        <p:spPr>
          <a:xfrm>
            <a:off x="240036" y="1200150"/>
            <a:ext cx="2709000" cy="3312600"/>
          </a:xfrm>
          <a:prstGeom prst="roundRect">
            <a:avLst>
              <a:gd fmla="val 3038" name="adj"/>
            </a:avLst>
          </a:prstGeom>
          <a:solidFill>
            <a:srgbClr val="FFFFFF"/>
          </a:solidFill>
          <a:ln cap="flat" cmpd="sng" w="8575">
            <a:solidFill>
              <a:srgbClr val="D9252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28" name="Google Shape;628;p23"/>
          <p:cNvSpPr/>
          <p:nvPr/>
        </p:nvSpPr>
        <p:spPr>
          <a:xfrm>
            <a:off x="336051" y="1282446"/>
            <a:ext cx="2517000" cy="483600"/>
          </a:xfrm>
          <a:prstGeom prst="roundRect">
            <a:avLst>
              <a:gd fmla="val 14184" name="adj"/>
            </a:avLst>
          </a:prstGeom>
          <a:solidFill>
            <a:srgbClr val="FDECEC"/>
          </a:solidFill>
          <a:ln cap="flat" cmpd="sng" w="8575">
            <a:solidFill>
              <a:srgbClr val="D9252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29" name="Google Shape;629;p23"/>
          <p:cNvSpPr/>
          <p:nvPr/>
        </p:nvSpPr>
        <p:spPr>
          <a:xfrm>
            <a:off x="390916" y="1337310"/>
            <a:ext cx="171600" cy="123600"/>
          </a:xfrm>
          <a:prstGeom prst="roundRect">
            <a:avLst>
              <a:gd fmla="val 66667" name="adj"/>
            </a:avLst>
          </a:prstGeom>
          <a:solidFill>
            <a:srgbClr val="D92525"/>
          </a:solidFill>
          <a:ln cap="flat" cmpd="sng" w="8575">
            <a:solidFill>
              <a:srgbClr val="D9252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30" name="Google Shape;630;p23"/>
          <p:cNvSpPr/>
          <p:nvPr/>
        </p:nvSpPr>
        <p:spPr>
          <a:xfrm>
            <a:off x="418349" y="1337310"/>
            <a:ext cx="116700" cy="12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200" lIns="200" spcFirstLastPara="1" rIns="200" wrap="square" tIns="2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500"/>
              <a:buFont typeface="Arial"/>
              <a:buNone/>
            </a:pPr>
            <a:r>
              <a:rPr b="1" i="0" lang="fr" sz="5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1</a:t>
            </a:r>
            <a:endParaRPr b="0" i="0" sz="5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31" name="Google Shape;631;p23"/>
          <p:cNvSpPr/>
          <p:nvPr/>
        </p:nvSpPr>
        <p:spPr>
          <a:xfrm>
            <a:off x="610378" y="1296162"/>
            <a:ext cx="2194800" cy="456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200" lIns="200" spcFirstLastPara="1" rIns="200" wrap="square" tIns="2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11827"/>
              </a:buClr>
              <a:buSzPts val="600"/>
              <a:buFont typeface="Arial"/>
              <a:buNone/>
            </a:pPr>
            <a:r>
              <a:rPr b="1" i="0" lang="fr" sz="600" u="none" cap="none" strike="noStrike">
                <a:solidFill>
                  <a:srgbClr val="111827"/>
                </a:solidFill>
                <a:latin typeface="Arial"/>
                <a:ea typeface="Arial"/>
                <a:cs typeface="Arial"/>
                <a:sym typeface="Arial"/>
              </a:rPr>
              <a:t>Camion → tapis roulant → scan automatique</a:t>
            </a:r>
            <a:endParaRPr b="0" i="0" sz="6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32" name="Google Shape;632;p23"/>
          <p:cNvSpPr/>
          <p:nvPr/>
        </p:nvSpPr>
        <p:spPr>
          <a:xfrm>
            <a:off x="336051" y="1820799"/>
            <a:ext cx="2517000" cy="483600"/>
          </a:xfrm>
          <a:prstGeom prst="roundRect">
            <a:avLst>
              <a:gd fmla="val 14184" name="adj"/>
            </a:avLst>
          </a:prstGeom>
          <a:solidFill>
            <a:srgbClr val="FDECEC"/>
          </a:solidFill>
          <a:ln cap="flat" cmpd="sng" w="8575">
            <a:solidFill>
              <a:srgbClr val="D9252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33" name="Google Shape;633;p23"/>
          <p:cNvSpPr/>
          <p:nvPr/>
        </p:nvSpPr>
        <p:spPr>
          <a:xfrm>
            <a:off x="390916" y="1875663"/>
            <a:ext cx="171600" cy="123600"/>
          </a:xfrm>
          <a:prstGeom prst="roundRect">
            <a:avLst>
              <a:gd fmla="val 66667" name="adj"/>
            </a:avLst>
          </a:prstGeom>
          <a:solidFill>
            <a:srgbClr val="D92525"/>
          </a:solidFill>
          <a:ln cap="flat" cmpd="sng" w="8575">
            <a:solidFill>
              <a:srgbClr val="D9252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34" name="Google Shape;634;p23"/>
          <p:cNvSpPr/>
          <p:nvPr/>
        </p:nvSpPr>
        <p:spPr>
          <a:xfrm>
            <a:off x="418349" y="1875663"/>
            <a:ext cx="116700" cy="12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200" lIns="200" spcFirstLastPara="1" rIns="200" wrap="square" tIns="2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500"/>
              <a:buFont typeface="Arial"/>
              <a:buNone/>
            </a:pPr>
            <a:r>
              <a:rPr b="1" i="0" lang="fr" sz="5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2</a:t>
            </a:r>
            <a:endParaRPr b="0" i="0" sz="5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35" name="Google Shape;635;p23"/>
          <p:cNvSpPr/>
          <p:nvPr/>
        </p:nvSpPr>
        <p:spPr>
          <a:xfrm>
            <a:off x="610378" y="1834515"/>
            <a:ext cx="2194800" cy="456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200" lIns="200" spcFirstLastPara="1" rIns="200" wrap="square" tIns="2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11827"/>
              </a:buClr>
              <a:buSzPts val="600"/>
              <a:buFont typeface="Arial"/>
              <a:buNone/>
            </a:pPr>
            <a:r>
              <a:rPr b="1" i="0" lang="fr" sz="600" u="none" cap="none" strike="noStrike">
                <a:solidFill>
                  <a:srgbClr val="111827"/>
                </a:solidFill>
                <a:latin typeface="Arial"/>
                <a:ea typeface="Arial"/>
                <a:cs typeface="Arial"/>
                <a:sym typeface="Arial"/>
              </a:rPr>
              <a:t>Comptage cartons par caméra 3D</a:t>
            </a:r>
            <a:endParaRPr b="0" i="0" sz="6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36" name="Google Shape;636;p23"/>
          <p:cNvSpPr/>
          <p:nvPr/>
        </p:nvSpPr>
        <p:spPr>
          <a:xfrm>
            <a:off x="336051" y="2359152"/>
            <a:ext cx="2517000" cy="483600"/>
          </a:xfrm>
          <a:prstGeom prst="roundRect">
            <a:avLst>
              <a:gd fmla="val 14184" name="adj"/>
            </a:avLst>
          </a:prstGeom>
          <a:solidFill>
            <a:srgbClr val="FDECEC"/>
          </a:solidFill>
          <a:ln cap="flat" cmpd="sng" w="8575">
            <a:solidFill>
              <a:srgbClr val="D9252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37" name="Google Shape;637;p23"/>
          <p:cNvSpPr/>
          <p:nvPr/>
        </p:nvSpPr>
        <p:spPr>
          <a:xfrm>
            <a:off x="390916" y="2414016"/>
            <a:ext cx="171600" cy="123600"/>
          </a:xfrm>
          <a:prstGeom prst="roundRect">
            <a:avLst>
              <a:gd fmla="val 66667" name="adj"/>
            </a:avLst>
          </a:prstGeom>
          <a:solidFill>
            <a:srgbClr val="D92525"/>
          </a:solidFill>
          <a:ln cap="flat" cmpd="sng" w="8575">
            <a:solidFill>
              <a:srgbClr val="D9252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38" name="Google Shape;638;p23"/>
          <p:cNvSpPr/>
          <p:nvPr/>
        </p:nvSpPr>
        <p:spPr>
          <a:xfrm>
            <a:off x="418349" y="2414016"/>
            <a:ext cx="116700" cy="12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200" lIns="200" spcFirstLastPara="1" rIns="200" wrap="square" tIns="2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500"/>
              <a:buFont typeface="Arial"/>
              <a:buNone/>
            </a:pPr>
            <a:r>
              <a:rPr b="1" i="0" lang="fr" sz="5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3</a:t>
            </a:r>
            <a:endParaRPr b="0" i="0" sz="5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39" name="Google Shape;639;p23"/>
          <p:cNvSpPr/>
          <p:nvPr/>
        </p:nvSpPr>
        <p:spPr>
          <a:xfrm>
            <a:off x="610378" y="2372868"/>
            <a:ext cx="2194800" cy="456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200" lIns="200" spcFirstLastPara="1" rIns="200" wrap="square" tIns="2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11827"/>
              </a:buClr>
              <a:buSzPts val="600"/>
              <a:buFont typeface="Arial"/>
              <a:buNone/>
            </a:pPr>
            <a:r>
              <a:rPr b="1" i="0" lang="fr" sz="600" u="none" cap="none" strike="noStrike">
                <a:solidFill>
                  <a:srgbClr val="111827"/>
                </a:solidFill>
                <a:latin typeface="Arial"/>
                <a:ea typeface="Arial"/>
                <a:cs typeface="Arial"/>
                <a:sym typeface="Arial"/>
              </a:rPr>
              <a:t>Lecture étiquettes par OCR</a:t>
            </a:r>
            <a:endParaRPr b="0" i="0" sz="6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40" name="Google Shape;640;p23"/>
          <p:cNvSpPr/>
          <p:nvPr/>
        </p:nvSpPr>
        <p:spPr>
          <a:xfrm>
            <a:off x="336051" y="2897505"/>
            <a:ext cx="2517000" cy="483600"/>
          </a:xfrm>
          <a:prstGeom prst="roundRect">
            <a:avLst>
              <a:gd fmla="val 14184" name="adj"/>
            </a:avLst>
          </a:prstGeom>
          <a:solidFill>
            <a:srgbClr val="FDECEC"/>
          </a:solidFill>
          <a:ln cap="flat" cmpd="sng" w="8575">
            <a:solidFill>
              <a:srgbClr val="D9252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41" name="Google Shape;641;p23"/>
          <p:cNvSpPr/>
          <p:nvPr/>
        </p:nvSpPr>
        <p:spPr>
          <a:xfrm>
            <a:off x="390916" y="2952369"/>
            <a:ext cx="171600" cy="123600"/>
          </a:xfrm>
          <a:prstGeom prst="roundRect">
            <a:avLst>
              <a:gd fmla="val 66667" name="adj"/>
            </a:avLst>
          </a:prstGeom>
          <a:solidFill>
            <a:srgbClr val="D92525"/>
          </a:solidFill>
          <a:ln cap="flat" cmpd="sng" w="8575">
            <a:solidFill>
              <a:srgbClr val="D9252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42" name="Google Shape;642;p23"/>
          <p:cNvSpPr/>
          <p:nvPr/>
        </p:nvSpPr>
        <p:spPr>
          <a:xfrm>
            <a:off x="418349" y="2952369"/>
            <a:ext cx="116700" cy="12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200" lIns="200" spcFirstLastPara="1" rIns="200" wrap="square" tIns="2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500"/>
              <a:buFont typeface="Arial"/>
              <a:buNone/>
            </a:pPr>
            <a:r>
              <a:rPr b="1" i="0" lang="fr" sz="5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4</a:t>
            </a:r>
            <a:endParaRPr b="0" i="0" sz="5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43" name="Google Shape;643;p23"/>
          <p:cNvSpPr/>
          <p:nvPr/>
        </p:nvSpPr>
        <p:spPr>
          <a:xfrm>
            <a:off x="610378" y="2911221"/>
            <a:ext cx="2194800" cy="456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200" lIns="200" spcFirstLastPara="1" rIns="200" wrap="square" tIns="2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11827"/>
              </a:buClr>
              <a:buSzPts val="600"/>
              <a:buFont typeface="Arial"/>
              <a:buNone/>
            </a:pPr>
            <a:r>
              <a:rPr b="1" i="0" lang="fr" sz="600" u="none" cap="none" strike="noStrike">
                <a:solidFill>
                  <a:srgbClr val="111827"/>
                </a:solidFill>
                <a:latin typeface="Arial"/>
                <a:ea typeface="Arial"/>
                <a:cs typeface="Arial"/>
                <a:sym typeface="Arial"/>
              </a:rPr>
              <a:t>Contrôle qualité par vision</a:t>
            </a:r>
            <a:endParaRPr b="0" i="0" sz="6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44" name="Google Shape;644;p23"/>
          <p:cNvSpPr/>
          <p:nvPr/>
        </p:nvSpPr>
        <p:spPr>
          <a:xfrm>
            <a:off x="336051" y="3435858"/>
            <a:ext cx="2517000" cy="483600"/>
          </a:xfrm>
          <a:prstGeom prst="roundRect">
            <a:avLst>
              <a:gd fmla="val 14184" name="adj"/>
            </a:avLst>
          </a:prstGeom>
          <a:solidFill>
            <a:srgbClr val="FDECEC"/>
          </a:solidFill>
          <a:ln cap="flat" cmpd="sng" w="8575">
            <a:solidFill>
              <a:srgbClr val="D9252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45" name="Google Shape;645;p23"/>
          <p:cNvSpPr/>
          <p:nvPr/>
        </p:nvSpPr>
        <p:spPr>
          <a:xfrm>
            <a:off x="390916" y="3490722"/>
            <a:ext cx="171600" cy="123600"/>
          </a:xfrm>
          <a:prstGeom prst="roundRect">
            <a:avLst>
              <a:gd fmla="val 66667" name="adj"/>
            </a:avLst>
          </a:prstGeom>
          <a:solidFill>
            <a:srgbClr val="D92525"/>
          </a:solidFill>
          <a:ln cap="flat" cmpd="sng" w="8575">
            <a:solidFill>
              <a:srgbClr val="D9252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46" name="Google Shape;646;p23"/>
          <p:cNvSpPr/>
          <p:nvPr/>
        </p:nvSpPr>
        <p:spPr>
          <a:xfrm>
            <a:off x="418349" y="3490722"/>
            <a:ext cx="116700" cy="12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200" lIns="200" spcFirstLastPara="1" rIns="200" wrap="square" tIns="2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500"/>
              <a:buFont typeface="Arial"/>
              <a:buNone/>
            </a:pPr>
            <a:r>
              <a:rPr b="1" i="0" lang="fr" sz="5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5</a:t>
            </a:r>
            <a:endParaRPr b="0" i="0" sz="5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47" name="Google Shape;647;p23"/>
          <p:cNvSpPr/>
          <p:nvPr/>
        </p:nvSpPr>
        <p:spPr>
          <a:xfrm>
            <a:off x="610378" y="3449574"/>
            <a:ext cx="2194800" cy="456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200" lIns="200" spcFirstLastPara="1" rIns="200" wrap="square" tIns="2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11827"/>
              </a:buClr>
              <a:buSzPts val="600"/>
              <a:buFont typeface="Arial"/>
              <a:buNone/>
            </a:pPr>
            <a:r>
              <a:rPr b="1" i="0" lang="fr" sz="600" u="none" cap="none" strike="noStrike">
                <a:solidFill>
                  <a:srgbClr val="111827"/>
                </a:solidFill>
                <a:latin typeface="Arial"/>
                <a:ea typeface="Arial"/>
                <a:cs typeface="Arial"/>
                <a:sym typeface="Arial"/>
              </a:rPr>
              <a:t>Planification des quais et équipes</a:t>
            </a:r>
            <a:endParaRPr b="0" i="0" sz="6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48" name="Google Shape;648;p23"/>
          <p:cNvSpPr/>
          <p:nvPr/>
        </p:nvSpPr>
        <p:spPr>
          <a:xfrm>
            <a:off x="336051" y="3974211"/>
            <a:ext cx="2517000" cy="483600"/>
          </a:xfrm>
          <a:prstGeom prst="roundRect">
            <a:avLst>
              <a:gd fmla="val 14184" name="adj"/>
            </a:avLst>
          </a:prstGeom>
          <a:solidFill>
            <a:srgbClr val="FDECEC"/>
          </a:solidFill>
          <a:ln cap="flat" cmpd="sng" w="8575">
            <a:solidFill>
              <a:srgbClr val="D9252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49" name="Google Shape;649;p23"/>
          <p:cNvSpPr/>
          <p:nvPr/>
        </p:nvSpPr>
        <p:spPr>
          <a:xfrm>
            <a:off x="390916" y="4029075"/>
            <a:ext cx="171600" cy="123600"/>
          </a:xfrm>
          <a:prstGeom prst="roundRect">
            <a:avLst>
              <a:gd fmla="val 66667" name="adj"/>
            </a:avLst>
          </a:prstGeom>
          <a:solidFill>
            <a:srgbClr val="D92525"/>
          </a:solidFill>
          <a:ln cap="flat" cmpd="sng" w="8575">
            <a:solidFill>
              <a:srgbClr val="D9252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50" name="Google Shape;650;p23"/>
          <p:cNvSpPr/>
          <p:nvPr/>
        </p:nvSpPr>
        <p:spPr>
          <a:xfrm>
            <a:off x="418349" y="4029075"/>
            <a:ext cx="116700" cy="12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200" lIns="200" spcFirstLastPara="1" rIns="200" wrap="square" tIns="2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500"/>
              <a:buFont typeface="Arial"/>
              <a:buNone/>
            </a:pPr>
            <a:r>
              <a:rPr b="1" i="0" lang="fr" sz="5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6</a:t>
            </a:r>
            <a:endParaRPr b="0" i="0" sz="5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51" name="Google Shape;651;p23"/>
          <p:cNvSpPr/>
          <p:nvPr/>
        </p:nvSpPr>
        <p:spPr>
          <a:xfrm>
            <a:off x="610378" y="3987927"/>
            <a:ext cx="2194800" cy="456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200" lIns="200" spcFirstLastPara="1" rIns="200" wrap="square" tIns="2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11827"/>
              </a:buClr>
              <a:buSzPts val="600"/>
              <a:buFont typeface="Arial"/>
              <a:buNone/>
            </a:pPr>
            <a:r>
              <a:rPr b="1" i="0" lang="fr" sz="600" u="none" cap="none" strike="noStrike">
                <a:solidFill>
                  <a:srgbClr val="111827"/>
                </a:solidFill>
                <a:latin typeface="Arial"/>
                <a:ea typeface="Arial"/>
                <a:cs typeface="Arial"/>
                <a:sym typeface="Arial"/>
              </a:rPr>
              <a:t>Mise en stock proposée dès réception</a:t>
            </a:r>
            <a:endParaRPr b="0" i="0" sz="6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52" name="Google Shape;652;p23"/>
          <p:cNvSpPr/>
          <p:nvPr/>
        </p:nvSpPr>
        <p:spPr>
          <a:xfrm>
            <a:off x="3223346" y="706374"/>
            <a:ext cx="2709000" cy="445800"/>
          </a:xfrm>
          <a:prstGeom prst="roundRect">
            <a:avLst>
              <a:gd fmla="val 20000" name="adj"/>
            </a:avLst>
          </a:prstGeom>
          <a:solidFill>
            <a:srgbClr val="F47B20"/>
          </a:solidFill>
          <a:ln cap="flat" cmpd="sng" w="9525">
            <a:solidFill>
              <a:srgbClr val="F47B2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53" name="Google Shape;653;p23"/>
          <p:cNvSpPr/>
          <p:nvPr/>
        </p:nvSpPr>
        <p:spPr>
          <a:xfrm>
            <a:off x="3319360" y="754380"/>
            <a:ext cx="342900" cy="363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200" lIns="200" spcFirstLastPara="1" rIns="200" wrap="square" tIns="2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Quattrocento Sans"/>
              <a:buNone/>
            </a:pPr>
            <a:r>
              <a:rPr b="0" i="0" lang="fr" sz="1400" u="none" cap="none" strike="noStrike">
                <a:solidFill>
                  <a:srgbClr val="FFFFFF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🏬</a:t>
            </a:r>
            <a:endParaRPr b="0" i="0" sz="1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54" name="Google Shape;654;p23"/>
          <p:cNvSpPr/>
          <p:nvPr/>
        </p:nvSpPr>
        <p:spPr>
          <a:xfrm>
            <a:off x="3717135" y="761238"/>
            <a:ext cx="2146500" cy="171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200" lIns="200" spcFirstLastPara="1" rIns="200" wrap="square" tIns="2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Play"/>
              <a:buNone/>
            </a:pPr>
            <a:r>
              <a:rPr b="1" i="0" lang="fr" sz="1000" u="none" cap="none" strike="noStrike">
                <a:solidFill>
                  <a:srgbClr val="FFFFFF"/>
                </a:solidFill>
                <a:latin typeface="Play"/>
                <a:ea typeface="Play"/>
                <a:cs typeface="Play"/>
                <a:sym typeface="Play"/>
              </a:rPr>
              <a:t>STOCKAGE &amp; INVENTAIRE</a:t>
            </a:r>
            <a:endParaRPr b="0" i="0" sz="10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55" name="Google Shape;655;p23"/>
          <p:cNvSpPr/>
          <p:nvPr/>
        </p:nvSpPr>
        <p:spPr>
          <a:xfrm>
            <a:off x="3717135" y="973836"/>
            <a:ext cx="2146500" cy="137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200" lIns="200" spcFirstLastPara="1" rIns="200" wrap="square" tIns="2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600"/>
              <a:buFont typeface="Arial"/>
              <a:buNone/>
            </a:pPr>
            <a:r>
              <a:rPr b="0" i="0" lang="fr" sz="6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Stock juste, accessible, optimisé</a:t>
            </a:r>
            <a:endParaRPr b="0" i="0" sz="6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56" name="Google Shape;656;p23"/>
          <p:cNvSpPr/>
          <p:nvPr/>
        </p:nvSpPr>
        <p:spPr>
          <a:xfrm>
            <a:off x="3223346" y="1200150"/>
            <a:ext cx="2709000" cy="3312600"/>
          </a:xfrm>
          <a:prstGeom prst="roundRect">
            <a:avLst>
              <a:gd fmla="val 3038" name="adj"/>
            </a:avLst>
          </a:prstGeom>
          <a:solidFill>
            <a:srgbClr val="FFFFFF"/>
          </a:solidFill>
          <a:ln cap="flat" cmpd="sng" w="8575">
            <a:solidFill>
              <a:srgbClr val="F47B2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57" name="Google Shape;657;p23"/>
          <p:cNvSpPr/>
          <p:nvPr/>
        </p:nvSpPr>
        <p:spPr>
          <a:xfrm>
            <a:off x="3319360" y="1282446"/>
            <a:ext cx="2517000" cy="483600"/>
          </a:xfrm>
          <a:prstGeom prst="roundRect">
            <a:avLst>
              <a:gd fmla="val 14184" name="adj"/>
            </a:avLst>
          </a:prstGeom>
          <a:solidFill>
            <a:srgbClr val="FFF2E6"/>
          </a:solidFill>
          <a:ln cap="flat" cmpd="sng" w="8575">
            <a:solidFill>
              <a:srgbClr val="F47B2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58" name="Google Shape;658;p23"/>
          <p:cNvSpPr/>
          <p:nvPr/>
        </p:nvSpPr>
        <p:spPr>
          <a:xfrm>
            <a:off x="3374226" y="1337310"/>
            <a:ext cx="171600" cy="123600"/>
          </a:xfrm>
          <a:prstGeom prst="roundRect">
            <a:avLst>
              <a:gd fmla="val 66667" name="adj"/>
            </a:avLst>
          </a:prstGeom>
          <a:solidFill>
            <a:srgbClr val="F47B20"/>
          </a:solidFill>
          <a:ln cap="flat" cmpd="sng" w="8575">
            <a:solidFill>
              <a:srgbClr val="F47B2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59" name="Google Shape;659;p23"/>
          <p:cNvSpPr/>
          <p:nvPr/>
        </p:nvSpPr>
        <p:spPr>
          <a:xfrm>
            <a:off x="3401659" y="1337310"/>
            <a:ext cx="116700" cy="12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200" lIns="200" spcFirstLastPara="1" rIns="200" wrap="square" tIns="2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500"/>
              <a:buFont typeface="Arial"/>
              <a:buNone/>
            </a:pPr>
            <a:r>
              <a:rPr b="1" i="0" lang="fr" sz="5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1</a:t>
            </a:r>
            <a:endParaRPr b="0" i="0" sz="5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60" name="Google Shape;660;p23"/>
          <p:cNvSpPr/>
          <p:nvPr/>
        </p:nvSpPr>
        <p:spPr>
          <a:xfrm>
            <a:off x="3593688" y="1296162"/>
            <a:ext cx="2194800" cy="456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200" lIns="200" spcFirstLastPara="1" rIns="200" wrap="square" tIns="2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11827"/>
              </a:buClr>
              <a:buSzPts val="600"/>
              <a:buFont typeface="Arial"/>
              <a:buNone/>
            </a:pPr>
            <a:r>
              <a:rPr b="1" i="0" lang="fr" sz="600" u="none" cap="none" strike="noStrike">
                <a:solidFill>
                  <a:srgbClr val="111827"/>
                </a:solidFill>
                <a:latin typeface="Arial"/>
                <a:ea typeface="Arial"/>
                <a:cs typeface="Arial"/>
                <a:sym typeface="Arial"/>
              </a:rPr>
              <a:t>Emplacement optimal selon rotation/poids/volume</a:t>
            </a:r>
            <a:endParaRPr b="0" i="0" sz="6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61" name="Google Shape;661;p23"/>
          <p:cNvSpPr/>
          <p:nvPr/>
        </p:nvSpPr>
        <p:spPr>
          <a:xfrm>
            <a:off x="3319360" y="1820799"/>
            <a:ext cx="2517000" cy="483600"/>
          </a:xfrm>
          <a:prstGeom prst="roundRect">
            <a:avLst>
              <a:gd fmla="val 14184" name="adj"/>
            </a:avLst>
          </a:prstGeom>
          <a:solidFill>
            <a:srgbClr val="FFF2E6"/>
          </a:solidFill>
          <a:ln cap="flat" cmpd="sng" w="8575">
            <a:solidFill>
              <a:srgbClr val="F47B2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62" name="Google Shape;662;p23"/>
          <p:cNvSpPr/>
          <p:nvPr/>
        </p:nvSpPr>
        <p:spPr>
          <a:xfrm>
            <a:off x="3374226" y="1875663"/>
            <a:ext cx="171600" cy="123600"/>
          </a:xfrm>
          <a:prstGeom prst="roundRect">
            <a:avLst>
              <a:gd fmla="val 66667" name="adj"/>
            </a:avLst>
          </a:prstGeom>
          <a:solidFill>
            <a:srgbClr val="F47B20"/>
          </a:solidFill>
          <a:ln cap="flat" cmpd="sng" w="8575">
            <a:solidFill>
              <a:srgbClr val="F47B2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63" name="Google Shape;663;p23"/>
          <p:cNvSpPr/>
          <p:nvPr/>
        </p:nvSpPr>
        <p:spPr>
          <a:xfrm>
            <a:off x="3401659" y="1875663"/>
            <a:ext cx="116700" cy="12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200" lIns="200" spcFirstLastPara="1" rIns="200" wrap="square" tIns="2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500"/>
              <a:buFont typeface="Arial"/>
              <a:buNone/>
            </a:pPr>
            <a:r>
              <a:rPr b="1" i="0" lang="fr" sz="5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2</a:t>
            </a:r>
            <a:endParaRPr b="0" i="0" sz="5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64" name="Google Shape;664;p23"/>
          <p:cNvSpPr/>
          <p:nvPr/>
        </p:nvSpPr>
        <p:spPr>
          <a:xfrm>
            <a:off x="3593688" y="1834515"/>
            <a:ext cx="2194800" cy="456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200" lIns="200" spcFirstLastPara="1" rIns="200" wrap="square" tIns="2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11827"/>
              </a:buClr>
              <a:buSzPts val="600"/>
              <a:buFont typeface="Arial"/>
              <a:buNone/>
            </a:pPr>
            <a:r>
              <a:rPr b="1" i="0" lang="fr" sz="600" u="none" cap="none" strike="noStrike">
                <a:solidFill>
                  <a:srgbClr val="111827"/>
                </a:solidFill>
                <a:latin typeface="Arial"/>
                <a:ea typeface="Arial"/>
                <a:cs typeface="Arial"/>
                <a:sym typeface="Arial"/>
              </a:rPr>
              <a:t>Réapprovisionnement prédictif de la zone picking</a:t>
            </a:r>
            <a:endParaRPr b="0" i="0" sz="6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65" name="Google Shape;665;p23"/>
          <p:cNvSpPr/>
          <p:nvPr/>
        </p:nvSpPr>
        <p:spPr>
          <a:xfrm>
            <a:off x="3319360" y="2359152"/>
            <a:ext cx="2517000" cy="483600"/>
          </a:xfrm>
          <a:prstGeom prst="roundRect">
            <a:avLst>
              <a:gd fmla="val 14184" name="adj"/>
            </a:avLst>
          </a:prstGeom>
          <a:solidFill>
            <a:srgbClr val="FFF2E6"/>
          </a:solidFill>
          <a:ln cap="flat" cmpd="sng" w="8575">
            <a:solidFill>
              <a:srgbClr val="F47B2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66" name="Google Shape;666;p23"/>
          <p:cNvSpPr/>
          <p:nvPr/>
        </p:nvSpPr>
        <p:spPr>
          <a:xfrm>
            <a:off x="3374226" y="2414016"/>
            <a:ext cx="171600" cy="123600"/>
          </a:xfrm>
          <a:prstGeom prst="roundRect">
            <a:avLst>
              <a:gd fmla="val 66667" name="adj"/>
            </a:avLst>
          </a:prstGeom>
          <a:solidFill>
            <a:srgbClr val="F47B20"/>
          </a:solidFill>
          <a:ln cap="flat" cmpd="sng" w="8575">
            <a:solidFill>
              <a:srgbClr val="F47B2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67" name="Google Shape;667;p23"/>
          <p:cNvSpPr/>
          <p:nvPr/>
        </p:nvSpPr>
        <p:spPr>
          <a:xfrm>
            <a:off x="3401659" y="2414016"/>
            <a:ext cx="116700" cy="12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200" lIns="200" spcFirstLastPara="1" rIns="200" wrap="square" tIns="2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500"/>
              <a:buFont typeface="Arial"/>
              <a:buNone/>
            </a:pPr>
            <a:r>
              <a:rPr b="1" i="0" lang="fr" sz="5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3</a:t>
            </a:r>
            <a:endParaRPr b="0" i="0" sz="5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68" name="Google Shape;668;p23"/>
          <p:cNvSpPr/>
          <p:nvPr/>
        </p:nvSpPr>
        <p:spPr>
          <a:xfrm>
            <a:off x="3593688" y="2372868"/>
            <a:ext cx="2194800" cy="456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200" lIns="200" spcFirstLastPara="1" rIns="200" wrap="square" tIns="2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11827"/>
              </a:buClr>
              <a:buSzPts val="600"/>
              <a:buFont typeface="Arial"/>
              <a:buNone/>
            </a:pPr>
            <a:r>
              <a:rPr b="1" i="0" lang="fr" sz="600" u="none" cap="none" strike="noStrike">
                <a:solidFill>
                  <a:srgbClr val="111827"/>
                </a:solidFill>
                <a:latin typeface="Arial"/>
                <a:ea typeface="Arial"/>
                <a:cs typeface="Arial"/>
                <a:sym typeface="Arial"/>
              </a:rPr>
              <a:t>Cycle count ciblé sur les emplacements à risque</a:t>
            </a:r>
            <a:endParaRPr b="0" i="0" sz="6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69" name="Google Shape;669;p23"/>
          <p:cNvSpPr/>
          <p:nvPr/>
        </p:nvSpPr>
        <p:spPr>
          <a:xfrm>
            <a:off x="3319360" y="2897505"/>
            <a:ext cx="2517000" cy="483600"/>
          </a:xfrm>
          <a:prstGeom prst="roundRect">
            <a:avLst>
              <a:gd fmla="val 14184" name="adj"/>
            </a:avLst>
          </a:prstGeom>
          <a:solidFill>
            <a:srgbClr val="FFF2E6"/>
          </a:solidFill>
          <a:ln cap="flat" cmpd="sng" w="8575">
            <a:solidFill>
              <a:srgbClr val="F47B2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70" name="Google Shape;670;p23"/>
          <p:cNvSpPr/>
          <p:nvPr/>
        </p:nvSpPr>
        <p:spPr>
          <a:xfrm>
            <a:off x="3374226" y="2952369"/>
            <a:ext cx="171600" cy="123600"/>
          </a:xfrm>
          <a:prstGeom prst="roundRect">
            <a:avLst>
              <a:gd fmla="val 66667" name="adj"/>
            </a:avLst>
          </a:prstGeom>
          <a:solidFill>
            <a:srgbClr val="F47B20"/>
          </a:solidFill>
          <a:ln cap="flat" cmpd="sng" w="8575">
            <a:solidFill>
              <a:srgbClr val="F47B2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71" name="Google Shape;671;p23"/>
          <p:cNvSpPr/>
          <p:nvPr/>
        </p:nvSpPr>
        <p:spPr>
          <a:xfrm>
            <a:off x="3401659" y="2952369"/>
            <a:ext cx="116700" cy="12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200" lIns="200" spcFirstLastPara="1" rIns="200" wrap="square" tIns="2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500"/>
              <a:buFont typeface="Arial"/>
              <a:buNone/>
            </a:pPr>
            <a:r>
              <a:rPr b="1" i="0" lang="fr" sz="5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4</a:t>
            </a:r>
            <a:endParaRPr b="0" i="0" sz="5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72" name="Google Shape;672;p23"/>
          <p:cNvSpPr/>
          <p:nvPr/>
        </p:nvSpPr>
        <p:spPr>
          <a:xfrm>
            <a:off x="3593688" y="2911221"/>
            <a:ext cx="2194800" cy="456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200" lIns="200" spcFirstLastPara="1" rIns="200" wrap="square" tIns="2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11827"/>
              </a:buClr>
              <a:buSzPts val="600"/>
              <a:buFont typeface="Arial"/>
              <a:buNone/>
            </a:pPr>
            <a:r>
              <a:rPr b="1" i="0" lang="fr" sz="600" u="none" cap="none" strike="noStrike">
                <a:solidFill>
                  <a:srgbClr val="111827"/>
                </a:solidFill>
                <a:latin typeface="Arial"/>
                <a:ea typeface="Arial"/>
                <a:cs typeface="Arial"/>
                <a:sym typeface="Arial"/>
              </a:rPr>
              <a:t>Recherche d’emplacement alternatif si article introuvable</a:t>
            </a:r>
            <a:endParaRPr b="0" i="0" sz="6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73" name="Google Shape;673;p23"/>
          <p:cNvSpPr/>
          <p:nvPr/>
        </p:nvSpPr>
        <p:spPr>
          <a:xfrm>
            <a:off x="3319360" y="3435858"/>
            <a:ext cx="2517000" cy="483600"/>
          </a:xfrm>
          <a:prstGeom prst="roundRect">
            <a:avLst>
              <a:gd fmla="val 14184" name="adj"/>
            </a:avLst>
          </a:prstGeom>
          <a:solidFill>
            <a:srgbClr val="FFF2E6"/>
          </a:solidFill>
          <a:ln cap="flat" cmpd="sng" w="8575">
            <a:solidFill>
              <a:srgbClr val="F47B2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74" name="Google Shape;674;p23"/>
          <p:cNvSpPr/>
          <p:nvPr/>
        </p:nvSpPr>
        <p:spPr>
          <a:xfrm>
            <a:off x="3374226" y="3490722"/>
            <a:ext cx="171600" cy="123600"/>
          </a:xfrm>
          <a:prstGeom prst="roundRect">
            <a:avLst>
              <a:gd fmla="val 66667" name="adj"/>
            </a:avLst>
          </a:prstGeom>
          <a:solidFill>
            <a:srgbClr val="F47B20"/>
          </a:solidFill>
          <a:ln cap="flat" cmpd="sng" w="8575">
            <a:solidFill>
              <a:srgbClr val="F47B2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75" name="Google Shape;675;p23"/>
          <p:cNvSpPr/>
          <p:nvPr/>
        </p:nvSpPr>
        <p:spPr>
          <a:xfrm>
            <a:off x="3401659" y="3490722"/>
            <a:ext cx="116700" cy="12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200" lIns="200" spcFirstLastPara="1" rIns="200" wrap="square" tIns="2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500"/>
              <a:buFont typeface="Arial"/>
              <a:buNone/>
            </a:pPr>
            <a:r>
              <a:rPr b="1" i="0" lang="fr" sz="5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5</a:t>
            </a:r>
            <a:endParaRPr b="0" i="0" sz="5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76" name="Google Shape;676;p23"/>
          <p:cNvSpPr/>
          <p:nvPr/>
        </p:nvSpPr>
        <p:spPr>
          <a:xfrm>
            <a:off x="3593688" y="3449574"/>
            <a:ext cx="2194800" cy="456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200" lIns="200" spcFirstLastPara="1" rIns="200" wrap="square" tIns="2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11827"/>
              </a:buClr>
              <a:buSzPts val="600"/>
              <a:buFont typeface="Arial"/>
              <a:buNone/>
            </a:pPr>
            <a:r>
              <a:rPr b="1" i="0" lang="fr" sz="600" u="none" cap="none" strike="noStrike">
                <a:solidFill>
                  <a:srgbClr val="111827"/>
                </a:solidFill>
                <a:latin typeface="Arial"/>
                <a:ea typeface="Arial"/>
                <a:cs typeface="Arial"/>
                <a:sym typeface="Arial"/>
              </a:rPr>
              <a:t>Déplacement interne par AMR/AGV ou navette</a:t>
            </a:r>
            <a:endParaRPr b="0" i="0" sz="6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77" name="Google Shape;677;p23"/>
          <p:cNvSpPr/>
          <p:nvPr/>
        </p:nvSpPr>
        <p:spPr>
          <a:xfrm>
            <a:off x="3319360" y="3974211"/>
            <a:ext cx="2517000" cy="483600"/>
          </a:xfrm>
          <a:prstGeom prst="roundRect">
            <a:avLst>
              <a:gd fmla="val 14184" name="adj"/>
            </a:avLst>
          </a:prstGeom>
          <a:solidFill>
            <a:srgbClr val="FFF2E6"/>
          </a:solidFill>
          <a:ln cap="flat" cmpd="sng" w="8575">
            <a:solidFill>
              <a:srgbClr val="F47B2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78" name="Google Shape;678;p23"/>
          <p:cNvSpPr/>
          <p:nvPr/>
        </p:nvSpPr>
        <p:spPr>
          <a:xfrm>
            <a:off x="3374226" y="4029075"/>
            <a:ext cx="171600" cy="123600"/>
          </a:xfrm>
          <a:prstGeom prst="roundRect">
            <a:avLst>
              <a:gd fmla="val 66667" name="adj"/>
            </a:avLst>
          </a:prstGeom>
          <a:solidFill>
            <a:srgbClr val="F47B20"/>
          </a:solidFill>
          <a:ln cap="flat" cmpd="sng" w="8575">
            <a:solidFill>
              <a:srgbClr val="F47B2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79" name="Google Shape;679;p23"/>
          <p:cNvSpPr/>
          <p:nvPr/>
        </p:nvSpPr>
        <p:spPr>
          <a:xfrm>
            <a:off x="3401659" y="4029075"/>
            <a:ext cx="116700" cy="12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200" lIns="200" spcFirstLastPara="1" rIns="200" wrap="square" tIns="2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500"/>
              <a:buFont typeface="Arial"/>
              <a:buNone/>
            </a:pPr>
            <a:r>
              <a:rPr b="1" i="0" lang="fr" sz="5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6</a:t>
            </a:r>
            <a:endParaRPr b="0" i="0" sz="5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80" name="Google Shape;680;p23"/>
          <p:cNvSpPr/>
          <p:nvPr/>
        </p:nvSpPr>
        <p:spPr>
          <a:xfrm>
            <a:off x="3593688" y="3987927"/>
            <a:ext cx="2194800" cy="456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200" lIns="200" spcFirstLastPara="1" rIns="200" wrap="square" tIns="2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11827"/>
              </a:buClr>
              <a:buSzPts val="600"/>
              <a:buFont typeface="Arial"/>
              <a:buNone/>
            </a:pPr>
            <a:r>
              <a:rPr b="1" i="0" lang="fr" sz="600" u="none" cap="none" strike="noStrike">
                <a:solidFill>
                  <a:srgbClr val="111827"/>
                </a:solidFill>
                <a:latin typeface="Arial"/>
                <a:ea typeface="Arial"/>
                <a:cs typeface="Arial"/>
                <a:sym typeface="Arial"/>
              </a:rPr>
              <a:t>Détection de congestion et rééquilibrage</a:t>
            </a:r>
            <a:endParaRPr b="0" i="0" sz="6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81" name="Google Shape;681;p23"/>
          <p:cNvSpPr/>
          <p:nvPr/>
        </p:nvSpPr>
        <p:spPr>
          <a:xfrm>
            <a:off x="6206655" y="706374"/>
            <a:ext cx="2709000" cy="445800"/>
          </a:xfrm>
          <a:prstGeom prst="roundRect">
            <a:avLst>
              <a:gd fmla="val 20000" name="adj"/>
            </a:avLst>
          </a:prstGeom>
          <a:solidFill>
            <a:srgbClr val="B91C1C"/>
          </a:solidFill>
          <a:ln cap="flat" cmpd="sng" w="9525">
            <a:solidFill>
              <a:srgbClr val="B91C1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82" name="Google Shape;682;p23"/>
          <p:cNvSpPr/>
          <p:nvPr/>
        </p:nvSpPr>
        <p:spPr>
          <a:xfrm>
            <a:off x="6302670" y="754380"/>
            <a:ext cx="342900" cy="363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200" lIns="200" spcFirstLastPara="1" rIns="200" wrap="square" tIns="2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Quattrocento Sans"/>
              <a:buNone/>
            </a:pPr>
            <a:r>
              <a:rPr b="0" i="0" lang="fr" sz="1400" u="none" cap="none" strike="noStrike">
                <a:solidFill>
                  <a:srgbClr val="FFFFFF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📦</a:t>
            </a:r>
            <a:endParaRPr b="0" i="0" sz="1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83" name="Google Shape;683;p23"/>
          <p:cNvSpPr/>
          <p:nvPr/>
        </p:nvSpPr>
        <p:spPr>
          <a:xfrm>
            <a:off x="6700445" y="761238"/>
            <a:ext cx="2146500" cy="171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200" lIns="200" spcFirstLastPara="1" rIns="200" wrap="square" tIns="2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Play"/>
              <a:buNone/>
            </a:pPr>
            <a:r>
              <a:rPr b="1" i="0" lang="fr" sz="1000" u="none" cap="none" strike="noStrike">
                <a:solidFill>
                  <a:srgbClr val="FFFFFF"/>
                </a:solidFill>
                <a:latin typeface="Play"/>
                <a:ea typeface="Play"/>
                <a:cs typeface="Play"/>
                <a:sym typeface="Play"/>
              </a:rPr>
              <a:t>EXPÉDITION</a:t>
            </a:r>
            <a:endParaRPr b="0" i="0" sz="10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84" name="Google Shape;684;p23"/>
          <p:cNvSpPr/>
          <p:nvPr/>
        </p:nvSpPr>
        <p:spPr>
          <a:xfrm>
            <a:off x="6700445" y="973836"/>
            <a:ext cx="2146500" cy="137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200" lIns="200" spcFirstLastPara="1" rIns="200" wrap="square" tIns="2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600"/>
              <a:buFont typeface="Arial"/>
              <a:buNone/>
            </a:pPr>
            <a:r>
              <a:rPr b="0" i="0" lang="fr" sz="6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Commandes justes et à l’heure</a:t>
            </a:r>
            <a:endParaRPr b="0" i="0" sz="6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85" name="Google Shape;685;p23"/>
          <p:cNvSpPr/>
          <p:nvPr/>
        </p:nvSpPr>
        <p:spPr>
          <a:xfrm>
            <a:off x="6206655" y="1200150"/>
            <a:ext cx="2709000" cy="3312600"/>
          </a:xfrm>
          <a:prstGeom prst="roundRect">
            <a:avLst>
              <a:gd fmla="val 3038" name="adj"/>
            </a:avLst>
          </a:prstGeom>
          <a:solidFill>
            <a:srgbClr val="FFFFFF"/>
          </a:solidFill>
          <a:ln cap="flat" cmpd="sng" w="8575">
            <a:solidFill>
              <a:srgbClr val="B91C1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86" name="Google Shape;686;p23"/>
          <p:cNvSpPr/>
          <p:nvPr/>
        </p:nvSpPr>
        <p:spPr>
          <a:xfrm>
            <a:off x="6302670" y="1282446"/>
            <a:ext cx="2517000" cy="483600"/>
          </a:xfrm>
          <a:prstGeom prst="roundRect">
            <a:avLst>
              <a:gd fmla="val 14184" name="adj"/>
            </a:avLst>
          </a:prstGeom>
          <a:solidFill>
            <a:srgbClr val="FDECEC"/>
          </a:solidFill>
          <a:ln cap="flat" cmpd="sng" w="8575">
            <a:solidFill>
              <a:srgbClr val="B91C1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87" name="Google Shape;687;p23"/>
          <p:cNvSpPr/>
          <p:nvPr/>
        </p:nvSpPr>
        <p:spPr>
          <a:xfrm>
            <a:off x="6357535" y="1337310"/>
            <a:ext cx="171600" cy="123600"/>
          </a:xfrm>
          <a:prstGeom prst="roundRect">
            <a:avLst>
              <a:gd fmla="val 66667" name="adj"/>
            </a:avLst>
          </a:prstGeom>
          <a:solidFill>
            <a:srgbClr val="B91C1C"/>
          </a:solidFill>
          <a:ln cap="flat" cmpd="sng" w="8575">
            <a:solidFill>
              <a:srgbClr val="B91C1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88" name="Google Shape;688;p23"/>
          <p:cNvSpPr/>
          <p:nvPr/>
        </p:nvSpPr>
        <p:spPr>
          <a:xfrm>
            <a:off x="6384968" y="1337310"/>
            <a:ext cx="116700" cy="12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200" lIns="200" spcFirstLastPara="1" rIns="200" wrap="square" tIns="2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500"/>
              <a:buFont typeface="Arial"/>
              <a:buNone/>
            </a:pPr>
            <a:r>
              <a:rPr b="1" i="0" lang="fr" sz="5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1</a:t>
            </a:r>
            <a:endParaRPr b="0" i="0" sz="5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89" name="Google Shape;689;p23"/>
          <p:cNvSpPr/>
          <p:nvPr/>
        </p:nvSpPr>
        <p:spPr>
          <a:xfrm>
            <a:off x="6576997" y="1296162"/>
            <a:ext cx="2194800" cy="456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200" lIns="200" spcFirstLastPara="1" rIns="200" wrap="square" tIns="2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11827"/>
              </a:buClr>
              <a:buSzPts val="600"/>
              <a:buFont typeface="Arial"/>
              <a:buNone/>
            </a:pPr>
            <a:r>
              <a:rPr b="1" i="0" lang="fr" sz="600" u="none" cap="none" strike="noStrike">
                <a:solidFill>
                  <a:srgbClr val="111827"/>
                </a:solidFill>
                <a:latin typeface="Arial"/>
                <a:ea typeface="Arial"/>
                <a:cs typeface="Arial"/>
                <a:sym typeface="Arial"/>
              </a:rPr>
              <a:t>Wave par priorité, transporteur et heure limite</a:t>
            </a:r>
            <a:endParaRPr b="0" i="0" sz="6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90" name="Google Shape;690;p23"/>
          <p:cNvSpPr/>
          <p:nvPr/>
        </p:nvSpPr>
        <p:spPr>
          <a:xfrm>
            <a:off x="6302670" y="1820799"/>
            <a:ext cx="2517000" cy="483600"/>
          </a:xfrm>
          <a:prstGeom prst="roundRect">
            <a:avLst>
              <a:gd fmla="val 14184" name="adj"/>
            </a:avLst>
          </a:prstGeom>
          <a:solidFill>
            <a:srgbClr val="FDECEC"/>
          </a:solidFill>
          <a:ln cap="flat" cmpd="sng" w="8575">
            <a:solidFill>
              <a:srgbClr val="B91C1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91" name="Google Shape;691;p23"/>
          <p:cNvSpPr/>
          <p:nvPr/>
        </p:nvSpPr>
        <p:spPr>
          <a:xfrm>
            <a:off x="6357535" y="1875663"/>
            <a:ext cx="171600" cy="123600"/>
          </a:xfrm>
          <a:prstGeom prst="roundRect">
            <a:avLst>
              <a:gd fmla="val 66667" name="adj"/>
            </a:avLst>
          </a:prstGeom>
          <a:solidFill>
            <a:srgbClr val="B91C1C"/>
          </a:solidFill>
          <a:ln cap="flat" cmpd="sng" w="8575">
            <a:solidFill>
              <a:srgbClr val="B91C1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92" name="Google Shape;692;p23"/>
          <p:cNvSpPr/>
          <p:nvPr/>
        </p:nvSpPr>
        <p:spPr>
          <a:xfrm>
            <a:off x="6384968" y="1875663"/>
            <a:ext cx="116700" cy="12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200" lIns="200" spcFirstLastPara="1" rIns="200" wrap="square" tIns="2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500"/>
              <a:buFont typeface="Arial"/>
              <a:buNone/>
            </a:pPr>
            <a:r>
              <a:rPr b="1" i="0" lang="fr" sz="5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2</a:t>
            </a:r>
            <a:endParaRPr b="0" i="0" sz="5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93" name="Google Shape;693;p23"/>
          <p:cNvSpPr/>
          <p:nvPr/>
        </p:nvSpPr>
        <p:spPr>
          <a:xfrm>
            <a:off x="6576997" y="1834515"/>
            <a:ext cx="2194800" cy="456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200" lIns="200" spcFirstLastPara="1" rIns="200" wrap="square" tIns="2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11827"/>
              </a:buClr>
              <a:buSzPts val="600"/>
              <a:buFont typeface="Arial"/>
              <a:buNone/>
            </a:pPr>
            <a:r>
              <a:rPr b="1" i="0" lang="fr" sz="600" u="none" cap="none" strike="noStrike">
                <a:solidFill>
                  <a:srgbClr val="111827"/>
                </a:solidFill>
                <a:latin typeface="Arial"/>
                <a:ea typeface="Arial"/>
                <a:cs typeface="Arial"/>
                <a:sym typeface="Arial"/>
              </a:rPr>
              <a:t>Allocation intelligente du stock disponible</a:t>
            </a:r>
            <a:endParaRPr b="0" i="0" sz="6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94" name="Google Shape;694;p23"/>
          <p:cNvSpPr/>
          <p:nvPr/>
        </p:nvSpPr>
        <p:spPr>
          <a:xfrm>
            <a:off x="6302670" y="2359152"/>
            <a:ext cx="2517000" cy="483600"/>
          </a:xfrm>
          <a:prstGeom prst="roundRect">
            <a:avLst>
              <a:gd fmla="val 14184" name="adj"/>
            </a:avLst>
          </a:prstGeom>
          <a:solidFill>
            <a:srgbClr val="FDECEC"/>
          </a:solidFill>
          <a:ln cap="flat" cmpd="sng" w="8575">
            <a:solidFill>
              <a:srgbClr val="B91C1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95" name="Google Shape;695;p23"/>
          <p:cNvSpPr/>
          <p:nvPr/>
        </p:nvSpPr>
        <p:spPr>
          <a:xfrm>
            <a:off x="6357535" y="2414016"/>
            <a:ext cx="171600" cy="123600"/>
          </a:xfrm>
          <a:prstGeom prst="roundRect">
            <a:avLst>
              <a:gd fmla="val 66667" name="adj"/>
            </a:avLst>
          </a:prstGeom>
          <a:solidFill>
            <a:srgbClr val="B91C1C"/>
          </a:solidFill>
          <a:ln cap="flat" cmpd="sng" w="8575">
            <a:solidFill>
              <a:srgbClr val="B91C1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96" name="Google Shape;696;p23"/>
          <p:cNvSpPr/>
          <p:nvPr/>
        </p:nvSpPr>
        <p:spPr>
          <a:xfrm>
            <a:off x="6384968" y="2414016"/>
            <a:ext cx="116700" cy="12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200" lIns="200" spcFirstLastPara="1" rIns="200" wrap="square" tIns="2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500"/>
              <a:buFont typeface="Arial"/>
              <a:buNone/>
            </a:pPr>
            <a:r>
              <a:rPr b="1" i="0" lang="fr" sz="5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3</a:t>
            </a:r>
            <a:endParaRPr b="0" i="0" sz="5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97" name="Google Shape;697;p23"/>
          <p:cNvSpPr/>
          <p:nvPr/>
        </p:nvSpPr>
        <p:spPr>
          <a:xfrm>
            <a:off x="6576997" y="2372868"/>
            <a:ext cx="2194800" cy="456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200" lIns="200" spcFirstLastPara="1" rIns="200" wrap="square" tIns="2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11827"/>
              </a:buClr>
              <a:buSzPts val="600"/>
              <a:buFont typeface="Arial"/>
              <a:buNone/>
            </a:pPr>
            <a:r>
              <a:rPr b="1" i="0" lang="fr" sz="600" u="none" cap="none" strike="noStrike">
                <a:solidFill>
                  <a:srgbClr val="111827"/>
                </a:solidFill>
                <a:latin typeface="Arial"/>
                <a:ea typeface="Arial"/>
                <a:cs typeface="Arial"/>
                <a:sym typeface="Arial"/>
              </a:rPr>
              <a:t>Affectation des tâches aux opérateurs/robots</a:t>
            </a:r>
            <a:endParaRPr b="0" i="0" sz="6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98" name="Google Shape;698;p23"/>
          <p:cNvSpPr/>
          <p:nvPr/>
        </p:nvSpPr>
        <p:spPr>
          <a:xfrm>
            <a:off x="6302670" y="2897505"/>
            <a:ext cx="2517000" cy="483600"/>
          </a:xfrm>
          <a:prstGeom prst="roundRect">
            <a:avLst>
              <a:gd fmla="val 14184" name="adj"/>
            </a:avLst>
          </a:prstGeom>
          <a:solidFill>
            <a:srgbClr val="FDECEC"/>
          </a:solidFill>
          <a:ln cap="flat" cmpd="sng" w="8575">
            <a:solidFill>
              <a:srgbClr val="B91C1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99" name="Google Shape;699;p23"/>
          <p:cNvSpPr/>
          <p:nvPr/>
        </p:nvSpPr>
        <p:spPr>
          <a:xfrm>
            <a:off x="6357535" y="2952369"/>
            <a:ext cx="171600" cy="123600"/>
          </a:xfrm>
          <a:prstGeom prst="roundRect">
            <a:avLst>
              <a:gd fmla="val 66667" name="adj"/>
            </a:avLst>
          </a:prstGeom>
          <a:solidFill>
            <a:srgbClr val="B91C1C"/>
          </a:solidFill>
          <a:ln cap="flat" cmpd="sng" w="8575">
            <a:solidFill>
              <a:srgbClr val="B91C1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00" name="Google Shape;700;p23"/>
          <p:cNvSpPr/>
          <p:nvPr/>
        </p:nvSpPr>
        <p:spPr>
          <a:xfrm>
            <a:off x="6384968" y="2952369"/>
            <a:ext cx="116700" cy="12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200" lIns="200" spcFirstLastPara="1" rIns="200" wrap="square" tIns="2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500"/>
              <a:buFont typeface="Arial"/>
              <a:buNone/>
            </a:pPr>
            <a:r>
              <a:rPr b="1" i="0" lang="fr" sz="5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4</a:t>
            </a:r>
            <a:endParaRPr b="0" i="0" sz="5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01" name="Google Shape;701;p23"/>
          <p:cNvSpPr/>
          <p:nvPr/>
        </p:nvSpPr>
        <p:spPr>
          <a:xfrm>
            <a:off x="6576997" y="2911221"/>
            <a:ext cx="2194800" cy="456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200" lIns="200" spcFirstLastPara="1" rIns="200" wrap="square" tIns="2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11827"/>
              </a:buClr>
              <a:buSzPts val="600"/>
              <a:buFont typeface="Arial"/>
              <a:buNone/>
            </a:pPr>
            <a:r>
              <a:rPr b="1" i="0" lang="fr" sz="600" u="none" cap="none" strike="noStrike">
                <a:solidFill>
                  <a:srgbClr val="111827"/>
                </a:solidFill>
                <a:latin typeface="Arial"/>
                <a:ea typeface="Arial"/>
                <a:cs typeface="Arial"/>
                <a:sym typeface="Arial"/>
              </a:rPr>
              <a:t>Picking guidé par RF ou Pick-to-Light</a:t>
            </a:r>
            <a:endParaRPr b="0" i="0" sz="6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02" name="Google Shape;702;p23"/>
          <p:cNvSpPr/>
          <p:nvPr/>
        </p:nvSpPr>
        <p:spPr>
          <a:xfrm>
            <a:off x="6302670" y="3435858"/>
            <a:ext cx="2517000" cy="483600"/>
          </a:xfrm>
          <a:prstGeom prst="roundRect">
            <a:avLst>
              <a:gd fmla="val 14184" name="adj"/>
            </a:avLst>
          </a:prstGeom>
          <a:solidFill>
            <a:srgbClr val="FDECEC"/>
          </a:solidFill>
          <a:ln cap="flat" cmpd="sng" w="8575">
            <a:solidFill>
              <a:srgbClr val="B91C1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03" name="Google Shape;703;p23"/>
          <p:cNvSpPr/>
          <p:nvPr/>
        </p:nvSpPr>
        <p:spPr>
          <a:xfrm>
            <a:off x="6357535" y="3490722"/>
            <a:ext cx="171600" cy="123600"/>
          </a:xfrm>
          <a:prstGeom prst="roundRect">
            <a:avLst>
              <a:gd fmla="val 66667" name="adj"/>
            </a:avLst>
          </a:prstGeom>
          <a:solidFill>
            <a:srgbClr val="B91C1C"/>
          </a:solidFill>
          <a:ln cap="flat" cmpd="sng" w="8575">
            <a:solidFill>
              <a:srgbClr val="B91C1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04" name="Google Shape;704;p23"/>
          <p:cNvSpPr/>
          <p:nvPr/>
        </p:nvSpPr>
        <p:spPr>
          <a:xfrm>
            <a:off x="6384968" y="3490722"/>
            <a:ext cx="116700" cy="12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200" lIns="200" spcFirstLastPara="1" rIns="200" wrap="square" tIns="2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500"/>
              <a:buFont typeface="Arial"/>
              <a:buNone/>
            </a:pPr>
            <a:r>
              <a:rPr b="1" i="0" lang="fr" sz="5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5</a:t>
            </a:r>
            <a:endParaRPr b="0" i="0" sz="5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05" name="Google Shape;705;p23"/>
          <p:cNvSpPr/>
          <p:nvPr/>
        </p:nvSpPr>
        <p:spPr>
          <a:xfrm>
            <a:off x="6576997" y="3449574"/>
            <a:ext cx="2194800" cy="456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200" lIns="200" spcFirstLastPara="1" rIns="200" wrap="square" tIns="2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11827"/>
              </a:buClr>
              <a:buSzPts val="600"/>
              <a:buFont typeface="Arial"/>
              <a:buNone/>
            </a:pPr>
            <a:r>
              <a:rPr b="1" i="0" lang="fr" sz="600" u="none" cap="none" strike="noStrike">
                <a:solidFill>
                  <a:srgbClr val="111827"/>
                </a:solidFill>
                <a:latin typeface="Arial"/>
                <a:ea typeface="Arial"/>
                <a:cs typeface="Arial"/>
                <a:sym typeface="Arial"/>
              </a:rPr>
              <a:t>Optimisation du parcours de prélèvement</a:t>
            </a:r>
            <a:endParaRPr b="0" i="0" sz="6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06" name="Google Shape;706;p23"/>
          <p:cNvSpPr/>
          <p:nvPr/>
        </p:nvSpPr>
        <p:spPr>
          <a:xfrm>
            <a:off x="6302670" y="3974211"/>
            <a:ext cx="2517000" cy="483600"/>
          </a:xfrm>
          <a:prstGeom prst="roundRect">
            <a:avLst>
              <a:gd fmla="val 14184" name="adj"/>
            </a:avLst>
          </a:prstGeom>
          <a:solidFill>
            <a:srgbClr val="FDECEC"/>
          </a:solidFill>
          <a:ln cap="flat" cmpd="sng" w="8575">
            <a:solidFill>
              <a:srgbClr val="B91C1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07" name="Google Shape;707;p23"/>
          <p:cNvSpPr/>
          <p:nvPr/>
        </p:nvSpPr>
        <p:spPr>
          <a:xfrm>
            <a:off x="6357535" y="4029075"/>
            <a:ext cx="171600" cy="123600"/>
          </a:xfrm>
          <a:prstGeom prst="roundRect">
            <a:avLst>
              <a:gd fmla="val 66667" name="adj"/>
            </a:avLst>
          </a:prstGeom>
          <a:solidFill>
            <a:srgbClr val="B91C1C"/>
          </a:solidFill>
          <a:ln cap="flat" cmpd="sng" w="8575">
            <a:solidFill>
              <a:srgbClr val="B91C1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08" name="Google Shape;708;p23"/>
          <p:cNvSpPr/>
          <p:nvPr/>
        </p:nvSpPr>
        <p:spPr>
          <a:xfrm>
            <a:off x="6384968" y="4029075"/>
            <a:ext cx="116700" cy="12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200" lIns="200" spcFirstLastPara="1" rIns="200" wrap="square" tIns="2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500"/>
              <a:buFont typeface="Arial"/>
              <a:buNone/>
            </a:pPr>
            <a:r>
              <a:rPr b="1" i="0" lang="fr" sz="5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6</a:t>
            </a:r>
            <a:endParaRPr b="0" i="0" sz="5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09" name="Google Shape;709;p23"/>
          <p:cNvSpPr/>
          <p:nvPr/>
        </p:nvSpPr>
        <p:spPr>
          <a:xfrm>
            <a:off x="6576997" y="3987927"/>
            <a:ext cx="2194800" cy="456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200" lIns="200" spcFirstLastPara="1" rIns="200" wrap="square" tIns="2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11827"/>
              </a:buClr>
              <a:buSzPts val="600"/>
              <a:buFont typeface="Arial"/>
              <a:buNone/>
            </a:pPr>
            <a:r>
              <a:rPr b="1" i="0" lang="fr" sz="600" u="none" cap="none" strike="noStrike">
                <a:solidFill>
                  <a:srgbClr val="111827"/>
                </a:solidFill>
                <a:latin typeface="Arial"/>
                <a:ea typeface="Arial"/>
                <a:cs typeface="Arial"/>
                <a:sym typeface="Arial"/>
              </a:rPr>
              <a:t>Contrôle packing + chargement camion</a:t>
            </a:r>
            <a:endParaRPr b="0" i="0" sz="6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710" name="Google Shape;710;p23"/>
          <p:cNvCxnSpPr/>
          <p:nvPr/>
        </p:nvCxnSpPr>
        <p:spPr>
          <a:xfrm>
            <a:off x="2969593" y="2434590"/>
            <a:ext cx="171600" cy="0"/>
          </a:xfrm>
          <a:prstGeom prst="straightConnector1">
            <a:avLst/>
          </a:prstGeom>
          <a:noFill/>
          <a:ln cap="flat" cmpd="sng" w="13325">
            <a:solidFill>
              <a:srgbClr val="B8C7D9"/>
            </a:solidFill>
            <a:prstDash val="solid"/>
            <a:round/>
            <a:headEnd len="sm" w="sm" type="none"/>
            <a:tailEnd len="med" w="med" type="triangle"/>
          </a:ln>
        </p:spPr>
      </p:cxnSp>
      <p:cxnSp>
        <p:nvCxnSpPr>
          <p:cNvPr id="711" name="Google Shape;711;p23"/>
          <p:cNvCxnSpPr/>
          <p:nvPr/>
        </p:nvCxnSpPr>
        <p:spPr>
          <a:xfrm>
            <a:off x="5952903" y="2434590"/>
            <a:ext cx="171600" cy="0"/>
          </a:xfrm>
          <a:prstGeom prst="straightConnector1">
            <a:avLst/>
          </a:prstGeom>
          <a:noFill/>
          <a:ln cap="flat" cmpd="sng" w="13325">
            <a:solidFill>
              <a:srgbClr val="B8C7D9"/>
            </a:solidFill>
            <a:prstDash val="solid"/>
            <a:round/>
            <a:headEnd len="sm" w="sm" type="none"/>
            <a:tailEnd len="med" w="med" type="triangle"/>
          </a:ln>
        </p:spPr>
      </p:cxnSp>
      <p:sp>
        <p:nvSpPr>
          <p:cNvPr id="712" name="Google Shape;712;p23"/>
          <p:cNvSpPr/>
          <p:nvPr/>
        </p:nvSpPr>
        <p:spPr>
          <a:xfrm>
            <a:off x="240036" y="4649724"/>
            <a:ext cx="8675700" cy="329100"/>
          </a:xfrm>
          <a:prstGeom prst="roundRect">
            <a:avLst>
              <a:gd fmla="val 29167" name="adj"/>
            </a:avLst>
          </a:prstGeom>
          <a:solidFill>
            <a:srgbClr val="EAF7EF"/>
          </a:solidFill>
          <a:ln cap="flat" cmpd="sng" w="8575">
            <a:solidFill>
              <a:srgbClr val="0F7A4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13" name="Google Shape;713;p23"/>
          <p:cNvSpPr/>
          <p:nvPr/>
        </p:nvSpPr>
        <p:spPr>
          <a:xfrm>
            <a:off x="397775" y="4725162"/>
            <a:ext cx="8367000" cy="12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200" lIns="200" spcFirstLastPara="1" rIns="200" wrap="square" tIns="2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F7A45"/>
              </a:buClr>
              <a:buSzPts val="600"/>
              <a:buFont typeface="Arial"/>
              <a:buNone/>
            </a:pPr>
            <a:r>
              <a:rPr b="1" i="0" lang="fr" sz="600" u="none" cap="none" strike="noStrike">
                <a:solidFill>
                  <a:srgbClr val="0F7A45"/>
                </a:solidFill>
                <a:latin typeface="Arial"/>
                <a:ea typeface="Arial"/>
                <a:cs typeface="Arial"/>
                <a:sym typeface="Arial"/>
              </a:rPr>
              <a:t>CAPACITÉS TRANSVERSALES : données fiables • traçabilité • KPI temps réel • sécurité des accès • intégration WMS/ERP/WCS • IA avec validation humaine</a:t>
            </a:r>
            <a:endParaRPr b="0" i="0" sz="6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14" name="Google Shape;714;p23"/>
          <p:cNvSpPr txBox="1"/>
          <p:nvPr>
            <p:ph idx="4294967295" type="sldNum"/>
          </p:nvPr>
        </p:nvSpPr>
        <p:spPr>
          <a:xfrm>
            <a:off x="8607019" y="4896612"/>
            <a:ext cx="600000" cy="2250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0" i="0" lang="fr" sz="500" u="none" cap="none" strike="noStrike">
                <a:solidFill>
                  <a:srgbClr val="6B7280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b="0" i="0" sz="500" u="none" cap="none" strike="noStrike">
              <a:solidFill>
                <a:srgbClr val="6B728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7FAFE"/>
        </a:solidFill>
      </p:bgPr>
    </p:bg>
    <p:spTree>
      <p:nvGrpSpPr>
        <p:cNvPr id="719" name="Shape 7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0" name="Google Shape;720;p24"/>
          <p:cNvSpPr/>
          <p:nvPr/>
        </p:nvSpPr>
        <p:spPr>
          <a:xfrm>
            <a:off x="240036" y="96012"/>
            <a:ext cx="8641500" cy="246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200" lIns="200" spcFirstLastPara="1" rIns="200" wrap="square" tIns="2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B376D"/>
              </a:buClr>
              <a:buSzPts val="1700"/>
              <a:buFont typeface="Play"/>
              <a:buNone/>
            </a:pPr>
            <a:r>
              <a:rPr b="1" i="0" lang="fr" sz="1700" u="none" cap="none" strike="noStrike">
                <a:solidFill>
                  <a:srgbClr val="0B376D"/>
                </a:solidFill>
                <a:latin typeface="Play"/>
                <a:ea typeface="Play"/>
                <a:cs typeface="Play"/>
                <a:sym typeface="Play"/>
              </a:rPr>
              <a:t>RÉCEPTION — USE CASES DÉTAILLÉS</a:t>
            </a:r>
            <a:endParaRPr b="0" i="0" sz="17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21" name="Google Shape;721;p24"/>
          <p:cNvSpPr/>
          <p:nvPr/>
        </p:nvSpPr>
        <p:spPr>
          <a:xfrm>
            <a:off x="514364" y="356616"/>
            <a:ext cx="8092500" cy="171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200" lIns="200" spcFirstLastPara="1" rIns="200" wrap="square" tIns="2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5B677A"/>
              </a:buClr>
              <a:buSzPts val="800"/>
              <a:buFont typeface="Arial"/>
              <a:buNone/>
            </a:pPr>
            <a:r>
              <a:rPr b="0" i="0" lang="fr" sz="800" u="none" cap="none" strike="noStrike">
                <a:solidFill>
                  <a:srgbClr val="5B677A"/>
                </a:solidFill>
                <a:latin typeface="Arial"/>
                <a:ea typeface="Arial"/>
                <a:cs typeface="Arial"/>
                <a:sym typeface="Arial"/>
              </a:rPr>
              <a:t>Objectif : réduire l’attente au quai, fiabiliser l’entrée stock et détecter les anomalies avant stockage</a:t>
            </a:r>
            <a:endParaRPr b="0" i="0" sz="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722" name="Google Shape;722;p24"/>
          <p:cNvCxnSpPr/>
          <p:nvPr/>
        </p:nvCxnSpPr>
        <p:spPr>
          <a:xfrm>
            <a:off x="308618" y="603504"/>
            <a:ext cx="8538600" cy="0"/>
          </a:xfrm>
          <a:prstGeom prst="straightConnector1">
            <a:avLst/>
          </a:prstGeom>
          <a:noFill/>
          <a:ln cap="flat" cmpd="sng" w="9525">
            <a:solidFill>
              <a:srgbClr val="B8C7D9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723" name="Google Shape;723;p24"/>
          <p:cNvSpPr/>
          <p:nvPr/>
        </p:nvSpPr>
        <p:spPr>
          <a:xfrm>
            <a:off x="240036" y="706374"/>
            <a:ext cx="1543200" cy="445800"/>
          </a:xfrm>
          <a:prstGeom prst="roundRect">
            <a:avLst>
              <a:gd fmla="val 20000" name="adj"/>
            </a:avLst>
          </a:prstGeom>
          <a:solidFill>
            <a:srgbClr val="D92525"/>
          </a:solidFill>
          <a:ln cap="flat" cmpd="sng" w="9525">
            <a:solidFill>
              <a:srgbClr val="D9252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24" name="Google Shape;724;p24"/>
          <p:cNvSpPr/>
          <p:nvPr/>
        </p:nvSpPr>
        <p:spPr>
          <a:xfrm>
            <a:off x="336051" y="754380"/>
            <a:ext cx="342900" cy="363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200" lIns="200" spcFirstLastPara="1" rIns="200" wrap="square" tIns="2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Quattrocento Sans"/>
              <a:buNone/>
            </a:pPr>
            <a:r>
              <a:rPr b="0" i="0" lang="fr" sz="1400" u="none" cap="none" strike="noStrike">
                <a:solidFill>
                  <a:srgbClr val="FFFFFF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🚚</a:t>
            </a:r>
            <a:endParaRPr b="0" i="0" sz="1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25" name="Google Shape;725;p24"/>
          <p:cNvSpPr/>
          <p:nvPr/>
        </p:nvSpPr>
        <p:spPr>
          <a:xfrm>
            <a:off x="733826" y="761238"/>
            <a:ext cx="980700" cy="171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200" lIns="200" spcFirstLastPara="1" rIns="200" wrap="square" tIns="2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Play"/>
              <a:buNone/>
            </a:pPr>
            <a:r>
              <a:rPr b="1" i="0" lang="fr" sz="1000" u="none" cap="none" strike="noStrike">
                <a:solidFill>
                  <a:srgbClr val="FFFFFF"/>
                </a:solidFill>
                <a:latin typeface="Play"/>
                <a:ea typeface="Play"/>
                <a:cs typeface="Play"/>
                <a:sym typeface="Play"/>
              </a:rPr>
              <a:t>LOGIQUE</a:t>
            </a:r>
            <a:endParaRPr b="0" i="0" sz="10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26" name="Google Shape;726;p24"/>
          <p:cNvSpPr/>
          <p:nvPr/>
        </p:nvSpPr>
        <p:spPr>
          <a:xfrm>
            <a:off x="733826" y="973836"/>
            <a:ext cx="980700" cy="137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200" lIns="200" spcFirstLastPara="1" rIns="200" wrap="square" tIns="2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600"/>
              <a:buFont typeface="Arial"/>
              <a:buNone/>
            </a:pPr>
            <a:r>
              <a:rPr b="0" i="0" lang="fr" sz="6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Problème → dispositif → action</a:t>
            </a:r>
            <a:endParaRPr b="0" i="0" sz="6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27" name="Google Shape;727;p24"/>
          <p:cNvSpPr/>
          <p:nvPr/>
        </p:nvSpPr>
        <p:spPr>
          <a:xfrm>
            <a:off x="240036" y="1248156"/>
            <a:ext cx="1543200" cy="3326100"/>
          </a:xfrm>
          <a:prstGeom prst="roundRect">
            <a:avLst>
              <a:gd fmla="val 5333" name="adj"/>
            </a:avLst>
          </a:prstGeom>
          <a:solidFill>
            <a:srgbClr val="FFFFFF"/>
          </a:solidFill>
          <a:ln cap="flat" cmpd="sng" w="8575">
            <a:solidFill>
              <a:srgbClr val="D9252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28" name="Google Shape;728;p24"/>
          <p:cNvSpPr/>
          <p:nvPr/>
        </p:nvSpPr>
        <p:spPr>
          <a:xfrm>
            <a:off x="377200" y="1440180"/>
            <a:ext cx="219300" cy="178200"/>
          </a:xfrm>
          <a:prstGeom prst="roundRect">
            <a:avLst>
              <a:gd fmla="val 46154" name="adj"/>
            </a:avLst>
          </a:prstGeom>
          <a:solidFill>
            <a:srgbClr val="D92525"/>
          </a:solidFill>
          <a:ln cap="flat" cmpd="sng" w="8575">
            <a:solidFill>
              <a:srgbClr val="D9252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29" name="Google Shape;729;p24"/>
          <p:cNvSpPr/>
          <p:nvPr/>
        </p:nvSpPr>
        <p:spPr>
          <a:xfrm>
            <a:off x="404633" y="1440180"/>
            <a:ext cx="164700" cy="178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200" lIns="200" spcFirstLastPara="1" rIns="200" wrap="square" tIns="2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600"/>
              <a:buFont typeface="Arial"/>
              <a:buNone/>
            </a:pPr>
            <a:r>
              <a:rPr b="1" i="0" lang="fr" sz="6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1</a:t>
            </a:r>
            <a:endParaRPr b="0" i="0" sz="6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30" name="Google Shape;730;p24"/>
          <p:cNvSpPr/>
          <p:nvPr/>
        </p:nvSpPr>
        <p:spPr>
          <a:xfrm>
            <a:off x="658386" y="1405890"/>
            <a:ext cx="918900" cy="12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200" lIns="200" spcFirstLastPara="1" rIns="200" wrap="square" tIns="2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B376D"/>
              </a:buClr>
              <a:buSzPts val="600"/>
              <a:buFont typeface="Arial"/>
              <a:buNone/>
            </a:pPr>
            <a:r>
              <a:rPr b="1" i="0" lang="fr" sz="600" u="none" cap="none" strike="noStrike">
                <a:solidFill>
                  <a:srgbClr val="0B376D"/>
                </a:solidFill>
                <a:latin typeface="Arial"/>
                <a:ea typeface="Arial"/>
                <a:cs typeface="Arial"/>
                <a:sym typeface="Arial"/>
              </a:rPr>
              <a:t>1. Problème observé</a:t>
            </a:r>
            <a:endParaRPr b="0" i="0" sz="6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31" name="Google Shape;731;p24"/>
          <p:cNvSpPr/>
          <p:nvPr/>
        </p:nvSpPr>
        <p:spPr>
          <a:xfrm>
            <a:off x="658386" y="1570482"/>
            <a:ext cx="918900" cy="192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200" lIns="200" spcFirstLastPara="1" rIns="200" wrap="square" tIns="2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B677A"/>
              </a:buClr>
              <a:buSzPts val="500"/>
              <a:buFont typeface="Arial"/>
              <a:buNone/>
            </a:pPr>
            <a:r>
              <a:rPr b="0" i="0" lang="fr" sz="500" u="none" cap="none" strike="noStrike">
                <a:solidFill>
                  <a:srgbClr val="5B677A"/>
                </a:solidFill>
                <a:latin typeface="Arial"/>
                <a:ea typeface="Arial"/>
                <a:cs typeface="Arial"/>
                <a:sym typeface="Arial"/>
              </a:rPr>
              <a:t>ex. attente, erreur, rupture</a:t>
            </a:r>
            <a:endParaRPr b="0" i="0" sz="5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732" name="Google Shape;732;p24"/>
          <p:cNvCxnSpPr/>
          <p:nvPr/>
        </p:nvCxnSpPr>
        <p:spPr>
          <a:xfrm>
            <a:off x="493789" y="1728216"/>
            <a:ext cx="0" cy="260700"/>
          </a:xfrm>
          <a:prstGeom prst="straightConnector1">
            <a:avLst/>
          </a:prstGeom>
          <a:noFill/>
          <a:ln cap="flat" cmpd="sng" w="13325">
            <a:solidFill>
              <a:srgbClr val="D92525"/>
            </a:solidFill>
            <a:prstDash val="solid"/>
            <a:round/>
            <a:headEnd len="sm" w="sm" type="none"/>
            <a:tailEnd len="med" w="med" type="triangle"/>
          </a:ln>
        </p:spPr>
      </p:cxnSp>
      <p:sp>
        <p:nvSpPr>
          <p:cNvPr id="733" name="Google Shape;733;p24"/>
          <p:cNvSpPr/>
          <p:nvPr/>
        </p:nvSpPr>
        <p:spPr>
          <a:xfrm>
            <a:off x="377200" y="2180844"/>
            <a:ext cx="219300" cy="178200"/>
          </a:xfrm>
          <a:prstGeom prst="roundRect">
            <a:avLst>
              <a:gd fmla="val 46154" name="adj"/>
            </a:avLst>
          </a:prstGeom>
          <a:solidFill>
            <a:srgbClr val="D92525"/>
          </a:solidFill>
          <a:ln cap="flat" cmpd="sng" w="8575">
            <a:solidFill>
              <a:srgbClr val="D9252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34" name="Google Shape;734;p24"/>
          <p:cNvSpPr/>
          <p:nvPr/>
        </p:nvSpPr>
        <p:spPr>
          <a:xfrm>
            <a:off x="404633" y="2180844"/>
            <a:ext cx="164700" cy="178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200" lIns="200" spcFirstLastPara="1" rIns="200" wrap="square" tIns="2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600"/>
              <a:buFont typeface="Arial"/>
              <a:buNone/>
            </a:pPr>
            <a:r>
              <a:rPr b="1" i="0" lang="fr" sz="6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2</a:t>
            </a:r>
            <a:endParaRPr b="0" i="0" sz="6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35" name="Google Shape;735;p24"/>
          <p:cNvSpPr/>
          <p:nvPr/>
        </p:nvSpPr>
        <p:spPr>
          <a:xfrm>
            <a:off x="658386" y="2146554"/>
            <a:ext cx="918900" cy="12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200" lIns="200" spcFirstLastPara="1" rIns="200" wrap="square" tIns="2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B376D"/>
              </a:buClr>
              <a:buSzPts val="600"/>
              <a:buFont typeface="Arial"/>
              <a:buNone/>
            </a:pPr>
            <a:r>
              <a:rPr b="1" i="0" lang="fr" sz="600" u="none" cap="none" strike="noStrike">
                <a:solidFill>
                  <a:srgbClr val="0B376D"/>
                </a:solidFill>
                <a:latin typeface="Arial"/>
                <a:ea typeface="Arial"/>
                <a:cs typeface="Arial"/>
                <a:sym typeface="Arial"/>
              </a:rPr>
              <a:t>2. Dispositif concret</a:t>
            </a:r>
            <a:endParaRPr b="0" i="0" sz="6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36" name="Google Shape;736;p24"/>
          <p:cNvSpPr/>
          <p:nvPr/>
        </p:nvSpPr>
        <p:spPr>
          <a:xfrm>
            <a:off x="658386" y="2311146"/>
            <a:ext cx="918900" cy="192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200" lIns="200" spcFirstLastPara="1" rIns="200" wrap="square" tIns="2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B677A"/>
              </a:buClr>
              <a:buSzPts val="500"/>
              <a:buFont typeface="Arial"/>
              <a:buNone/>
            </a:pPr>
            <a:r>
              <a:rPr b="0" i="0" lang="fr" sz="500" u="none" cap="none" strike="noStrike">
                <a:solidFill>
                  <a:srgbClr val="5B677A"/>
                </a:solidFill>
                <a:latin typeface="Arial"/>
                <a:ea typeface="Arial"/>
                <a:cs typeface="Arial"/>
                <a:sym typeface="Arial"/>
              </a:rPr>
              <a:t>scan, caméra, RFID, robot, ML</a:t>
            </a:r>
            <a:endParaRPr b="0" i="0" sz="5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737" name="Google Shape;737;p24"/>
          <p:cNvCxnSpPr/>
          <p:nvPr/>
        </p:nvCxnSpPr>
        <p:spPr>
          <a:xfrm>
            <a:off x="493789" y="2468880"/>
            <a:ext cx="0" cy="260700"/>
          </a:xfrm>
          <a:prstGeom prst="straightConnector1">
            <a:avLst/>
          </a:prstGeom>
          <a:noFill/>
          <a:ln cap="flat" cmpd="sng" w="13325">
            <a:solidFill>
              <a:srgbClr val="D92525"/>
            </a:solidFill>
            <a:prstDash val="solid"/>
            <a:round/>
            <a:headEnd len="sm" w="sm" type="none"/>
            <a:tailEnd len="med" w="med" type="triangle"/>
          </a:ln>
        </p:spPr>
      </p:cxnSp>
      <p:sp>
        <p:nvSpPr>
          <p:cNvPr id="738" name="Google Shape;738;p24"/>
          <p:cNvSpPr/>
          <p:nvPr/>
        </p:nvSpPr>
        <p:spPr>
          <a:xfrm>
            <a:off x="377200" y="2921508"/>
            <a:ext cx="219300" cy="178200"/>
          </a:xfrm>
          <a:prstGeom prst="roundRect">
            <a:avLst>
              <a:gd fmla="val 46154" name="adj"/>
            </a:avLst>
          </a:prstGeom>
          <a:solidFill>
            <a:srgbClr val="D92525"/>
          </a:solidFill>
          <a:ln cap="flat" cmpd="sng" w="8575">
            <a:solidFill>
              <a:srgbClr val="D9252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39" name="Google Shape;739;p24"/>
          <p:cNvSpPr/>
          <p:nvPr/>
        </p:nvSpPr>
        <p:spPr>
          <a:xfrm>
            <a:off x="404633" y="2921508"/>
            <a:ext cx="164700" cy="178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200" lIns="200" spcFirstLastPara="1" rIns="200" wrap="square" tIns="2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600"/>
              <a:buFont typeface="Arial"/>
              <a:buNone/>
            </a:pPr>
            <a:r>
              <a:rPr b="1" i="0" lang="fr" sz="6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3</a:t>
            </a:r>
            <a:endParaRPr b="0" i="0" sz="6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40" name="Google Shape;740;p24"/>
          <p:cNvSpPr/>
          <p:nvPr/>
        </p:nvSpPr>
        <p:spPr>
          <a:xfrm>
            <a:off x="658386" y="2887218"/>
            <a:ext cx="918900" cy="12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200" lIns="200" spcFirstLastPara="1" rIns="200" wrap="square" tIns="2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B376D"/>
              </a:buClr>
              <a:buSzPts val="600"/>
              <a:buFont typeface="Arial"/>
              <a:buNone/>
            </a:pPr>
            <a:r>
              <a:rPr b="1" i="0" lang="fr" sz="600" u="none" cap="none" strike="noStrike">
                <a:solidFill>
                  <a:srgbClr val="0B376D"/>
                </a:solidFill>
                <a:latin typeface="Arial"/>
                <a:ea typeface="Arial"/>
                <a:cs typeface="Arial"/>
                <a:sym typeface="Arial"/>
              </a:rPr>
              <a:t>3. Workflow WMS</a:t>
            </a:r>
            <a:endParaRPr b="0" i="0" sz="6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41" name="Google Shape;741;p24"/>
          <p:cNvSpPr/>
          <p:nvPr/>
        </p:nvSpPr>
        <p:spPr>
          <a:xfrm>
            <a:off x="658386" y="3051810"/>
            <a:ext cx="918900" cy="192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200" lIns="200" spcFirstLastPara="1" rIns="200" wrap="square" tIns="2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B677A"/>
              </a:buClr>
              <a:buSzPts val="500"/>
              <a:buFont typeface="Arial"/>
              <a:buNone/>
            </a:pPr>
            <a:r>
              <a:rPr b="0" i="0" lang="fr" sz="500" u="none" cap="none" strike="noStrike">
                <a:solidFill>
                  <a:srgbClr val="5B677A"/>
                </a:solidFill>
                <a:latin typeface="Arial"/>
                <a:ea typeface="Arial"/>
                <a:cs typeface="Arial"/>
                <a:sym typeface="Arial"/>
              </a:rPr>
              <a:t>création tâche, alerte, validation</a:t>
            </a:r>
            <a:endParaRPr b="0" i="0" sz="5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742" name="Google Shape;742;p24"/>
          <p:cNvCxnSpPr/>
          <p:nvPr/>
        </p:nvCxnSpPr>
        <p:spPr>
          <a:xfrm>
            <a:off x="493789" y="3209544"/>
            <a:ext cx="0" cy="260700"/>
          </a:xfrm>
          <a:prstGeom prst="straightConnector1">
            <a:avLst/>
          </a:prstGeom>
          <a:noFill/>
          <a:ln cap="flat" cmpd="sng" w="13325">
            <a:solidFill>
              <a:srgbClr val="D92525"/>
            </a:solidFill>
            <a:prstDash val="solid"/>
            <a:round/>
            <a:headEnd len="sm" w="sm" type="none"/>
            <a:tailEnd len="med" w="med" type="triangle"/>
          </a:ln>
        </p:spPr>
      </p:cxnSp>
      <p:sp>
        <p:nvSpPr>
          <p:cNvPr id="743" name="Google Shape;743;p24"/>
          <p:cNvSpPr/>
          <p:nvPr/>
        </p:nvSpPr>
        <p:spPr>
          <a:xfrm>
            <a:off x="377200" y="3662172"/>
            <a:ext cx="219300" cy="178200"/>
          </a:xfrm>
          <a:prstGeom prst="roundRect">
            <a:avLst>
              <a:gd fmla="val 46154" name="adj"/>
            </a:avLst>
          </a:prstGeom>
          <a:solidFill>
            <a:srgbClr val="D92525"/>
          </a:solidFill>
          <a:ln cap="flat" cmpd="sng" w="8575">
            <a:solidFill>
              <a:srgbClr val="D9252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44" name="Google Shape;744;p24"/>
          <p:cNvSpPr/>
          <p:nvPr/>
        </p:nvSpPr>
        <p:spPr>
          <a:xfrm>
            <a:off x="404633" y="3662172"/>
            <a:ext cx="164700" cy="178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200" lIns="200" spcFirstLastPara="1" rIns="200" wrap="square" tIns="2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600"/>
              <a:buFont typeface="Arial"/>
              <a:buNone/>
            </a:pPr>
            <a:r>
              <a:rPr b="1" i="0" lang="fr" sz="6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4</a:t>
            </a:r>
            <a:endParaRPr b="0" i="0" sz="6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45" name="Google Shape;745;p24"/>
          <p:cNvSpPr/>
          <p:nvPr/>
        </p:nvSpPr>
        <p:spPr>
          <a:xfrm>
            <a:off x="658386" y="3627882"/>
            <a:ext cx="918900" cy="12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200" lIns="200" spcFirstLastPara="1" rIns="200" wrap="square" tIns="2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B376D"/>
              </a:buClr>
              <a:buSzPts val="600"/>
              <a:buFont typeface="Arial"/>
              <a:buNone/>
            </a:pPr>
            <a:r>
              <a:rPr b="1" i="0" lang="fr" sz="600" u="none" cap="none" strike="noStrike">
                <a:solidFill>
                  <a:srgbClr val="0B376D"/>
                </a:solidFill>
                <a:latin typeface="Arial"/>
                <a:ea typeface="Arial"/>
                <a:cs typeface="Arial"/>
                <a:sym typeface="Arial"/>
              </a:rPr>
              <a:t>4. Bénéfice mesuré</a:t>
            </a:r>
            <a:endParaRPr b="0" i="0" sz="6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46" name="Google Shape;746;p24"/>
          <p:cNvSpPr/>
          <p:nvPr/>
        </p:nvSpPr>
        <p:spPr>
          <a:xfrm>
            <a:off x="658386" y="3792474"/>
            <a:ext cx="918900" cy="192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200" lIns="200" spcFirstLastPara="1" rIns="200" wrap="square" tIns="2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B677A"/>
              </a:buClr>
              <a:buSzPts val="500"/>
              <a:buFont typeface="Arial"/>
              <a:buNone/>
            </a:pPr>
            <a:r>
              <a:rPr b="0" i="0" lang="fr" sz="500" u="none" cap="none" strike="noStrike">
                <a:solidFill>
                  <a:srgbClr val="5B677A"/>
                </a:solidFill>
                <a:latin typeface="Arial"/>
                <a:ea typeface="Arial"/>
                <a:cs typeface="Arial"/>
                <a:sym typeface="Arial"/>
              </a:rPr>
              <a:t>temps ↓ erreurs ↓ service ↑</a:t>
            </a:r>
            <a:endParaRPr b="0" i="0" sz="5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47" name="Google Shape;747;p24"/>
          <p:cNvSpPr/>
          <p:nvPr/>
        </p:nvSpPr>
        <p:spPr>
          <a:xfrm>
            <a:off x="240036" y="4704588"/>
            <a:ext cx="1543200" cy="246900"/>
          </a:xfrm>
          <a:prstGeom prst="roundRect">
            <a:avLst>
              <a:gd fmla="val 27778" name="adj"/>
            </a:avLst>
          </a:prstGeom>
          <a:solidFill>
            <a:srgbClr val="EDF3FA"/>
          </a:solidFill>
          <a:ln cap="flat" cmpd="sng" w="8575">
            <a:solidFill>
              <a:srgbClr val="B8C7D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48" name="Google Shape;748;p24"/>
          <p:cNvSpPr/>
          <p:nvPr/>
        </p:nvSpPr>
        <p:spPr>
          <a:xfrm>
            <a:off x="322335" y="4752594"/>
            <a:ext cx="1371600" cy="96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200" lIns="200" spcFirstLastPara="1" rIns="200" wrap="square" tIns="2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6B3FA0"/>
              </a:buClr>
              <a:buSzPts val="500"/>
              <a:buFont typeface="Arial"/>
              <a:buNone/>
            </a:pPr>
            <a:r>
              <a:rPr b="1" i="0" lang="fr" sz="500" u="none" cap="none" strike="noStrike">
                <a:solidFill>
                  <a:srgbClr val="6B3FA0"/>
                </a:solidFill>
                <a:latin typeface="Arial"/>
                <a:ea typeface="Arial"/>
                <a:cs typeface="Arial"/>
                <a:sym typeface="Arial"/>
              </a:rPr>
              <a:t>Important : IA seulement si règle simple insuffisante</a:t>
            </a:r>
            <a:endParaRPr b="0" i="0" sz="5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49" name="Google Shape;749;p24"/>
          <p:cNvSpPr/>
          <p:nvPr/>
        </p:nvSpPr>
        <p:spPr>
          <a:xfrm>
            <a:off x="1933958" y="661862"/>
            <a:ext cx="3381300" cy="836700"/>
          </a:xfrm>
          <a:prstGeom prst="roundRect">
            <a:avLst>
              <a:gd fmla="val 9836" name="adj"/>
            </a:avLst>
          </a:prstGeom>
          <a:solidFill>
            <a:srgbClr val="FFFFFF"/>
          </a:solidFill>
          <a:ln cap="flat" cmpd="sng" w="8575">
            <a:solidFill>
              <a:srgbClr val="D9252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50" name="Google Shape;750;p24"/>
          <p:cNvSpPr/>
          <p:nvPr/>
        </p:nvSpPr>
        <p:spPr>
          <a:xfrm>
            <a:off x="1933958" y="661862"/>
            <a:ext cx="3381300" cy="185100"/>
          </a:xfrm>
          <a:prstGeom prst="roundRect">
            <a:avLst>
              <a:gd fmla="val 37037" name="adj"/>
            </a:avLst>
          </a:prstGeom>
          <a:solidFill>
            <a:srgbClr val="D92525"/>
          </a:solidFill>
          <a:ln cap="flat" cmpd="sng" w="9525">
            <a:solidFill>
              <a:srgbClr val="D9252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51" name="Google Shape;751;p24"/>
          <p:cNvSpPr/>
          <p:nvPr/>
        </p:nvSpPr>
        <p:spPr>
          <a:xfrm>
            <a:off x="2167136" y="682436"/>
            <a:ext cx="3093000" cy="12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200" lIns="200" spcFirstLastPara="1" rIns="200" wrap="square" tIns="2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600"/>
              <a:buFont typeface="Arial"/>
              <a:buNone/>
            </a:pPr>
            <a:r>
              <a:rPr b="1" i="0" lang="fr" sz="6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Camion → tapis roulant → scan auto</a:t>
            </a:r>
            <a:endParaRPr b="0" i="0" sz="6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52" name="Google Shape;752;p24"/>
          <p:cNvSpPr/>
          <p:nvPr/>
        </p:nvSpPr>
        <p:spPr>
          <a:xfrm>
            <a:off x="1961390" y="682436"/>
            <a:ext cx="164700" cy="116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200" lIns="200" spcFirstLastPara="1" rIns="200" wrap="square" tIns="2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700"/>
              <a:buFont typeface="Quattrocento Sans"/>
              <a:buNone/>
            </a:pPr>
            <a:r>
              <a:rPr b="0" i="0" lang="fr" sz="700" u="none" cap="none" strike="noStrike">
                <a:solidFill>
                  <a:srgbClr val="FFFFFF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🛻</a:t>
            </a:r>
            <a:endParaRPr b="0" i="0" sz="7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53" name="Google Shape;753;p24"/>
          <p:cNvSpPr/>
          <p:nvPr/>
        </p:nvSpPr>
        <p:spPr>
          <a:xfrm>
            <a:off x="4814444" y="918972"/>
            <a:ext cx="438900" cy="123600"/>
          </a:xfrm>
          <a:prstGeom prst="roundRect">
            <a:avLst>
              <a:gd fmla="val 66667" name="adj"/>
            </a:avLst>
          </a:prstGeom>
          <a:solidFill>
            <a:srgbClr val="FDECEC"/>
          </a:solidFill>
          <a:ln cap="flat" cmpd="sng" w="8575">
            <a:solidFill>
              <a:srgbClr val="D9252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54" name="Google Shape;754;p24"/>
          <p:cNvSpPr/>
          <p:nvPr/>
        </p:nvSpPr>
        <p:spPr>
          <a:xfrm>
            <a:off x="4841877" y="918972"/>
            <a:ext cx="384000" cy="12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200" lIns="200" spcFirstLastPara="1" rIns="200" wrap="square" tIns="2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D92525"/>
              </a:buClr>
              <a:buSzPts val="400"/>
              <a:buFont typeface="Arial"/>
              <a:buNone/>
            </a:pPr>
            <a:r>
              <a:rPr b="1" i="0" lang="fr" sz="400" u="none" cap="none" strike="noStrike">
                <a:solidFill>
                  <a:srgbClr val="D92525"/>
                </a:solidFill>
                <a:latin typeface="Arial"/>
                <a:ea typeface="Arial"/>
                <a:cs typeface="Arial"/>
                <a:sym typeface="Arial"/>
              </a:rPr>
              <a:t>Automatisation</a:t>
            </a:r>
            <a:endParaRPr b="0" i="0" sz="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55" name="Google Shape;755;p24"/>
          <p:cNvSpPr/>
          <p:nvPr/>
        </p:nvSpPr>
        <p:spPr>
          <a:xfrm>
            <a:off x="2023114" y="997904"/>
            <a:ext cx="3216600" cy="150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200" lIns="200" spcFirstLastPara="1" rIns="200" wrap="square" tIns="2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11827"/>
              </a:buClr>
              <a:buSzPts val="500"/>
              <a:buFont typeface="Arial"/>
              <a:buNone/>
            </a:pPr>
            <a:r>
              <a:rPr b="1" i="0" lang="fr" sz="500" u="none" cap="none" strike="noStrike">
                <a:solidFill>
                  <a:srgbClr val="111827"/>
                </a:solidFill>
                <a:latin typeface="Arial"/>
                <a:ea typeface="Arial"/>
                <a:cs typeface="Arial"/>
                <a:sym typeface="Arial"/>
              </a:rPr>
              <a:t>Moyens : </a:t>
            </a:r>
            <a:r>
              <a:rPr b="0" i="0" lang="fr" sz="500" u="none" cap="none" strike="noStrike">
                <a:solidFill>
                  <a:srgbClr val="111827"/>
                </a:solidFill>
                <a:latin typeface="Arial"/>
                <a:ea typeface="Arial"/>
                <a:cs typeface="Arial"/>
                <a:sym typeface="Arial"/>
              </a:rPr>
              <a:t>Tapis roulant, scanner code-barres/RFID, terminal quai</a:t>
            </a:r>
            <a:endParaRPr b="0" i="0" sz="5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56" name="Google Shape;756;p24"/>
          <p:cNvSpPr/>
          <p:nvPr/>
        </p:nvSpPr>
        <p:spPr>
          <a:xfrm>
            <a:off x="2023114" y="1169354"/>
            <a:ext cx="3216600" cy="157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200" lIns="200" spcFirstLastPara="1" rIns="200" wrap="square" tIns="2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11827"/>
              </a:buClr>
              <a:buSzPts val="500"/>
              <a:buFont typeface="Arial"/>
              <a:buNone/>
            </a:pPr>
            <a:r>
              <a:rPr b="1" i="0" lang="fr" sz="500" u="none" cap="none" strike="noStrike">
                <a:solidFill>
                  <a:srgbClr val="111827"/>
                </a:solidFill>
                <a:latin typeface="Arial"/>
                <a:ea typeface="Arial"/>
                <a:cs typeface="Arial"/>
                <a:sym typeface="Arial"/>
              </a:rPr>
              <a:t>Workflow : </a:t>
            </a:r>
            <a:r>
              <a:rPr b="0" i="0" lang="fr" sz="500" u="none" cap="none" strike="noStrike">
                <a:solidFill>
                  <a:srgbClr val="111827"/>
                </a:solidFill>
                <a:latin typeface="Arial"/>
                <a:ea typeface="Arial"/>
                <a:cs typeface="Arial"/>
                <a:sym typeface="Arial"/>
              </a:rPr>
              <a:t>Camion → déchargement → scan → réception WMS</a:t>
            </a:r>
            <a:endParaRPr b="0" i="0" sz="5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57" name="Google Shape;757;p24"/>
          <p:cNvSpPr/>
          <p:nvPr/>
        </p:nvSpPr>
        <p:spPr>
          <a:xfrm>
            <a:off x="2023114" y="1347662"/>
            <a:ext cx="3216600" cy="137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200" lIns="200" spcFirstLastPara="1" rIns="200" wrap="square" tIns="2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11827"/>
              </a:buClr>
              <a:buSzPts val="500"/>
              <a:buFont typeface="Arial"/>
              <a:buNone/>
            </a:pPr>
            <a:r>
              <a:rPr b="1" i="0" lang="fr" sz="500" u="none" cap="none" strike="noStrike">
                <a:solidFill>
                  <a:srgbClr val="111827"/>
                </a:solidFill>
                <a:latin typeface="Arial"/>
                <a:ea typeface="Arial"/>
                <a:cs typeface="Arial"/>
                <a:sym typeface="Arial"/>
              </a:rPr>
              <a:t>Bénéfice : </a:t>
            </a:r>
            <a:r>
              <a:rPr b="0" i="0" lang="fr" sz="500" u="none" cap="none" strike="noStrike">
                <a:solidFill>
                  <a:srgbClr val="111827"/>
                </a:solidFill>
                <a:latin typeface="Arial"/>
                <a:ea typeface="Arial"/>
                <a:cs typeface="Arial"/>
                <a:sym typeface="Arial"/>
              </a:rPr>
              <a:t>Moins d’attente au quai et traçabilité immédiate</a:t>
            </a:r>
            <a:endParaRPr b="0" i="0" sz="5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58" name="Google Shape;758;p24"/>
          <p:cNvSpPr/>
          <p:nvPr/>
        </p:nvSpPr>
        <p:spPr>
          <a:xfrm>
            <a:off x="5465972" y="619774"/>
            <a:ext cx="3381300" cy="836700"/>
          </a:xfrm>
          <a:prstGeom prst="roundRect">
            <a:avLst>
              <a:gd fmla="val 9836" name="adj"/>
            </a:avLst>
          </a:prstGeom>
          <a:solidFill>
            <a:srgbClr val="FFFFFF"/>
          </a:solidFill>
          <a:ln cap="flat" cmpd="sng" w="8575">
            <a:solidFill>
              <a:srgbClr val="D9252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59" name="Google Shape;759;p24"/>
          <p:cNvSpPr/>
          <p:nvPr/>
        </p:nvSpPr>
        <p:spPr>
          <a:xfrm>
            <a:off x="5465972" y="619774"/>
            <a:ext cx="3381300" cy="185100"/>
          </a:xfrm>
          <a:prstGeom prst="roundRect">
            <a:avLst>
              <a:gd fmla="val 37037" name="adj"/>
            </a:avLst>
          </a:prstGeom>
          <a:solidFill>
            <a:srgbClr val="D92525"/>
          </a:solidFill>
          <a:ln cap="flat" cmpd="sng" w="9525">
            <a:solidFill>
              <a:srgbClr val="D9252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60" name="Google Shape;760;p24"/>
          <p:cNvSpPr/>
          <p:nvPr/>
        </p:nvSpPr>
        <p:spPr>
          <a:xfrm>
            <a:off x="5699150" y="640348"/>
            <a:ext cx="3093000" cy="12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200" lIns="200" spcFirstLastPara="1" rIns="200" wrap="square" tIns="2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600"/>
              <a:buFont typeface="Arial"/>
              <a:buNone/>
            </a:pPr>
            <a:r>
              <a:rPr b="1" i="0" lang="fr" sz="6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Comptage cartons par caméra 3D</a:t>
            </a:r>
            <a:endParaRPr b="0" i="0" sz="6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61" name="Google Shape;761;p24"/>
          <p:cNvSpPr/>
          <p:nvPr/>
        </p:nvSpPr>
        <p:spPr>
          <a:xfrm>
            <a:off x="5493404" y="640348"/>
            <a:ext cx="164700" cy="116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200" lIns="200" spcFirstLastPara="1" rIns="200" wrap="square" tIns="2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700"/>
              <a:buFont typeface="Quattrocento Sans"/>
              <a:buNone/>
            </a:pPr>
            <a:r>
              <a:rPr b="0" i="0" lang="fr" sz="700" u="none" cap="none" strike="noStrike">
                <a:solidFill>
                  <a:srgbClr val="FFFFFF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📷</a:t>
            </a:r>
            <a:endParaRPr b="0" i="0" sz="7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62" name="Google Shape;762;p24"/>
          <p:cNvSpPr/>
          <p:nvPr/>
        </p:nvSpPr>
        <p:spPr>
          <a:xfrm>
            <a:off x="8346408" y="832372"/>
            <a:ext cx="438900" cy="123600"/>
          </a:xfrm>
          <a:prstGeom prst="roundRect">
            <a:avLst>
              <a:gd fmla="val 66667" name="adj"/>
            </a:avLst>
          </a:prstGeom>
          <a:solidFill>
            <a:srgbClr val="FDECEC"/>
          </a:solidFill>
          <a:ln cap="flat" cmpd="sng" w="8575">
            <a:solidFill>
              <a:srgbClr val="D9252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63" name="Google Shape;763;p24"/>
          <p:cNvSpPr/>
          <p:nvPr/>
        </p:nvSpPr>
        <p:spPr>
          <a:xfrm>
            <a:off x="8373841" y="832372"/>
            <a:ext cx="384000" cy="12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200" lIns="200" spcFirstLastPara="1" rIns="200" wrap="square" tIns="2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D92525"/>
              </a:buClr>
              <a:buSzPts val="400"/>
              <a:buFont typeface="Arial"/>
              <a:buNone/>
            </a:pPr>
            <a:r>
              <a:rPr b="1" i="0" lang="fr" sz="400" u="none" cap="none" strike="noStrike">
                <a:solidFill>
                  <a:srgbClr val="D92525"/>
                </a:solidFill>
                <a:latin typeface="Arial"/>
                <a:ea typeface="Arial"/>
                <a:cs typeface="Arial"/>
                <a:sym typeface="Arial"/>
              </a:rPr>
              <a:t>Vision</a:t>
            </a:r>
            <a:endParaRPr b="0" i="0" sz="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64" name="Google Shape;764;p24"/>
          <p:cNvSpPr/>
          <p:nvPr/>
        </p:nvSpPr>
        <p:spPr>
          <a:xfrm>
            <a:off x="5555128" y="955816"/>
            <a:ext cx="3216600" cy="150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200" lIns="200" spcFirstLastPara="1" rIns="200" wrap="square" tIns="2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11827"/>
              </a:buClr>
              <a:buSzPts val="500"/>
              <a:buFont typeface="Arial"/>
              <a:buNone/>
            </a:pPr>
            <a:r>
              <a:rPr b="1" i="0" lang="fr" sz="500" u="none" cap="none" strike="noStrike">
                <a:solidFill>
                  <a:srgbClr val="111827"/>
                </a:solidFill>
                <a:latin typeface="Arial"/>
                <a:ea typeface="Arial"/>
                <a:cs typeface="Arial"/>
                <a:sym typeface="Arial"/>
              </a:rPr>
              <a:t>Moyens : </a:t>
            </a:r>
            <a:r>
              <a:rPr b="0" i="0" lang="fr" sz="500" u="none" cap="none" strike="noStrike">
                <a:solidFill>
                  <a:srgbClr val="111827"/>
                </a:solidFill>
                <a:latin typeface="Arial"/>
                <a:ea typeface="Arial"/>
                <a:cs typeface="Arial"/>
                <a:sym typeface="Arial"/>
              </a:rPr>
              <a:t>Caméra 3D au-dessus convoyeur/palette</a:t>
            </a:r>
            <a:endParaRPr b="0" i="0" sz="5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65" name="Google Shape;765;p24"/>
          <p:cNvSpPr/>
          <p:nvPr/>
        </p:nvSpPr>
        <p:spPr>
          <a:xfrm>
            <a:off x="5555128" y="1127266"/>
            <a:ext cx="3216600" cy="157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200" lIns="200" spcFirstLastPara="1" rIns="200" wrap="square" tIns="2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11827"/>
              </a:buClr>
              <a:buSzPts val="500"/>
              <a:buFont typeface="Arial"/>
              <a:buNone/>
            </a:pPr>
            <a:r>
              <a:rPr b="1" i="0" lang="fr" sz="500" u="none" cap="none" strike="noStrike">
                <a:solidFill>
                  <a:srgbClr val="111827"/>
                </a:solidFill>
                <a:latin typeface="Arial"/>
                <a:ea typeface="Arial"/>
                <a:cs typeface="Arial"/>
                <a:sym typeface="Arial"/>
              </a:rPr>
              <a:t>Workflow : </a:t>
            </a:r>
            <a:r>
              <a:rPr b="0" i="0" lang="fr" sz="500" u="none" cap="none" strike="noStrike">
                <a:solidFill>
                  <a:srgbClr val="111827"/>
                </a:solidFill>
                <a:latin typeface="Arial"/>
                <a:ea typeface="Arial"/>
                <a:cs typeface="Arial"/>
                <a:sym typeface="Arial"/>
              </a:rPr>
              <a:t>Cartons passent → comptage → comparaison ASN/BC</a:t>
            </a:r>
            <a:endParaRPr b="0" i="0" sz="5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66" name="Google Shape;766;p24"/>
          <p:cNvSpPr/>
          <p:nvPr/>
        </p:nvSpPr>
        <p:spPr>
          <a:xfrm>
            <a:off x="5555128" y="1305574"/>
            <a:ext cx="3216600" cy="137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200" lIns="200" spcFirstLastPara="1" rIns="200" wrap="square" tIns="2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11827"/>
              </a:buClr>
              <a:buSzPts val="500"/>
              <a:buFont typeface="Arial"/>
              <a:buNone/>
            </a:pPr>
            <a:r>
              <a:rPr b="1" i="0" lang="fr" sz="500" u="none" cap="none" strike="noStrike">
                <a:solidFill>
                  <a:srgbClr val="111827"/>
                </a:solidFill>
                <a:latin typeface="Arial"/>
                <a:ea typeface="Arial"/>
                <a:cs typeface="Arial"/>
                <a:sym typeface="Arial"/>
              </a:rPr>
              <a:t>Bénéfice : </a:t>
            </a:r>
            <a:r>
              <a:rPr b="0" i="0" lang="fr" sz="500" u="none" cap="none" strike="noStrike">
                <a:solidFill>
                  <a:srgbClr val="111827"/>
                </a:solidFill>
                <a:latin typeface="Arial"/>
                <a:ea typeface="Arial"/>
                <a:cs typeface="Arial"/>
                <a:sym typeface="Arial"/>
              </a:rPr>
              <a:t>Quantités fiables, alerte en cas d’écart</a:t>
            </a:r>
            <a:endParaRPr b="0" i="0" sz="5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67" name="Google Shape;767;p24"/>
          <p:cNvSpPr/>
          <p:nvPr/>
        </p:nvSpPr>
        <p:spPr>
          <a:xfrm>
            <a:off x="1933958" y="1549979"/>
            <a:ext cx="3381300" cy="836700"/>
          </a:xfrm>
          <a:prstGeom prst="roundRect">
            <a:avLst>
              <a:gd fmla="val 9836" name="adj"/>
            </a:avLst>
          </a:prstGeom>
          <a:solidFill>
            <a:srgbClr val="FFFFFF"/>
          </a:solidFill>
          <a:ln cap="flat" cmpd="sng" w="8575">
            <a:solidFill>
              <a:srgbClr val="D9252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68" name="Google Shape;768;p24"/>
          <p:cNvSpPr/>
          <p:nvPr/>
        </p:nvSpPr>
        <p:spPr>
          <a:xfrm>
            <a:off x="1933958" y="1549979"/>
            <a:ext cx="3381300" cy="185100"/>
          </a:xfrm>
          <a:prstGeom prst="roundRect">
            <a:avLst>
              <a:gd fmla="val 37037" name="adj"/>
            </a:avLst>
          </a:prstGeom>
          <a:solidFill>
            <a:srgbClr val="D92525"/>
          </a:solidFill>
          <a:ln cap="flat" cmpd="sng" w="9525">
            <a:solidFill>
              <a:srgbClr val="D9252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69" name="Google Shape;769;p24"/>
          <p:cNvSpPr/>
          <p:nvPr/>
        </p:nvSpPr>
        <p:spPr>
          <a:xfrm>
            <a:off x="2167136" y="1570553"/>
            <a:ext cx="3093000" cy="12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200" lIns="200" spcFirstLastPara="1" rIns="200" wrap="square" tIns="2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600"/>
              <a:buFont typeface="Arial"/>
              <a:buNone/>
            </a:pPr>
            <a:r>
              <a:rPr b="1" i="0" lang="fr" sz="6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Lecture automatique des étiquettes</a:t>
            </a:r>
            <a:endParaRPr b="0" i="0" sz="6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70" name="Google Shape;770;p24"/>
          <p:cNvSpPr/>
          <p:nvPr/>
        </p:nvSpPr>
        <p:spPr>
          <a:xfrm>
            <a:off x="1961390" y="1570553"/>
            <a:ext cx="164700" cy="116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200" lIns="200" spcFirstLastPara="1" rIns="200" wrap="square" tIns="2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700"/>
              <a:buFont typeface="Quattrocento Sans"/>
              <a:buNone/>
            </a:pPr>
            <a:r>
              <a:rPr b="0" i="0" lang="fr" sz="700" u="none" cap="none" strike="noStrike">
                <a:solidFill>
                  <a:srgbClr val="FFFFFF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🔎</a:t>
            </a:r>
            <a:endParaRPr b="0" i="0" sz="7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71" name="Google Shape;771;p24"/>
          <p:cNvSpPr/>
          <p:nvPr/>
        </p:nvSpPr>
        <p:spPr>
          <a:xfrm>
            <a:off x="4814444" y="1844802"/>
            <a:ext cx="438900" cy="123600"/>
          </a:xfrm>
          <a:prstGeom prst="roundRect">
            <a:avLst>
              <a:gd fmla="val 66667" name="adj"/>
            </a:avLst>
          </a:prstGeom>
          <a:solidFill>
            <a:srgbClr val="FDECEC"/>
          </a:solidFill>
          <a:ln cap="flat" cmpd="sng" w="8575">
            <a:solidFill>
              <a:srgbClr val="D9252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72" name="Google Shape;772;p24"/>
          <p:cNvSpPr/>
          <p:nvPr/>
        </p:nvSpPr>
        <p:spPr>
          <a:xfrm>
            <a:off x="4841877" y="1844802"/>
            <a:ext cx="384000" cy="12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200" lIns="200" spcFirstLastPara="1" rIns="200" wrap="square" tIns="2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D92525"/>
              </a:buClr>
              <a:buSzPts val="400"/>
              <a:buFont typeface="Arial"/>
              <a:buNone/>
            </a:pPr>
            <a:r>
              <a:rPr b="1" i="0" lang="fr" sz="400" u="none" cap="none" strike="noStrike">
                <a:solidFill>
                  <a:srgbClr val="D92525"/>
                </a:solidFill>
                <a:latin typeface="Arial"/>
                <a:ea typeface="Arial"/>
                <a:cs typeface="Arial"/>
                <a:sym typeface="Arial"/>
              </a:rPr>
              <a:t>OCR</a:t>
            </a:r>
            <a:endParaRPr b="0" i="0" sz="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73" name="Google Shape;773;p24"/>
          <p:cNvSpPr/>
          <p:nvPr/>
        </p:nvSpPr>
        <p:spPr>
          <a:xfrm>
            <a:off x="2023114" y="1886021"/>
            <a:ext cx="3216600" cy="150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200" lIns="200" spcFirstLastPara="1" rIns="200" wrap="square" tIns="2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11827"/>
              </a:buClr>
              <a:buSzPts val="500"/>
              <a:buFont typeface="Arial"/>
              <a:buNone/>
            </a:pPr>
            <a:r>
              <a:rPr b="1" i="0" lang="fr" sz="500" u="none" cap="none" strike="noStrike">
                <a:solidFill>
                  <a:srgbClr val="111827"/>
                </a:solidFill>
                <a:latin typeface="Arial"/>
                <a:ea typeface="Arial"/>
                <a:cs typeface="Arial"/>
                <a:sym typeface="Arial"/>
              </a:rPr>
              <a:t>Moyens : </a:t>
            </a:r>
            <a:r>
              <a:rPr b="0" i="0" lang="fr" sz="500" u="none" cap="none" strike="noStrike">
                <a:solidFill>
                  <a:srgbClr val="111827"/>
                </a:solidFill>
                <a:latin typeface="Arial"/>
                <a:ea typeface="Arial"/>
                <a:cs typeface="Arial"/>
                <a:sym typeface="Arial"/>
              </a:rPr>
              <a:t>Caméra + OCR + règles de contrôle</a:t>
            </a:r>
            <a:endParaRPr b="0" i="0" sz="5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74" name="Google Shape;774;p24"/>
          <p:cNvSpPr/>
          <p:nvPr/>
        </p:nvSpPr>
        <p:spPr>
          <a:xfrm>
            <a:off x="2023114" y="2057471"/>
            <a:ext cx="3216600" cy="157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200" lIns="200" spcFirstLastPara="1" rIns="200" wrap="square" tIns="2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11827"/>
              </a:buClr>
              <a:buSzPts val="500"/>
              <a:buFont typeface="Arial"/>
              <a:buNone/>
            </a:pPr>
            <a:r>
              <a:rPr b="1" i="0" lang="fr" sz="500" u="none" cap="none" strike="noStrike">
                <a:solidFill>
                  <a:srgbClr val="111827"/>
                </a:solidFill>
                <a:latin typeface="Arial"/>
                <a:ea typeface="Arial"/>
                <a:cs typeface="Arial"/>
                <a:sym typeface="Arial"/>
              </a:rPr>
              <a:t>Workflow : </a:t>
            </a:r>
            <a:r>
              <a:rPr b="0" i="0" lang="fr" sz="500" u="none" cap="none" strike="noStrike">
                <a:solidFill>
                  <a:srgbClr val="111827"/>
                </a:solidFill>
                <a:latin typeface="Arial"/>
                <a:ea typeface="Arial"/>
                <a:cs typeface="Arial"/>
                <a:sym typeface="Arial"/>
              </a:rPr>
              <a:t>Label → réf/lot/DLC → comparaison commande</a:t>
            </a:r>
            <a:endParaRPr b="0" i="0" sz="5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75" name="Google Shape;775;p24"/>
          <p:cNvSpPr/>
          <p:nvPr/>
        </p:nvSpPr>
        <p:spPr>
          <a:xfrm>
            <a:off x="2023114" y="2235779"/>
            <a:ext cx="3216600" cy="137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200" lIns="200" spcFirstLastPara="1" rIns="200" wrap="square" tIns="2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11827"/>
              </a:buClr>
              <a:buSzPts val="500"/>
              <a:buFont typeface="Arial"/>
              <a:buNone/>
            </a:pPr>
            <a:r>
              <a:rPr b="1" i="0" lang="fr" sz="500" u="none" cap="none" strike="noStrike">
                <a:solidFill>
                  <a:srgbClr val="111827"/>
                </a:solidFill>
                <a:latin typeface="Arial"/>
                <a:ea typeface="Arial"/>
                <a:cs typeface="Arial"/>
                <a:sym typeface="Arial"/>
              </a:rPr>
              <a:t>Bénéfice : </a:t>
            </a:r>
            <a:r>
              <a:rPr b="0" i="0" lang="fr" sz="500" u="none" cap="none" strike="noStrike">
                <a:solidFill>
                  <a:srgbClr val="111827"/>
                </a:solidFill>
                <a:latin typeface="Arial"/>
                <a:ea typeface="Arial"/>
                <a:cs typeface="Arial"/>
                <a:sym typeface="Arial"/>
              </a:rPr>
              <a:t>Moins de saisie manuelle et moins d’erreurs</a:t>
            </a:r>
            <a:endParaRPr b="0" i="0" sz="5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76" name="Google Shape;776;p24"/>
          <p:cNvSpPr/>
          <p:nvPr/>
        </p:nvSpPr>
        <p:spPr>
          <a:xfrm>
            <a:off x="5438422" y="1497729"/>
            <a:ext cx="3381300" cy="836700"/>
          </a:xfrm>
          <a:prstGeom prst="roundRect">
            <a:avLst>
              <a:gd fmla="val 9836" name="adj"/>
            </a:avLst>
          </a:prstGeom>
          <a:solidFill>
            <a:srgbClr val="FFFFFF"/>
          </a:solidFill>
          <a:ln cap="flat" cmpd="sng" w="8575">
            <a:solidFill>
              <a:srgbClr val="D9252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77" name="Google Shape;777;p24"/>
          <p:cNvSpPr/>
          <p:nvPr/>
        </p:nvSpPr>
        <p:spPr>
          <a:xfrm>
            <a:off x="5438422" y="1497729"/>
            <a:ext cx="3381300" cy="185100"/>
          </a:xfrm>
          <a:prstGeom prst="roundRect">
            <a:avLst>
              <a:gd fmla="val 37037" name="adj"/>
            </a:avLst>
          </a:prstGeom>
          <a:solidFill>
            <a:srgbClr val="D92525"/>
          </a:solidFill>
          <a:ln cap="flat" cmpd="sng" w="9525">
            <a:solidFill>
              <a:srgbClr val="D9252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78" name="Google Shape;778;p24"/>
          <p:cNvSpPr/>
          <p:nvPr/>
        </p:nvSpPr>
        <p:spPr>
          <a:xfrm>
            <a:off x="5671600" y="1518303"/>
            <a:ext cx="3093000" cy="12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200" lIns="200" spcFirstLastPara="1" rIns="200" wrap="square" tIns="2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600"/>
              <a:buFont typeface="Arial"/>
              <a:buNone/>
            </a:pPr>
            <a:r>
              <a:rPr b="1" i="0" lang="fr" sz="6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Contrôle qualité par vision</a:t>
            </a:r>
            <a:endParaRPr b="0" i="0" sz="6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79" name="Google Shape;779;p24"/>
          <p:cNvSpPr/>
          <p:nvPr/>
        </p:nvSpPr>
        <p:spPr>
          <a:xfrm>
            <a:off x="5465854" y="1518303"/>
            <a:ext cx="164700" cy="116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200" lIns="200" spcFirstLastPara="1" rIns="200" wrap="square" tIns="2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700"/>
              <a:buFont typeface="Quattrocento Sans"/>
              <a:buNone/>
            </a:pPr>
            <a:r>
              <a:rPr b="0" i="0" lang="fr" sz="700" u="none" cap="none" strike="noStrike">
                <a:solidFill>
                  <a:srgbClr val="FFFFFF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✅</a:t>
            </a:r>
            <a:endParaRPr b="0" i="0" sz="7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80" name="Google Shape;780;p24"/>
          <p:cNvSpPr/>
          <p:nvPr/>
        </p:nvSpPr>
        <p:spPr>
          <a:xfrm>
            <a:off x="8318858" y="1710327"/>
            <a:ext cx="438900" cy="123600"/>
          </a:xfrm>
          <a:prstGeom prst="roundRect">
            <a:avLst>
              <a:gd fmla="val 66667" name="adj"/>
            </a:avLst>
          </a:prstGeom>
          <a:solidFill>
            <a:srgbClr val="FDECEC"/>
          </a:solidFill>
          <a:ln cap="flat" cmpd="sng" w="8575">
            <a:solidFill>
              <a:srgbClr val="D9252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81" name="Google Shape;781;p24"/>
          <p:cNvSpPr/>
          <p:nvPr/>
        </p:nvSpPr>
        <p:spPr>
          <a:xfrm>
            <a:off x="8346291" y="1710327"/>
            <a:ext cx="384000" cy="12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200" lIns="200" spcFirstLastPara="1" rIns="200" wrap="square" tIns="2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D92525"/>
              </a:buClr>
              <a:buSzPts val="400"/>
              <a:buFont typeface="Arial"/>
              <a:buNone/>
            </a:pPr>
            <a:r>
              <a:rPr b="1" i="0" lang="fr" sz="400" u="none" cap="none" strike="noStrike">
                <a:solidFill>
                  <a:srgbClr val="D92525"/>
                </a:solidFill>
                <a:latin typeface="Arial"/>
                <a:ea typeface="Arial"/>
                <a:cs typeface="Arial"/>
                <a:sym typeface="Arial"/>
              </a:rPr>
              <a:t>Vision + humain</a:t>
            </a:r>
            <a:endParaRPr b="0" i="0" sz="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82" name="Google Shape;782;p24"/>
          <p:cNvSpPr/>
          <p:nvPr/>
        </p:nvSpPr>
        <p:spPr>
          <a:xfrm>
            <a:off x="5527578" y="1833771"/>
            <a:ext cx="3216600" cy="150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200" lIns="200" spcFirstLastPara="1" rIns="200" wrap="square" tIns="2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11827"/>
              </a:buClr>
              <a:buSzPts val="500"/>
              <a:buFont typeface="Arial"/>
              <a:buNone/>
            </a:pPr>
            <a:r>
              <a:rPr b="1" i="0" lang="fr" sz="500" u="none" cap="none" strike="noStrike">
                <a:solidFill>
                  <a:srgbClr val="111827"/>
                </a:solidFill>
                <a:latin typeface="Arial"/>
                <a:ea typeface="Arial"/>
                <a:cs typeface="Arial"/>
                <a:sym typeface="Arial"/>
              </a:rPr>
              <a:t>Moyens : </a:t>
            </a:r>
            <a:r>
              <a:rPr b="0" i="0" lang="fr" sz="500" u="none" cap="none" strike="noStrike">
                <a:solidFill>
                  <a:srgbClr val="111827"/>
                </a:solidFill>
                <a:latin typeface="Arial"/>
                <a:ea typeface="Arial"/>
                <a:cs typeface="Arial"/>
                <a:sym typeface="Arial"/>
              </a:rPr>
              <a:t>Caméra, modèle défauts, poste contrôle</a:t>
            </a:r>
            <a:endParaRPr b="0" i="0" sz="5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83" name="Google Shape;783;p24"/>
          <p:cNvSpPr/>
          <p:nvPr/>
        </p:nvSpPr>
        <p:spPr>
          <a:xfrm>
            <a:off x="5527578" y="2005221"/>
            <a:ext cx="3216600" cy="157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200" lIns="200" spcFirstLastPara="1" rIns="200" wrap="square" tIns="2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11827"/>
              </a:buClr>
              <a:buSzPts val="500"/>
              <a:buFont typeface="Arial"/>
              <a:buNone/>
            </a:pPr>
            <a:r>
              <a:rPr b="1" i="0" lang="fr" sz="500" u="none" cap="none" strike="noStrike">
                <a:solidFill>
                  <a:srgbClr val="111827"/>
                </a:solidFill>
                <a:latin typeface="Arial"/>
                <a:ea typeface="Arial"/>
                <a:cs typeface="Arial"/>
                <a:sym typeface="Arial"/>
              </a:rPr>
              <a:t>Workflow : </a:t>
            </a:r>
            <a:r>
              <a:rPr b="0" i="0" lang="fr" sz="500" u="none" cap="none" strike="noStrike">
                <a:solidFill>
                  <a:srgbClr val="111827"/>
                </a:solidFill>
                <a:latin typeface="Arial"/>
                <a:ea typeface="Arial"/>
                <a:cs typeface="Arial"/>
                <a:sym typeface="Arial"/>
              </a:rPr>
              <a:t>Photo colis → défaut détecté → quarantaine si besoin</a:t>
            </a:r>
            <a:endParaRPr b="0" i="0" sz="5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84" name="Google Shape;784;p24"/>
          <p:cNvSpPr/>
          <p:nvPr/>
        </p:nvSpPr>
        <p:spPr>
          <a:xfrm>
            <a:off x="5527578" y="2183529"/>
            <a:ext cx="3216600" cy="137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200" lIns="200" spcFirstLastPara="1" rIns="200" wrap="square" tIns="2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11827"/>
              </a:buClr>
              <a:buSzPts val="500"/>
              <a:buFont typeface="Arial"/>
              <a:buNone/>
            </a:pPr>
            <a:r>
              <a:rPr b="1" i="0" lang="fr" sz="500" u="none" cap="none" strike="noStrike">
                <a:solidFill>
                  <a:srgbClr val="111827"/>
                </a:solidFill>
                <a:latin typeface="Arial"/>
                <a:ea typeface="Arial"/>
                <a:cs typeface="Arial"/>
                <a:sym typeface="Arial"/>
              </a:rPr>
              <a:t>Bénéfice : </a:t>
            </a:r>
            <a:r>
              <a:rPr b="0" i="0" lang="fr" sz="500" u="none" cap="none" strike="noStrike">
                <a:solidFill>
                  <a:srgbClr val="111827"/>
                </a:solidFill>
                <a:latin typeface="Arial"/>
                <a:ea typeface="Arial"/>
                <a:cs typeface="Arial"/>
                <a:sym typeface="Arial"/>
              </a:rPr>
              <a:t>Non-conformités détectées avant stockage</a:t>
            </a:r>
            <a:endParaRPr b="0" i="0" sz="5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85" name="Google Shape;785;p24"/>
          <p:cNvSpPr/>
          <p:nvPr/>
        </p:nvSpPr>
        <p:spPr>
          <a:xfrm>
            <a:off x="1933958" y="2431234"/>
            <a:ext cx="3381300" cy="836700"/>
          </a:xfrm>
          <a:prstGeom prst="roundRect">
            <a:avLst>
              <a:gd fmla="val 9836" name="adj"/>
            </a:avLst>
          </a:prstGeom>
          <a:solidFill>
            <a:srgbClr val="FFFFFF"/>
          </a:solidFill>
          <a:ln cap="flat" cmpd="sng" w="8575">
            <a:solidFill>
              <a:srgbClr val="D9252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86" name="Google Shape;786;p24"/>
          <p:cNvSpPr/>
          <p:nvPr/>
        </p:nvSpPr>
        <p:spPr>
          <a:xfrm>
            <a:off x="1933958" y="2431234"/>
            <a:ext cx="3381300" cy="185100"/>
          </a:xfrm>
          <a:prstGeom prst="roundRect">
            <a:avLst>
              <a:gd fmla="val 37037" name="adj"/>
            </a:avLst>
          </a:prstGeom>
          <a:solidFill>
            <a:srgbClr val="D92525"/>
          </a:solidFill>
          <a:ln cap="flat" cmpd="sng" w="9525">
            <a:solidFill>
              <a:srgbClr val="D9252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87" name="Google Shape;787;p24"/>
          <p:cNvSpPr/>
          <p:nvPr/>
        </p:nvSpPr>
        <p:spPr>
          <a:xfrm>
            <a:off x="2167136" y="2451808"/>
            <a:ext cx="3093000" cy="12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200" lIns="200" spcFirstLastPara="1" rIns="200" wrap="square" tIns="2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600"/>
              <a:buFont typeface="Arial"/>
              <a:buNone/>
            </a:pPr>
            <a:r>
              <a:rPr b="1" i="0" lang="fr" sz="6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Planification intelligente des quais</a:t>
            </a:r>
            <a:endParaRPr b="0" i="0" sz="6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88" name="Google Shape;788;p24"/>
          <p:cNvSpPr/>
          <p:nvPr/>
        </p:nvSpPr>
        <p:spPr>
          <a:xfrm>
            <a:off x="1961390" y="2451808"/>
            <a:ext cx="164700" cy="116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200" lIns="200" spcFirstLastPara="1" rIns="200" wrap="square" tIns="2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700"/>
              <a:buFont typeface="Quattrocento Sans"/>
              <a:buNone/>
            </a:pPr>
            <a:r>
              <a:rPr b="0" i="0" lang="fr" sz="700" u="none" cap="none" strike="noStrike">
                <a:solidFill>
                  <a:srgbClr val="FFFFFF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🚪</a:t>
            </a:r>
            <a:endParaRPr b="0" i="0" sz="7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89" name="Google Shape;789;p24"/>
          <p:cNvSpPr/>
          <p:nvPr/>
        </p:nvSpPr>
        <p:spPr>
          <a:xfrm>
            <a:off x="4814394" y="2643832"/>
            <a:ext cx="438900" cy="123600"/>
          </a:xfrm>
          <a:prstGeom prst="roundRect">
            <a:avLst>
              <a:gd fmla="val 66667" name="adj"/>
            </a:avLst>
          </a:prstGeom>
          <a:solidFill>
            <a:srgbClr val="FDECEC"/>
          </a:solidFill>
          <a:ln cap="flat" cmpd="sng" w="8575">
            <a:solidFill>
              <a:srgbClr val="D9252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90" name="Google Shape;790;p24"/>
          <p:cNvSpPr/>
          <p:nvPr/>
        </p:nvSpPr>
        <p:spPr>
          <a:xfrm>
            <a:off x="4841827" y="2643832"/>
            <a:ext cx="384000" cy="12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200" lIns="200" spcFirstLastPara="1" rIns="200" wrap="square" tIns="2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D92525"/>
              </a:buClr>
              <a:buSzPts val="400"/>
              <a:buFont typeface="Arial"/>
              <a:buNone/>
            </a:pPr>
            <a:r>
              <a:rPr b="1" i="0" lang="fr" sz="400" u="none" cap="none" strike="noStrike">
                <a:solidFill>
                  <a:srgbClr val="D92525"/>
                </a:solidFill>
                <a:latin typeface="Arial"/>
                <a:ea typeface="Arial"/>
                <a:cs typeface="Arial"/>
                <a:sym typeface="Arial"/>
              </a:rPr>
              <a:t>Optimisation</a:t>
            </a:r>
            <a:endParaRPr b="0" i="0" sz="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91" name="Google Shape;791;p24"/>
          <p:cNvSpPr/>
          <p:nvPr/>
        </p:nvSpPr>
        <p:spPr>
          <a:xfrm>
            <a:off x="2023114" y="2767276"/>
            <a:ext cx="3216600" cy="150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200" lIns="200" spcFirstLastPara="1" rIns="200" wrap="square" tIns="2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11827"/>
              </a:buClr>
              <a:buSzPts val="500"/>
              <a:buFont typeface="Arial"/>
              <a:buNone/>
            </a:pPr>
            <a:r>
              <a:rPr b="1" i="0" lang="fr" sz="500" u="none" cap="none" strike="noStrike">
                <a:solidFill>
                  <a:srgbClr val="111827"/>
                </a:solidFill>
                <a:latin typeface="Arial"/>
                <a:ea typeface="Arial"/>
                <a:cs typeface="Arial"/>
                <a:sym typeface="Arial"/>
              </a:rPr>
              <a:t>Moyens : </a:t>
            </a:r>
            <a:r>
              <a:rPr b="0" i="0" lang="fr" sz="500" u="none" cap="none" strike="noStrike">
                <a:solidFill>
                  <a:srgbClr val="111827"/>
                </a:solidFill>
                <a:latin typeface="Arial"/>
                <a:ea typeface="Arial"/>
                <a:cs typeface="Arial"/>
                <a:sym typeface="Arial"/>
              </a:rPr>
              <a:t>Planning transport, WMS, dashboard quai</a:t>
            </a:r>
            <a:endParaRPr b="0" i="0" sz="5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92" name="Google Shape;792;p24"/>
          <p:cNvSpPr/>
          <p:nvPr/>
        </p:nvSpPr>
        <p:spPr>
          <a:xfrm>
            <a:off x="2023114" y="2938726"/>
            <a:ext cx="3216600" cy="157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200" lIns="200" spcFirstLastPara="1" rIns="200" wrap="square" tIns="2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11827"/>
              </a:buClr>
              <a:buSzPts val="500"/>
              <a:buFont typeface="Arial"/>
              <a:buNone/>
            </a:pPr>
            <a:r>
              <a:rPr b="1" i="0" lang="fr" sz="500" u="none" cap="none" strike="noStrike">
                <a:solidFill>
                  <a:srgbClr val="111827"/>
                </a:solidFill>
                <a:latin typeface="Arial"/>
                <a:ea typeface="Arial"/>
                <a:cs typeface="Arial"/>
                <a:sym typeface="Arial"/>
              </a:rPr>
              <a:t>Workflow : </a:t>
            </a:r>
            <a:r>
              <a:rPr b="0" i="0" lang="fr" sz="500" u="none" cap="none" strike="noStrike">
                <a:solidFill>
                  <a:srgbClr val="111827"/>
                </a:solidFill>
                <a:latin typeface="Arial"/>
                <a:ea typeface="Arial"/>
                <a:cs typeface="Arial"/>
                <a:sym typeface="Arial"/>
              </a:rPr>
              <a:t>Arrivées prévues → quai réservé → équipe affectée</a:t>
            </a:r>
            <a:endParaRPr b="0" i="0" sz="5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93" name="Google Shape;793;p24"/>
          <p:cNvSpPr/>
          <p:nvPr/>
        </p:nvSpPr>
        <p:spPr>
          <a:xfrm>
            <a:off x="2023114" y="3117034"/>
            <a:ext cx="3216600" cy="137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200" lIns="200" spcFirstLastPara="1" rIns="200" wrap="square" tIns="2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11827"/>
              </a:buClr>
              <a:buSzPts val="500"/>
              <a:buFont typeface="Arial"/>
              <a:buNone/>
            </a:pPr>
            <a:r>
              <a:rPr b="1" i="0" lang="fr" sz="500" u="none" cap="none" strike="noStrike">
                <a:solidFill>
                  <a:srgbClr val="111827"/>
                </a:solidFill>
                <a:latin typeface="Arial"/>
                <a:ea typeface="Arial"/>
                <a:cs typeface="Arial"/>
                <a:sym typeface="Arial"/>
              </a:rPr>
              <a:t>Bénéfice : </a:t>
            </a:r>
            <a:r>
              <a:rPr b="0" i="0" lang="fr" sz="500" u="none" cap="none" strike="noStrike">
                <a:solidFill>
                  <a:srgbClr val="111827"/>
                </a:solidFill>
                <a:latin typeface="Arial"/>
                <a:ea typeface="Arial"/>
                <a:cs typeface="Arial"/>
                <a:sym typeface="Arial"/>
              </a:rPr>
              <a:t>Réduction congestion, meilleur planning équipes</a:t>
            </a:r>
            <a:endParaRPr b="0" i="0" sz="5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94" name="Google Shape;794;p24"/>
          <p:cNvSpPr/>
          <p:nvPr/>
        </p:nvSpPr>
        <p:spPr>
          <a:xfrm>
            <a:off x="5465972" y="2387984"/>
            <a:ext cx="3381300" cy="836700"/>
          </a:xfrm>
          <a:prstGeom prst="roundRect">
            <a:avLst>
              <a:gd fmla="val 9836" name="adj"/>
            </a:avLst>
          </a:prstGeom>
          <a:solidFill>
            <a:srgbClr val="FFFFFF"/>
          </a:solidFill>
          <a:ln cap="flat" cmpd="sng" w="8575">
            <a:solidFill>
              <a:srgbClr val="D9252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95" name="Google Shape;795;p24"/>
          <p:cNvSpPr/>
          <p:nvPr/>
        </p:nvSpPr>
        <p:spPr>
          <a:xfrm>
            <a:off x="5465972" y="2387984"/>
            <a:ext cx="3381300" cy="185100"/>
          </a:xfrm>
          <a:prstGeom prst="roundRect">
            <a:avLst>
              <a:gd fmla="val 37037" name="adj"/>
            </a:avLst>
          </a:prstGeom>
          <a:solidFill>
            <a:srgbClr val="D92525"/>
          </a:solidFill>
          <a:ln cap="flat" cmpd="sng" w="9525">
            <a:solidFill>
              <a:srgbClr val="D9252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96" name="Google Shape;796;p24"/>
          <p:cNvSpPr/>
          <p:nvPr/>
        </p:nvSpPr>
        <p:spPr>
          <a:xfrm>
            <a:off x="5699150" y="2408558"/>
            <a:ext cx="3093000" cy="12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200" lIns="200" spcFirstLastPara="1" rIns="200" wrap="square" tIns="2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600"/>
              <a:buFont typeface="Arial"/>
              <a:buNone/>
            </a:pPr>
            <a:r>
              <a:rPr b="1" i="0" lang="fr" sz="6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Emplacement proposé dès réception</a:t>
            </a:r>
            <a:endParaRPr b="0" i="0" sz="6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97" name="Google Shape;797;p24"/>
          <p:cNvSpPr/>
          <p:nvPr/>
        </p:nvSpPr>
        <p:spPr>
          <a:xfrm>
            <a:off x="5493404" y="2408558"/>
            <a:ext cx="164700" cy="116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200" lIns="200" spcFirstLastPara="1" rIns="200" wrap="square" tIns="2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700"/>
              <a:buFont typeface="Quattrocento Sans"/>
              <a:buNone/>
            </a:pPr>
            <a:r>
              <a:rPr b="0" i="0" lang="fr" sz="700" u="none" cap="none" strike="noStrike">
                <a:solidFill>
                  <a:srgbClr val="FFFFFF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📍</a:t>
            </a:r>
            <a:endParaRPr b="0" i="0" sz="7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98" name="Google Shape;798;p24"/>
          <p:cNvSpPr/>
          <p:nvPr/>
        </p:nvSpPr>
        <p:spPr>
          <a:xfrm>
            <a:off x="8346408" y="2600582"/>
            <a:ext cx="438900" cy="123600"/>
          </a:xfrm>
          <a:prstGeom prst="roundRect">
            <a:avLst>
              <a:gd fmla="val 66667" name="adj"/>
            </a:avLst>
          </a:prstGeom>
          <a:solidFill>
            <a:srgbClr val="FDECEC"/>
          </a:solidFill>
          <a:ln cap="flat" cmpd="sng" w="8575">
            <a:solidFill>
              <a:srgbClr val="D9252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99" name="Google Shape;799;p24"/>
          <p:cNvSpPr/>
          <p:nvPr/>
        </p:nvSpPr>
        <p:spPr>
          <a:xfrm>
            <a:off x="8373841" y="2600582"/>
            <a:ext cx="384000" cy="12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200" lIns="200" spcFirstLastPara="1" rIns="200" wrap="square" tIns="2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D92525"/>
              </a:buClr>
              <a:buSzPts val="400"/>
              <a:buFont typeface="Arial"/>
              <a:buNone/>
            </a:pPr>
            <a:r>
              <a:rPr b="1" i="0" lang="fr" sz="400" u="none" cap="none" strike="noStrike">
                <a:solidFill>
                  <a:srgbClr val="D92525"/>
                </a:solidFill>
                <a:latin typeface="Arial"/>
                <a:ea typeface="Arial"/>
                <a:cs typeface="Arial"/>
                <a:sym typeface="Arial"/>
              </a:rPr>
              <a:t>Règles / ML</a:t>
            </a:r>
            <a:endParaRPr b="0" i="0" sz="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00" name="Google Shape;800;p24"/>
          <p:cNvSpPr/>
          <p:nvPr/>
        </p:nvSpPr>
        <p:spPr>
          <a:xfrm>
            <a:off x="5555128" y="2724026"/>
            <a:ext cx="3216600" cy="150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200" lIns="200" spcFirstLastPara="1" rIns="200" wrap="square" tIns="2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11827"/>
              </a:buClr>
              <a:buSzPts val="500"/>
              <a:buFont typeface="Arial"/>
              <a:buNone/>
            </a:pPr>
            <a:r>
              <a:rPr b="1" i="0" lang="fr" sz="500" u="none" cap="none" strike="noStrike">
                <a:solidFill>
                  <a:srgbClr val="111827"/>
                </a:solidFill>
                <a:latin typeface="Arial"/>
                <a:ea typeface="Arial"/>
                <a:cs typeface="Arial"/>
                <a:sym typeface="Arial"/>
              </a:rPr>
              <a:t>Moyens : </a:t>
            </a:r>
            <a:r>
              <a:rPr b="0" i="0" lang="fr" sz="500" u="none" cap="none" strike="noStrike">
                <a:solidFill>
                  <a:srgbClr val="111827"/>
                </a:solidFill>
                <a:latin typeface="Arial"/>
                <a:ea typeface="Arial"/>
                <a:cs typeface="Arial"/>
                <a:sym typeface="Arial"/>
              </a:rPr>
              <a:t>Règles WMS, rotation produit, capacité emplacement</a:t>
            </a:r>
            <a:endParaRPr b="0" i="0" sz="5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01" name="Google Shape;801;p24"/>
          <p:cNvSpPr/>
          <p:nvPr/>
        </p:nvSpPr>
        <p:spPr>
          <a:xfrm>
            <a:off x="5555128" y="2895476"/>
            <a:ext cx="3216600" cy="157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200" lIns="200" spcFirstLastPara="1" rIns="200" wrap="square" tIns="2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11827"/>
              </a:buClr>
              <a:buSzPts val="500"/>
              <a:buFont typeface="Arial"/>
              <a:buNone/>
            </a:pPr>
            <a:r>
              <a:rPr b="1" i="0" lang="fr" sz="500" u="none" cap="none" strike="noStrike">
                <a:solidFill>
                  <a:srgbClr val="111827"/>
                </a:solidFill>
                <a:latin typeface="Arial"/>
                <a:ea typeface="Arial"/>
                <a:cs typeface="Arial"/>
                <a:sym typeface="Arial"/>
              </a:rPr>
              <a:t>Workflow : </a:t>
            </a:r>
            <a:r>
              <a:rPr b="0" i="0" lang="fr" sz="500" u="none" cap="none" strike="noStrike">
                <a:solidFill>
                  <a:srgbClr val="111827"/>
                </a:solidFill>
                <a:latin typeface="Arial"/>
                <a:ea typeface="Arial"/>
                <a:cs typeface="Arial"/>
                <a:sym typeface="Arial"/>
              </a:rPr>
              <a:t>Scan produit → emplacement conseillé → tâche putaway</a:t>
            </a:r>
            <a:endParaRPr b="0" i="0" sz="5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02" name="Google Shape;802;p24"/>
          <p:cNvSpPr/>
          <p:nvPr/>
        </p:nvSpPr>
        <p:spPr>
          <a:xfrm>
            <a:off x="5555128" y="3073784"/>
            <a:ext cx="3216600" cy="137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200" lIns="200" spcFirstLastPara="1" rIns="200" wrap="square" tIns="2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11827"/>
              </a:buClr>
              <a:buSzPts val="500"/>
              <a:buFont typeface="Arial"/>
              <a:buNone/>
            </a:pPr>
            <a:r>
              <a:rPr b="1" i="0" lang="fr" sz="500" u="none" cap="none" strike="noStrike">
                <a:solidFill>
                  <a:srgbClr val="111827"/>
                </a:solidFill>
                <a:latin typeface="Arial"/>
                <a:ea typeface="Arial"/>
                <a:cs typeface="Arial"/>
                <a:sym typeface="Arial"/>
              </a:rPr>
              <a:t>Bénéfice : </a:t>
            </a:r>
            <a:r>
              <a:rPr b="0" i="0" lang="fr" sz="500" u="none" cap="none" strike="noStrike">
                <a:solidFill>
                  <a:srgbClr val="111827"/>
                </a:solidFill>
                <a:latin typeface="Arial"/>
                <a:ea typeface="Arial"/>
                <a:cs typeface="Arial"/>
                <a:sym typeface="Arial"/>
              </a:rPr>
              <a:t>Mise en stock plus rapide et mieux organisée</a:t>
            </a:r>
            <a:endParaRPr b="0" i="0" sz="5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03" name="Google Shape;803;p24"/>
          <p:cNvSpPr/>
          <p:nvPr/>
        </p:nvSpPr>
        <p:spPr>
          <a:xfrm>
            <a:off x="1947670" y="3293689"/>
            <a:ext cx="3381300" cy="836700"/>
          </a:xfrm>
          <a:prstGeom prst="roundRect">
            <a:avLst>
              <a:gd fmla="val 9836" name="adj"/>
            </a:avLst>
          </a:prstGeom>
          <a:solidFill>
            <a:srgbClr val="FFFFFF"/>
          </a:solidFill>
          <a:ln cap="flat" cmpd="sng" w="8575">
            <a:solidFill>
              <a:srgbClr val="D9252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04" name="Google Shape;804;p24"/>
          <p:cNvSpPr/>
          <p:nvPr/>
        </p:nvSpPr>
        <p:spPr>
          <a:xfrm>
            <a:off x="1947670" y="3293689"/>
            <a:ext cx="3381300" cy="185100"/>
          </a:xfrm>
          <a:prstGeom prst="roundRect">
            <a:avLst>
              <a:gd fmla="val 37037" name="adj"/>
            </a:avLst>
          </a:prstGeom>
          <a:solidFill>
            <a:srgbClr val="D92525"/>
          </a:solidFill>
          <a:ln cap="flat" cmpd="sng" w="9525">
            <a:solidFill>
              <a:srgbClr val="D9252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05" name="Google Shape;805;p24"/>
          <p:cNvSpPr/>
          <p:nvPr/>
        </p:nvSpPr>
        <p:spPr>
          <a:xfrm>
            <a:off x="2180848" y="3314263"/>
            <a:ext cx="3093000" cy="12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200" lIns="200" spcFirstLastPara="1" rIns="200" wrap="square" tIns="2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600"/>
              <a:buFont typeface="Arial"/>
              <a:buNone/>
            </a:pPr>
            <a:r>
              <a:rPr b="1" i="0" lang="fr" sz="6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Réception par exception</a:t>
            </a:r>
            <a:endParaRPr b="0" i="0" sz="6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06" name="Google Shape;806;p24"/>
          <p:cNvSpPr/>
          <p:nvPr/>
        </p:nvSpPr>
        <p:spPr>
          <a:xfrm>
            <a:off x="1975103" y="3314263"/>
            <a:ext cx="164700" cy="116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200" lIns="200" spcFirstLastPara="1" rIns="200" wrap="square" tIns="2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700"/>
              <a:buFont typeface="Quattrocento Sans"/>
              <a:buNone/>
            </a:pPr>
            <a:r>
              <a:rPr b="0" i="0" lang="fr" sz="700" u="none" cap="none" strike="noStrike">
                <a:solidFill>
                  <a:srgbClr val="FFFFFF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⚠️</a:t>
            </a:r>
            <a:endParaRPr b="0" i="0" sz="7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07" name="Google Shape;807;p24"/>
          <p:cNvSpPr/>
          <p:nvPr/>
        </p:nvSpPr>
        <p:spPr>
          <a:xfrm>
            <a:off x="4828107" y="3506287"/>
            <a:ext cx="438900" cy="123600"/>
          </a:xfrm>
          <a:prstGeom prst="roundRect">
            <a:avLst>
              <a:gd fmla="val 66667" name="adj"/>
            </a:avLst>
          </a:prstGeom>
          <a:solidFill>
            <a:srgbClr val="FDECEC"/>
          </a:solidFill>
          <a:ln cap="flat" cmpd="sng" w="8575">
            <a:solidFill>
              <a:srgbClr val="D9252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08" name="Google Shape;808;p24"/>
          <p:cNvSpPr/>
          <p:nvPr/>
        </p:nvSpPr>
        <p:spPr>
          <a:xfrm>
            <a:off x="4855540" y="3506287"/>
            <a:ext cx="384000" cy="12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200" lIns="200" spcFirstLastPara="1" rIns="200" wrap="square" tIns="2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D92525"/>
              </a:buClr>
              <a:buSzPts val="400"/>
              <a:buFont typeface="Arial"/>
              <a:buNone/>
            </a:pPr>
            <a:r>
              <a:rPr b="1" i="0" lang="fr" sz="400" u="none" cap="none" strike="noStrike">
                <a:solidFill>
                  <a:srgbClr val="D92525"/>
                </a:solidFill>
                <a:latin typeface="Arial"/>
                <a:ea typeface="Arial"/>
                <a:cs typeface="Arial"/>
                <a:sym typeface="Arial"/>
              </a:rPr>
              <a:t>Règles</a:t>
            </a:r>
            <a:endParaRPr b="0" i="0" sz="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09" name="Google Shape;809;p24"/>
          <p:cNvSpPr/>
          <p:nvPr/>
        </p:nvSpPr>
        <p:spPr>
          <a:xfrm>
            <a:off x="2036826" y="3629731"/>
            <a:ext cx="3216600" cy="150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200" lIns="200" spcFirstLastPara="1" rIns="200" wrap="square" tIns="2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11827"/>
              </a:buClr>
              <a:buSzPts val="500"/>
              <a:buFont typeface="Arial"/>
              <a:buNone/>
            </a:pPr>
            <a:r>
              <a:rPr b="1" i="0" lang="fr" sz="500" u="none" cap="none" strike="noStrike">
                <a:solidFill>
                  <a:srgbClr val="111827"/>
                </a:solidFill>
                <a:latin typeface="Arial"/>
                <a:ea typeface="Arial"/>
                <a:cs typeface="Arial"/>
                <a:sym typeface="Arial"/>
              </a:rPr>
              <a:t>Moyens : </a:t>
            </a:r>
            <a:r>
              <a:rPr b="0" i="0" lang="fr" sz="500" u="none" cap="none" strike="noStrike">
                <a:solidFill>
                  <a:srgbClr val="111827"/>
                </a:solidFill>
                <a:latin typeface="Arial"/>
                <a:ea typeface="Arial"/>
                <a:cs typeface="Arial"/>
                <a:sym typeface="Arial"/>
              </a:rPr>
              <a:t>Seuils de tolérance, alertes, validation superviseur</a:t>
            </a:r>
            <a:endParaRPr b="0" i="0" sz="5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10" name="Google Shape;810;p24"/>
          <p:cNvSpPr/>
          <p:nvPr/>
        </p:nvSpPr>
        <p:spPr>
          <a:xfrm>
            <a:off x="2036826" y="3801181"/>
            <a:ext cx="3216600" cy="157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200" lIns="200" spcFirstLastPara="1" rIns="200" wrap="square" tIns="2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11827"/>
              </a:buClr>
              <a:buSzPts val="500"/>
              <a:buFont typeface="Arial"/>
              <a:buNone/>
            </a:pPr>
            <a:r>
              <a:rPr b="1" i="0" lang="fr" sz="500" u="none" cap="none" strike="noStrike">
                <a:solidFill>
                  <a:srgbClr val="111827"/>
                </a:solidFill>
                <a:latin typeface="Arial"/>
                <a:ea typeface="Arial"/>
                <a:cs typeface="Arial"/>
                <a:sym typeface="Arial"/>
              </a:rPr>
              <a:t>Workflow : </a:t>
            </a:r>
            <a:r>
              <a:rPr b="0" i="0" lang="fr" sz="500" u="none" cap="none" strike="noStrike">
                <a:solidFill>
                  <a:srgbClr val="111827"/>
                </a:solidFill>
                <a:latin typeface="Arial"/>
                <a:ea typeface="Arial"/>
                <a:cs typeface="Arial"/>
                <a:sym typeface="Arial"/>
              </a:rPr>
              <a:t>Conforme → validation rapide ; écart → contrôle humain</a:t>
            </a:r>
            <a:endParaRPr b="0" i="0" sz="5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11" name="Google Shape;811;p24"/>
          <p:cNvSpPr/>
          <p:nvPr/>
        </p:nvSpPr>
        <p:spPr>
          <a:xfrm>
            <a:off x="2036826" y="3979489"/>
            <a:ext cx="3216600" cy="137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200" lIns="200" spcFirstLastPara="1" rIns="200" wrap="square" tIns="2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11827"/>
              </a:buClr>
              <a:buSzPts val="500"/>
              <a:buFont typeface="Arial"/>
              <a:buNone/>
            </a:pPr>
            <a:r>
              <a:rPr b="1" i="0" lang="fr" sz="500" u="none" cap="none" strike="noStrike">
                <a:solidFill>
                  <a:srgbClr val="111827"/>
                </a:solidFill>
                <a:latin typeface="Arial"/>
                <a:ea typeface="Arial"/>
                <a:cs typeface="Arial"/>
                <a:sym typeface="Arial"/>
              </a:rPr>
              <a:t>Bénéfice : </a:t>
            </a:r>
            <a:r>
              <a:rPr b="0" i="0" lang="fr" sz="500" u="none" cap="none" strike="noStrike">
                <a:solidFill>
                  <a:srgbClr val="111827"/>
                </a:solidFill>
                <a:latin typeface="Arial"/>
                <a:ea typeface="Arial"/>
                <a:cs typeface="Arial"/>
                <a:sym typeface="Arial"/>
              </a:rPr>
              <a:t>Les opérateurs se concentrent sur les vrais problèmes</a:t>
            </a:r>
            <a:endParaRPr b="0" i="0" sz="5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12" name="Google Shape;812;p24"/>
          <p:cNvSpPr/>
          <p:nvPr/>
        </p:nvSpPr>
        <p:spPr>
          <a:xfrm>
            <a:off x="5507022" y="3268527"/>
            <a:ext cx="3381300" cy="836700"/>
          </a:xfrm>
          <a:prstGeom prst="roundRect">
            <a:avLst>
              <a:gd fmla="val 9836" name="adj"/>
            </a:avLst>
          </a:prstGeom>
          <a:solidFill>
            <a:srgbClr val="FFFFFF"/>
          </a:solidFill>
          <a:ln cap="flat" cmpd="sng" w="8575">
            <a:solidFill>
              <a:srgbClr val="D9252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13" name="Google Shape;813;p24"/>
          <p:cNvSpPr/>
          <p:nvPr/>
        </p:nvSpPr>
        <p:spPr>
          <a:xfrm>
            <a:off x="5507022" y="3268527"/>
            <a:ext cx="3381300" cy="185100"/>
          </a:xfrm>
          <a:prstGeom prst="roundRect">
            <a:avLst>
              <a:gd fmla="val 37037" name="adj"/>
            </a:avLst>
          </a:prstGeom>
          <a:solidFill>
            <a:srgbClr val="D92525"/>
          </a:solidFill>
          <a:ln cap="flat" cmpd="sng" w="9525">
            <a:solidFill>
              <a:srgbClr val="D9252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14" name="Google Shape;814;p24"/>
          <p:cNvSpPr/>
          <p:nvPr/>
        </p:nvSpPr>
        <p:spPr>
          <a:xfrm>
            <a:off x="5740200" y="3289100"/>
            <a:ext cx="3093000" cy="12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200" lIns="200" spcFirstLastPara="1" rIns="200" wrap="square" tIns="2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600"/>
              <a:buFont typeface="Arial"/>
              <a:buNone/>
            </a:pPr>
            <a:r>
              <a:rPr b="1" i="0" lang="fr" sz="6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Prévision de charge réception</a:t>
            </a:r>
            <a:endParaRPr b="0" i="0" sz="6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15" name="Google Shape;815;p24"/>
          <p:cNvSpPr/>
          <p:nvPr/>
        </p:nvSpPr>
        <p:spPr>
          <a:xfrm>
            <a:off x="5534454" y="3289100"/>
            <a:ext cx="164700" cy="116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200" lIns="200" spcFirstLastPara="1" rIns="200" wrap="square" tIns="2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700"/>
              <a:buFont typeface="Quattrocento Sans"/>
              <a:buNone/>
            </a:pPr>
            <a:r>
              <a:rPr b="0" i="0" lang="fr" sz="700" u="none" cap="none" strike="noStrike">
                <a:solidFill>
                  <a:srgbClr val="FFFFFF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📈</a:t>
            </a:r>
            <a:endParaRPr b="0" i="0" sz="7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16" name="Google Shape;816;p24"/>
          <p:cNvSpPr/>
          <p:nvPr/>
        </p:nvSpPr>
        <p:spPr>
          <a:xfrm>
            <a:off x="8387458" y="3481125"/>
            <a:ext cx="438900" cy="123600"/>
          </a:xfrm>
          <a:prstGeom prst="roundRect">
            <a:avLst>
              <a:gd fmla="val 66667" name="adj"/>
            </a:avLst>
          </a:prstGeom>
          <a:solidFill>
            <a:srgbClr val="FDECEC"/>
          </a:solidFill>
          <a:ln cap="flat" cmpd="sng" w="8575">
            <a:solidFill>
              <a:srgbClr val="D9252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17" name="Google Shape;817;p24"/>
          <p:cNvSpPr/>
          <p:nvPr/>
        </p:nvSpPr>
        <p:spPr>
          <a:xfrm>
            <a:off x="8414891" y="3481125"/>
            <a:ext cx="384000" cy="12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200" lIns="200" spcFirstLastPara="1" rIns="200" wrap="square" tIns="2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D92525"/>
              </a:buClr>
              <a:buSzPts val="400"/>
              <a:buFont typeface="Arial"/>
              <a:buNone/>
            </a:pPr>
            <a:r>
              <a:rPr b="1" i="0" lang="fr" sz="400" u="none" cap="none" strike="noStrike">
                <a:solidFill>
                  <a:srgbClr val="D92525"/>
                </a:solidFill>
                <a:latin typeface="Arial"/>
                <a:ea typeface="Arial"/>
                <a:cs typeface="Arial"/>
                <a:sym typeface="Arial"/>
              </a:rPr>
              <a:t>ML</a:t>
            </a:r>
            <a:endParaRPr b="0" i="0" sz="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18" name="Google Shape;818;p24"/>
          <p:cNvSpPr/>
          <p:nvPr/>
        </p:nvSpPr>
        <p:spPr>
          <a:xfrm>
            <a:off x="5596178" y="3604568"/>
            <a:ext cx="3216600" cy="150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200" lIns="200" spcFirstLastPara="1" rIns="200" wrap="square" tIns="2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11827"/>
              </a:buClr>
              <a:buSzPts val="500"/>
              <a:buFont typeface="Arial"/>
              <a:buNone/>
            </a:pPr>
            <a:r>
              <a:rPr b="1" i="0" lang="fr" sz="500" u="none" cap="none" strike="noStrike">
                <a:solidFill>
                  <a:srgbClr val="111827"/>
                </a:solidFill>
                <a:latin typeface="Arial"/>
                <a:ea typeface="Arial"/>
                <a:cs typeface="Arial"/>
                <a:sym typeface="Arial"/>
              </a:rPr>
              <a:t>Moyens : </a:t>
            </a:r>
            <a:r>
              <a:rPr b="0" i="0" lang="fr" sz="500" u="none" cap="none" strike="noStrike">
                <a:solidFill>
                  <a:srgbClr val="111827"/>
                </a:solidFill>
                <a:latin typeface="Arial"/>
                <a:ea typeface="Arial"/>
                <a:cs typeface="Arial"/>
                <a:sym typeface="Arial"/>
              </a:rPr>
              <a:t>Historique, ASN, rendez-vous transport, retards</a:t>
            </a:r>
            <a:endParaRPr b="0" i="0" sz="5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19" name="Google Shape;819;p24"/>
          <p:cNvSpPr/>
          <p:nvPr/>
        </p:nvSpPr>
        <p:spPr>
          <a:xfrm>
            <a:off x="5596178" y="3776019"/>
            <a:ext cx="3216600" cy="157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200" lIns="200" spcFirstLastPara="1" rIns="200" wrap="square" tIns="2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11827"/>
              </a:buClr>
              <a:buSzPts val="500"/>
              <a:buFont typeface="Arial"/>
              <a:buNone/>
            </a:pPr>
            <a:r>
              <a:rPr b="1" i="0" lang="fr" sz="500" u="none" cap="none" strike="noStrike">
                <a:solidFill>
                  <a:srgbClr val="111827"/>
                </a:solidFill>
                <a:latin typeface="Arial"/>
                <a:ea typeface="Arial"/>
                <a:cs typeface="Arial"/>
                <a:sym typeface="Arial"/>
              </a:rPr>
              <a:t>Workflow : </a:t>
            </a:r>
            <a:r>
              <a:rPr b="0" i="0" lang="fr" sz="500" u="none" cap="none" strike="noStrike">
                <a:solidFill>
                  <a:srgbClr val="111827"/>
                </a:solidFill>
                <a:latin typeface="Arial"/>
                <a:ea typeface="Arial"/>
                <a:cs typeface="Arial"/>
                <a:sym typeface="Arial"/>
              </a:rPr>
              <a:t>Données J+1/J+7 → charge prévue → ressources/quais</a:t>
            </a:r>
            <a:endParaRPr b="0" i="0" sz="5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20" name="Google Shape;820;p24"/>
          <p:cNvSpPr/>
          <p:nvPr/>
        </p:nvSpPr>
        <p:spPr>
          <a:xfrm>
            <a:off x="5596178" y="3954327"/>
            <a:ext cx="3216600" cy="137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200" lIns="200" spcFirstLastPara="1" rIns="200" wrap="square" tIns="2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11827"/>
              </a:buClr>
              <a:buSzPts val="500"/>
              <a:buFont typeface="Arial"/>
              <a:buNone/>
            </a:pPr>
            <a:r>
              <a:rPr b="1" i="0" lang="fr" sz="500" u="none" cap="none" strike="noStrike">
                <a:solidFill>
                  <a:srgbClr val="111827"/>
                </a:solidFill>
                <a:latin typeface="Arial"/>
                <a:ea typeface="Arial"/>
                <a:cs typeface="Arial"/>
                <a:sym typeface="Arial"/>
              </a:rPr>
              <a:t>Bénéfice : </a:t>
            </a:r>
            <a:r>
              <a:rPr b="0" i="0" lang="fr" sz="500" u="none" cap="none" strike="noStrike">
                <a:solidFill>
                  <a:srgbClr val="111827"/>
                </a:solidFill>
                <a:latin typeface="Arial"/>
                <a:ea typeface="Arial"/>
                <a:cs typeface="Arial"/>
                <a:sym typeface="Arial"/>
              </a:rPr>
              <a:t>Anticiper pics d’activité et éviter les files d’attente</a:t>
            </a:r>
            <a:endParaRPr b="0" i="0" sz="5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21" name="Google Shape;821;p24"/>
          <p:cNvSpPr/>
          <p:nvPr/>
        </p:nvSpPr>
        <p:spPr>
          <a:xfrm>
            <a:off x="1934000" y="4800693"/>
            <a:ext cx="6960900" cy="150900"/>
          </a:xfrm>
          <a:prstGeom prst="roundRect">
            <a:avLst>
              <a:gd fmla="val 19403" name="adj"/>
            </a:avLst>
          </a:prstGeom>
          <a:solidFill>
            <a:srgbClr val="FDECEC"/>
          </a:solidFill>
          <a:ln cap="flat" cmpd="sng" w="8575">
            <a:solidFill>
              <a:srgbClr val="D9252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22" name="Google Shape;822;p24"/>
          <p:cNvSpPr/>
          <p:nvPr/>
        </p:nvSpPr>
        <p:spPr>
          <a:xfrm>
            <a:off x="2088204" y="4807776"/>
            <a:ext cx="6652500" cy="12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200" lIns="200" spcFirstLastPara="1" rIns="200" wrap="square" tIns="2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B376D"/>
              </a:buClr>
              <a:buSzPts val="600"/>
              <a:buFont typeface="Arial"/>
              <a:buNone/>
            </a:pPr>
            <a:r>
              <a:rPr b="1" i="0" lang="fr" sz="600" u="none" cap="none" strike="noStrike">
                <a:solidFill>
                  <a:srgbClr val="0B376D"/>
                </a:solidFill>
                <a:latin typeface="Arial"/>
                <a:ea typeface="Arial"/>
                <a:cs typeface="Arial"/>
                <a:sym typeface="Arial"/>
              </a:rPr>
              <a:t>Validation audit terrain : mesurer temps, erreurs, écarts stock, commandes à l’heure, productivité et coût de non-qualité</a:t>
            </a:r>
            <a:endParaRPr b="0" i="0" sz="6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23" name="Google Shape;823;p24"/>
          <p:cNvSpPr txBox="1"/>
          <p:nvPr>
            <p:ph idx="4294967295" type="sldNum"/>
          </p:nvPr>
        </p:nvSpPr>
        <p:spPr>
          <a:xfrm>
            <a:off x="8607019" y="4896612"/>
            <a:ext cx="600000" cy="2250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0" i="0" lang="fr" sz="500" u="none" cap="none" strike="noStrike">
                <a:solidFill>
                  <a:srgbClr val="6B7280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b="0" i="0" sz="500" u="none" cap="none" strike="noStrike">
              <a:solidFill>
                <a:srgbClr val="6B728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24" name="Google Shape;824;p24"/>
          <p:cNvSpPr/>
          <p:nvPr/>
        </p:nvSpPr>
        <p:spPr>
          <a:xfrm>
            <a:off x="1975110" y="4169675"/>
            <a:ext cx="2667300" cy="660000"/>
          </a:xfrm>
          <a:prstGeom prst="roundRect">
            <a:avLst>
              <a:gd fmla="val 9836" name="adj"/>
            </a:avLst>
          </a:prstGeom>
          <a:solidFill>
            <a:srgbClr val="FFFFFF"/>
          </a:solidFill>
          <a:ln cap="flat" cmpd="sng" w="6775">
            <a:solidFill>
              <a:srgbClr val="D9252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54100" lIns="54100" spcFirstLastPara="1" rIns="54100" wrap="square" tIns="541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25" name="Google Shape;825;p24"/>
          <p:cNvSpPr/>
          <p:nvPr/>
        </p:nvSpPr>
        <p:spPr>
          <a:xfrm>
            <a:off x="1975110" y="4169675"/>
            <a:ext cx="2667300" cy="146100"/>
          </a:xfrm>
          <a:prstGeom prst="roundRect">
            <a:avLst>
              <a:gd fmla="val 37037" name="adj"/>
            </a:avLst>
          </a:prstGeom>
          <a:solidFill>
            <a:srgbClr val="D92525"/>
          </a:solidFill>
          <a:ln cap="flat" cmpd="sng" w="7525">
            <a:solidFill>
              <a:srgbClr val="D9252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54100" lIns="54100" spcFirstLastPara="1" rIns="54100" wrap="square" tIns="541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26" name="Google Shape;826;p24"/>
          <p:cNvSpPr/>
          <p:nvPr/>
        </p:nvSpPr>
        <p:spPr>
          <a:xfrm>
            <a:off x="2159051" y="4185905"/>
            <a:ext cx="2439900" cy="97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150" lIns="150" spcFirstLastPara="1" rIns="150" wrap="square" tIns="15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473"/>
              <a:buFont typeface="Arial"/>
              <a:buNone/>
            </a:pPr>
            <a:r>
              <a:rPr b="1" lang="fr" sz="473">
                <a:solidFill>
                  <a:srgbClr val="FFFFFF"/>
                </a:solidFill>
              </a:rPr>
              <a:t>Conteneur connecté dès réception</a:t>
            </a:r>
            <a:endParaRPr b="0" i="0" sz="473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27" name="Google Shape;827;p24"/>
          <p:cNvSpPr/>
          <p:nvPr/>
        </p:nvSpPr>
        <p:spPr>
          <a:xfrm>
            <a:off x="1996750" y="4185905"/>
            <a:ext cx="129900" cy="91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150" lIns="150" spcFirstLastPara="1" rIns="150" wrap="square" tIns="15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552"/>
              <a:buFont typeface="Quattrocento Sans"/>
              <a:buNone/>
            </a:pPr>
            <a:r>
              <a:rPr b="0" i="0" lang="fr" sz="552" u="none" cap="none" strike="noStrike">
                <a:solidFill>
                  <a:srgbClr val="FFFFFF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⚠️</a:t>
            </a:r>
            <a:endParaRPr b="0" i="0" sz="552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28" name="Google Shape;828;p24"/>
          <p:cNvSpPr/>
          <p:nvPr/>
        </p:nvSpPr>
        <p:spPr>
          <a:xfrm>
            <a:off x="4247323" y="4337381"/>
            <a:ext cx="346200" cy="97500"/>
          </a:xfrm>
          <a:prstGeom prst="roundRect">
            <a:avLst>
              <a:gd fmla="val 66667" name="adj"/>
            </a:avLst>
          </a:prstGeom>
          <a:solidFill>
            <a:srgbClr val="FDECEC"/>
          </a:solidFill>
          <a:ln cap="flat" cmpd="sng" w="6775">
            <a:solidFill>
              <a:srgbClr val="D9252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54100" lIns="54100" spcFirstLastPara="1" rIns="54100" wrap="square" tIns="541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29" name="Google Shape;829;p24"/>
          <p:cNvSpPr/>
          <p:nvPr/>
        </p:nvSpPr>
        <p:spPr>
          <a:xfrm>
            <a:off x="4268963" y="4337381"/>
            <a:ext cx="303000" cy="97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150" lIns="150" spcFirstLastPara="1" rIns="150" wrap="square" tIns="15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D92525"/>
              </a:buClr>
              <a:buSzPts val="316"/>
              <a:buFont typeface="Arial"/>
              <a:buNone/>
            </a:pPr>
            <a:r>
              <a:rPr b="1" lang="fr" sz="316">
                <a:solidFill>
                  <a:srgbClr val="D92525"/>
                </a:solidFill>
              </a:rPr>
              <a:t>iot</a:t>
            </a:r>
            <a:endParaRPr b="0" i="0" sz="316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30" name="Google Shape;830;p24"/>
          <p:cNvSpPr/>
          <p:nvPr/>
        </p:nvSpPr>
        <p:spPr>
          <a:xfrm>
            <a:off x="2045440" y="4434759"/>
            <a:ext cx="2537400" cy="119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150" lIns="150" spcFirstLastPara="1" rIns="150" wrap="square" tIns="15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11827"/>
              </a:buClr>
              <a:buSzPts val="394"/>
              <a:buFont typeface="Arial"/>
              <a:buNone/>
            </a:pPr>
            <a:r>
              <a:rPr b="1" lang="fr" sz="394">
                <a:solidFill>
                  <a:srgbClr val="111827"/>
                </a:solidFill>
              </a:rPr>
              <a:t>Moyens : capteurs température, humidité, choc, ouverture, RFID</a:t>
            </a:r>
            <a:endParaRPr b="1" i="0" sz="394" u="none" cap="none" strike="noStrike">
              <a:solidFill>
                <a:schemeClr val="dk1"/>
              </a:solidFill>
            </a:endParaRPr>
          </a:p>
        </p:txBody>
      </p:sp>
      <p:sp>
        <p:nvSpPr>
          <p:cNvPr id="831" name="Google Shape;831;p24"/>
          <p:cNvSpPr/>
          <p:nvPr/>
        </p:nvSpPr>
        <p:spPr>
          <a:xfrm>
            <a:off x="2045440" y="4570007"/>
            <a:ext cx="2537400" cy="124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150" lIns="150" spcFirstLastPara="1" rIns="150" wrap="square" tIns="15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11827"/>
              </a:buClr>
              <a:buSzPts val="394"/>
              <a:buFont typeface="Arial"/>
              <a:buNone/>
            </a:pPr>
            <a:r>
              <a:rPr b="1" lang="fr" sz="394">
                <a:solidFill>
                  <a:srgbClr val="111827"/>
                </a:solidFill>
              </a:rPr>
              <a:t>Workflow : </a:t>
            </a:r>
            <a:r>
              <a:rPr lang="fr" sz="394">
                <a:solidFill>
                  <a:srgbClr val="111827"/>
                </a:solidFill>
              </a:rPr>
              <a:t>lecture capteur → statut WMS → alerte si anomalie</a:t>
            </a:r>
            <a:endParaRPr i="0" sz="394" u="none" cap="none" strike="noStrike">
              <a:solidFill>
                <a:schemeClr val="dk1"/>
              </a:solidFill>
            </a:endParaRPr>
          </a:p>
        </p:txBody>
      </p:sp>
      <p:sp>
        <p:nvSpPr>
          <p:cNvPr id="832" name="Google Shape;832;p24"/>
          <p:cNvSpPr/>
          <p:nvPr/>
        </p:nvSpPr>
        <p:spPr>
          <a:xfrm>
            <a:off x="2045440" y="4710664"/>
            <a:ext cx="2537400" cy="108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150" lIns="150" spcFirstLastPara="1" rIns="150" wrap="square" tIns="15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11827"/>
              </a:buClr>
              <a:buSzPts val="394"/>
              <a:buFont typeface="Arial"/>
              <a:buNone/>
            </a:pPr>
            <a:r>
              <a:rPr b="1" lang="fr" sz="394">
                <a:solidFill>
                  <a:srgbClr val="111827"/>
                </a:solidFill>
              </a:rPr>
              <a:t>Bénéfice : </a:t>
            </a:r>
            <a:r>
              <a:rPr lang="fr" sz="394">
                <a:solidFill>
                  <a:srgbClr val="111827"/>
                </a:solidFill>
              </a:rPr>
              <a:t>traçabilité des produits sensibles</a:t>
            </a:r>
            <a:endParaRPr i="0" sz="394" u="none" cap="none" strike="noStrike">
              <a:solidFill>
                <a:schemeClr val="dk1"/>
              </a:solidFill>
            </a:endParaRPr>
          </a:p>
        </p:txBody>
      </p:sp>
      <p:sp>
        <p:nvSpPr>
          <p:cNvPr id="833" name="Google Shape;833;p24"/>
          <p:cNvSpPr/>
          <p:nvPr/>
        </p:nvSpPr>
        <p:spPr>
          <a:xfrm>
            <a:off x="5507025" y="4154550"/>
            <a:ext cx="3250800" cy="603900"/>
          </a:xfrm>
          <a:prstGeom prst="roundRect">
            <a:avLst>
              <a:gd fmla="val 9836" name="adj"/>
            </a:avLst>
          </a:prstGeom>
          <a:solidFill>
            <a:srgbClr val="FFFFFF"/>
          </a:solidFill>
          <a:ln cap="flat" cmpd="sng" w="6200">
            <a:solidFill>
              <a:srgbClr val="D9252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9475" lIns="49475" spcFirstLastPara="1" rIns="49475" wrap="square" tIns="494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34" name="Google Shape;834;p24"/>
          <p:cNvSpPr/>
          <p:nvPr/>
        </p:nvSpPr>
        <p:spPr>
          <a:xfrm>
            <a:off x="5507025" y="4154550"/>
            <a:ext cx="3250800" cy="133500"/>
          </a:xfrm>
          <a:prstGeom prst="roundRect">
            <a:avLst>
              <a:gd fmla="val 37037" name="adj"/>
            </a:avLst>
          </a:prstGeom>
          <a:solidFill>
            <a:srgbClr val="D92525"/>
          </a:solidFill>
          <a:ln cap="flat" cmpd="sng" w="6875">
            <a:solidFill>
              <a:srgbClr val="D9252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9475" lIns="49475" spcFirstLastPara="1" rIns="49475" wrap="square" tIns="494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35" name="Google Shape;835;p24"/>
          <p:cNvSpPr/>
          <p:nvPr/>
        </p:nvSpPr>
        <p:spPr>
          <a:xfrm>
            <a:off x="5731199" y="4169396"/>
            <a:ext cx="2973600" cy="89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150" lIns="150" spcFirstLastPara="1" rIns="150" wrap="square" tIns="15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433"/>
              <a:buFont typeface="Arial"/>
              <a:buNone/>
            </a:pPr>
            <a:r>
              <a:rPr b="1" lang="fr" sz="433">
                <a:solidFill>
                  <a:srgbClr val="FFFFFF"/>
                </a:solidFill>
              </a:rPr>
              <a:t>Vidéo supervision + alarme incendie quai</a:t>
            </a:r>
            <a:endParaRPr b="0" i="0" sz="433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36" name="Google Shape;836;p24"/>
          <p:cNvSpPr/>
          <p:nvPr/>
        </p:nvSpPr>
        <p:spPr>
          <a:xfrm>
            <a:off x="5533399" y="4169396"/>
            <a:ext cx="158400" cy="84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150" lIns="150" spcFirstLastPara="1" rIns="150" wrap="square" tIns="15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505"/>
              <a:buFont typeface="Quattrocento Sans"/>
              <a:buNone/>
            </a:pPr>
            <a:r>
              <a:t/>
            </a:r>
            <a:endParaRPr b="0" i="0" sz="505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37" name="Google Shape;837;p24"/>
          <p:cNvSpPr/>
          <p:nvPr/>
        </p:nvSpPr>
        <p:spPr>
          <a:xfrm>
            <a:off x="5592739" y="4397033"/>
            <a:ext cx="3092400" cy="108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150" lIns="150" spcFirstLastPara="1" rIns="150" wrap="square" tIns="15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11827"/>
              </a:buClr>
              <a:buSzPts val="361"/>
              <a:buFont typeface="Arial"/>
              <a:buNone/>
            </a:pPr>
            <a:r>
              <a:rPr b="1" lang="fr" sz="361">
                <a:solidFill>
                  <a:srgbClr val="111827"/>
                </a:solidFill>
              </a:rPr>
              <a:t>Moyens :</a:t>
            </a:r>
            <a:r>
              <a:rPr lang="fr" sz="361">
                <a:solidFill>
                  <a:srgbClr val="111827"/>
                </a:solidFill>
              </a:rPr>
              <a:t> caméras, détecteurs fumée/chaleur, dashboard alarme</a:t>
            </a:r>
            <a:endParaRPr i="0" sz="361" u="none" cap="none" strike="noStrike">
              <a:solidFill>
                <a:schemeClr val="dk1"/>
              </a:solidFill>
            </a:endParaRPr>
          </a:p>
        </p:txBody>
      </p:sp>
      <p:sp>
        <p:nvSpPr>
          <p:cNvPr id="838" name="Google Shape;838;p24"/>
          <p:cNvSpPr/>
          <p:nvPr/>
        </p:nvSpPr>
        <p:spPr>
          <a:xfrm>
            <a:off x="5592739" y="4520749"/>
            <a:ext cx="3092400" cy="114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150" lIns="150" spcFirstLastPara="1" rIns="150" wrap="square" tIns="15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11827"/>
              </a:buClr>
              <a:buSzPts val="361"/>
              <a:buFont typeface="Arial"/>
              <a:buNone/>
            </a:pPr>
            <a:r>
              <a:rPr b="1" lang="fr" sz="361">
                <a:solidFill>
                  <a:srgbClr val="111827"/>
                </a:solidFill>
              </a:rPr>
              <a:t>Workflow : </a:t>
            </a:r>
            <a:r>
              <a:rPr lang="fr" sz="361">
                <a:solidFill>
                  <a:srgbClr val="111827"/>
                </a:solidFill>
              </a:rPr>
              <a:t>incident → alerte visuelle/sonore → procédure sécurité</a:t>
            </a:r>
            <a:endParaRPr i="0" sz="361" u="none" cap="none" strike="noStrike">
              <a:solidFill>
                <a:schemeClr val="dk1"/>
              </a:solidFill>
            </a:endParaRPr>
          </a:p>
        </p:txBody>
      </p:sp>
      <p:sp>
        <p:nvSpPr>
          <p:cNvPr id="839" name="Google Shape;839;p24"/>
          <p:cNvSpPr/>
          <p:nvPr/>
        </p:nvSpPr>
        <p:spPr>
          <a:xfrm>
            <a:off x="5592739" y="4649414"/>
            <a:ext cx="3092400" cy="99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150" lIns="150" spcFirstLastPara="1" rIns="150" wrap="square" tIns="15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11827"/>
              </a:buClr>
              <a:buSzPts val="361"/>
              <a:buFont typeface="Arial"/>
              <a:buNone/>
            </a:pPr>
            <a:r>
              <a:rPr b="1" lang="fr" sz="361">
                <a:solidFill>
                  <a:srgbClr val="111827"/>
                </a:solidFill>
              </a:rPr>
              <a:t>Bénéfice : </a:t>
            </a:r>
            <a:r>
              <a:rPr lang="fr" sz="361">
                <a:solidFill>
                  <a:srgbClr val="111827"/>
                </a:solidFill>
              </a:rPr>
              <a:t>sécuriser personnes, marchandises et quai</a:t>
            </a:r>
            <a:endParaRPr i="0" sz="361" u="none" cap="none" strike="noStrike">
              <a:solidFill>
                <a:schemeClr val="dk1"/>
              </a:solidFill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7FAFE"/>
        </a:solidFill>
      </p:bgPr>
    </p:bg>
    <p:spTree>
      <p:nvGrpSpPr>
        <p:cNvPr id="844" name="Shape 8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5" name="Google Shape;845;p25"/>
          <p:cNvSpPr/>
          <p:nvPr/>
        </p:nvSpPr>
        <p:spPr>
          <a:xfrm>
            <a:off x="240036" y="96012"/>
            <a:ext cx="8641500" cy="246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200" lIns="200" spcFirstLastPara="1" rIns="200" wrap="square" tIns="2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B376D"/>
              </a:buClr>
              <a:buSzPts val="1700"/>
              <a:buFont typeface="Play"/>
              <a:buNone/>
            </a:pPr>
            <a:r>
              <a:rPr b="1" i="0" lang="fr" sz="1700" u="none" cap="none" strike="noStrike">
                <a:solidFill>
                  <a:srgbClr val="0B376D"/>
                </a:solidFill>
                <a:latin typeface="Play"/>
                <a:ea typeface="Play"/>
                <a:cs typeface="Play"/>
                <a:sym typeface="Play"/>
              </a:rPr>
              <a:t>STOCKAGE &amp; INVENTAIRE — USE CASES DÉTAILLÉS</a:t>
            </a:r>
            <a:endParaRPr b="0" i="0" sz="17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46" name="Google Shape;846;p25"/>
          <p:cNvSpPr/>
          <p:nvPr/>
        </p:nvSpPr>
        <p:spPr>
          <a:xfrm>
            <a:off x="514364" y="356616"/>
            <a:ext cx="8092500" cy="171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200" lIns="200" spcFirstLastPara="1" rIns="200" wrap="square" tIns="2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5B677A"/>
              </a:buClr>
              <a:buSzPts val="800"/>
              <a:buFont typeface="Arial"/>
              <a:buNone/>
            </a:pPr>
            <a:r>
              <a:rPr b="0" i="0" lang="fr" sz="800" u="none" cap="none" strike="noStrike">
                <a:solidFill>
                  <a:srgbClr val="5B677A"/>
                </a:solidFill>
                <a:latin typeface="Arial"/>
                <a:ea typeface="Arial"/>
                <a:cs typeface="Arial"/>
                <a:sym typeface="Arial"/>
              </a:rPr>
              <a:t>Objectif : avoir le bon produit au bon endroit, un stock fiable et des flux internes plus fluides</a:t>
            </a:r>
            <a:endParaRPr b="0" i="0" sz="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847" name="Google Shape;847;p25"/>
          <p:cNvCxnSpPr/>
          <p:nvPr/>
        </p:nvCxnSpPr>
        <p:spPr>
          <a:xfrm>
            <a:off x="308618" y="603504"/>
            <a:ext cx="8538600" cy="0"/>
          </a:xfrm>
          <a:prstGeom prst="straightConnector1">
            <a:avLst/>
          </a:prstGeom>
          <a:noFill/>
          <a:ln cap="flat" cmpd="sng" w="9525">
            <a:solidFill>
              <a:srgbClr val="B8C7D9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848" name="Google Shape;848;p25"/>
          <p:cNvSpPr/>
          <p:nvPr/>
        </p:nvSpPr>
        <p:spPr>
          <a:xfrm>
            <a:off x="240036" y="706374"/>
            <a:ext cx="1543200" cy="445800"/>
          </a:xfrm>
          <a:prstGeom prst="roundRect">
            <a:avLst>
              <a:gd fmla="val 20000" name="adj"/>
            </a:avLst>
          </a:prstGeom>
          <a:solidFill>
            <a:srgbClr val="F47B20"/>
          </a:solidFill>
          <a:ln cap="flat" cmpd="sng" w="9525">
            <a:solidFill>
              <a:srgbClr val="F47B2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49" name="Google Shape;849;p25"/>
          <p:cNvSpPr/>
          <p:nvPr/>
        </p:nvSpPr>
        <p:spPr>
          <a:xfrm>
            <a:off x="336051" y="754380"/>
            <a:ext cx="342900" cy="363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200" lIns="200" spcFirstLastPara="1" rIns="200" wrap="square" tIns="2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Quattrocento Sans"/>
              <a:buNone/>
            </a:pPr>
            <a:r>
              <a:rPr b="0" i="0" lang="fr" sz="1400" u="none" cap="none" strike="noStrike">
                <a:solidFill>
                  <a:srgbClr val="FFFFFF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🏬</a:t>
            </a:r>
            <a:endParaRPr b="0" i="0" sz="1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50" name="Google Shape;850;p25"/>
          <p:cNvSpPr/>
          <p:nvPr/>
        </p:nvSpPr>
        <p:spPr>
          <a:xfrm>
            <a:off x="733826" y="761238"/>
            <a:ext cx="980700" cy="171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200" lIns="200" spcFirstLastPara="1" rIns="200" wrap="square" tIns="2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Play"/>
              <a:buNone/>
            </a:pPr>
            <a:r>
              <a:rPr b="1" i="0" lang="fr" sz="1000" u="none" cap="none" strike="noStrike">
                <a:solidFill>
                  <a:srgbClr val="FFFFFF"/>
                </a:solidFill>
                <a:latin typeface="Play"/>
                <a:ea typeface="Play"/>
                <a:cs typeface="Play"/>
                <a:sym typeface="Play"/>
              </a:rPr>
              <a:t>LOGIQUE</a:t>
            </a:r>
            <a:endParaRPr b="0" i="0" sz="10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51" name="Google Shape;851;p25"/>
          <p:cNvSpPr/>
          <p:nvPr/>
        </p:nvSpPr>
        <p:spPr>
          <a:xfrm>
            <a:off x="733826" y="973836"/>
            <a:ext cx="980700" cy="137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200" lIns="200" spcFirstLastPara="1" rIns="200" wrap="square" tIns="2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600"/>
              <a:buFont typeface="Arial"/>
              <a:buNone/>
            </a:pPr>
            <a:r>
              <a:rPr b="0" i="0" lang="fr" sz="6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Problème → dispositif → action</a:t>
            </a:r>
            <a:endParaRPr b="0" i="0" sz="6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52" name="Google Shape;852;p25"/>
          <p:cNvSpPr/>
          <p:nvPr/>
        </p:nvSpPr>
        <p:spPr>
          <a:xfrm>
            <a:off x="240036" y="1248156"/>
            <a:ext cx="1543200" cy="3326100"/>
          </a:xfrm>
          <a:prstGeom prst="roundRect">
            <a:avLst>
              <a:gd fmla="val 5333" name="adj"/>
            </a:avLst>
          </a:prstGeom>
          <a:solidFill>
            <a:srgbClr val="FFFFFF"/>
          </a:solidFill>
          <a:ln cap="flat" cmpd="sng" w="8575">
            <a:solidFill>
              <a:srgbClr val="F47B2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53" name="Google Shape;853;p25"/>
          <p:cNvSpPr/>
          <p:nvPr/>
        </p:nvSpPr>
        <p:spPr>
          <a:xfrm>
            <a:off x="377200" y="1440180"/>
            <a:ext cx="219300" cy="178200"/>
          </a:xfrm>
          <a:prstGeom prst="roundRect">
            <a:avLst>
              <a:gd fmla="val 46154" name="adj"/>
            </a:avLst>
          </a:prstGeom>
          <a:solidFill>
            <a:srgbClr val="F47B20"/>
          </a:solidFill>
          <a:ln cap="flat" cmpd="sng" w="8575">
            <a:solidFill>
              <a:srgbClr val="F47B2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54" name="Google Shape;854;p25"/>
          <p:cNvSpPr/>
          <p:nvPr/>
        </p:nvSpPr>
        <p:spPr>
          <a:xfrm>
            <a:off x="404633" y="1440180"/>
            <a:ext cx="164700" cy="178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200" lIns="200" spcFirstLastPara="1" rIns="200" wrap="square" tIns="2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600"/>
              <a:buFont typeface="Arial"/>
              <a:buNone/>
            </a:pPr>
            <a:r>
              <a:rPr b="1" i="0" lang="fr" sz="6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1</a:t>
            </a:r>
            <a:endParaRPr b="0" i="0" sz="6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55" name="Google Shape;855;p25"/>
          <p:cNvSpPr/>
          <p:nvPr/>
        </p:nvSpPr>
        <p:spPr>
          <a:xfrm>
            <a:off x="658386" y="1405890"/>
            <a:ext cx="918900" cy="12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200" lIns="200" spcFirstLastPara="1" rIns="200" wrap="square" tIns="2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B376D"/>
              </a:buClr>
              <a:buSzPts val="600"/>
              <a:buFont typeface="Arial"/>
              <a:buNone/>
            </a:pPr>
            <a:r>
              <a:rPr b="1" i="0" lang="fr" sz="600" u="none" cap="none" strike="noStrike">
                <a:solidFill>
                  <a:srgbClr val="0B376D"/>
                </a:solidFill>
                <a:latin typeface="Arial"/>
                <a:ea typeface="Arial"/>
                <a:cs typeface="Arial"/>
                <a:sym typeface="Arial"/>
              </a:rPr>
              <a:t>1. Problème observé</a:t>
            </a:r>
            <a:endParaRPr b="0" i="0" sz="6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56" name="Google Shape;856;p25"/>
          <p:cNvSpPr/>
          <p:nvPr/>
        </p:nvSpPr>
        <p:spPr>
          <a:xfrm>
            <a:off x="658386" y="1570482"/>
            <a:ext cx="918900" cy="192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200" lIns="200" spcFirstLastPara="1" rIns="200" wrap="square" tIns="2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B677A"/>
              </a:buClr>
              <a:buSzPts val="500"/>
              <a:buFont typeface="Arial"/>
              <a:buNone/>
            </a:pPr>
            <a:r>
              <a:rPr b="0" i="0" lang="fr" sz="500" u="none" cap="none" strike="noStrike">
                <a:solidFill>
                  <a:srgbClr val="5B677A"/>
                </a:solidFill>
                <a:latin typeface="Arial"/>
                <a:ea typeface="Arial"/>
                <a:cs typeface="Arial"/>
                <a:sym typeface="Arial"/>
              </a:rPr>
              <a:t>ex. attente, erreur, rupture</a:t>
            </a:r>
            <a:endParaRPr b="0" i="0" sz="5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857" name="Google Shape;857;p25"/>
          <p:cNvCxnSpPr/>
          <p:nvPr/>
        </p:nvCxnSpPr>
        <p:spPr>
          <a:xfrm>
            <a:off x="493789" y="1728216"/>
            <a:ext cx="0" cy="260700"/>
          </a:xfrm>
          <a:prstGeom prst="straightConnector1">
            <a:avLst/>
          </a:prstGeom>
          <a:noFill/>
          <a:ln cap="flat" cmpd="sng" w="13325">
            <a:solidFill>
              <a:srgbClr val="F47B20"/>
            </a:solidFill>
            <a:prstDash val="solid"/>
            <a:round/>
            <a:headEnd len="sm" w="sm" type="none"/>
            <a:tailEnd len="med" w="med" type="triangle"/>
          </a:ln>
        </p:spPr>
      </p:cxnSp>
      <p:sp>
        <p:nvSpPr>
          <p:cNvPr id="858" name="Google Shape;858;p25"/>
          <p:cNvSpPr/>
          <p:nvPr/>
        </p:nvSpPr>
        <p:spPr>
          <a:xfrm>
            <a:off x="377200" y="2180844"/>
            <a:ext cx="219300" cy="178200"/>
          </a:xfrm>
          <a:prstGeom prst="roundRect">
            <a:avLst>
              <a:gd fmla="val 46154" name="adj"/>
            </a:avLst>
          </a:prstGeom>
          <a:solidFill>
            <a:srgbClr val="F47B20"/>
          </a:solidFill>
          <a:ln cap="flat" cmpd="sng" w="8575">
            <a:solidFill>
              <a:srgbClr val="F47B2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59" name="Google Shape;859;p25"/>
          <p:cNvSpPr/>
          <p:nvPr/>
        </p:nvSpPr>
        <p:spPr>
          <a:xfrm>
            <a:off x="404633" y="2180844"/>
            <a:ext cx="164700" cy="178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200" lIns="200" spcFirstLastPara="1" rIns="200" wrap="square" tIns="2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600"/>
              <a:buFont typeface="Arial"/>
              <a:buNone/>
            </a:pPr>
            <a:r>
              <a:rPr b="1" i="0" lang="fr" sz="6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2</a:t>
            </a:r>
            <a:endParaRPr b="0" i="0" sz="6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60" name="Google Shape;860;p25"/>
          <p:cNvSpPr/>
          <p:nvPr/>
        </p:nvSpPr>
        <p:spPr>
          <a:xfrm>
            <a:off x="658386" y="2146554"/>
            <a:ext cx="918900" cy="12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200" lIns="200" spcFirstLastPara="1" rIns="200" wrap="square" tIns="2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B376D"/>
              </a:buClr>
              <a:buSzPts val="600"/>
              <a:buFont typeface="Arial"/>
              <a:buNone/>
            </a:pPr>
            <a:r>
              <a:rPr b="1" i="0" lang="fr" sz="600" u="none" cap="none" strike="noStrike">
                <a:solidFill>
                  <a:srgbClr val="0B376D"/>
                </a:solidFill>
                <a:latin typeface="Arial"/>
                <a:ea typeface="Arial"/>
                <a:cs typeface="Arial"/>
                <a:sym typeface="Arial"/>
              </a:rPr>
              <a:t>2. Dispositif concret</a:t>
            </a:r>
            <a:endParaRPr b="0" i="0" sz="6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61" name="Google Shape;861;p25"/>
          <p:cNvSpPr/>
          <p:nvPr/>
        </p:nvSpPr>
        <p:spPr>
          <a:xfrm>
            <a:off x="658386" y="2311146"/>
            <a:ext cx="918900" cy="192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200" lIns="200" spcFirstLastPara="1" rIns="200" wrap="square" tIns="2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B677A"/>
              </a:buClr>
              <a:buSzPts val="500"/>
              <a:buFont typeface="Arial"/>
              <a:buNone/>
            </a:pPr>
            <a:r>
              <a:rPr b="0" i="0" lang="fr" sz="500" u="none" cap="none" strike="noStrike">
                <a:solidFill>
                  <a:srgbClr val="5B677A"/>
                </a:solidFill>
                <a:latin typeface="Arial"/>
                <a:ea typeface="Arial"/>
                <a:cs typeface="Arial"/>
                <a:sym typeface="Arial"/>
              </a:rPr>
              <a:t>scan, caméra, RFID, robot, ML</a:t>
            </a:r>
            <a:endParaRPr b="0" i="0" sz="5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862" name="Google Shape;862;p25"/>
          <p:cNvCxnSpPr/>
          <p:nvPr/>
        </p:nvCxnSpPr>
        <p:spPr>
          <a:xfrm>
            <a:off x="493789" y="2468880"/>
            <a:ext cx="0" cy="260700"/>
          </a:xfrm>
          <a:prstGeom prst="straightConnector1">
            <a:avLst/>
          </a:prstGeom>
          <a:noFill/>
          <a:ln cap="flat" cmpd="sng" w="13325">
            <a:solidFill>
              <a:srgbClr val="F47B20"/>
            </a:solidFill>
            <a:prstDash val="solid"/>
            <a:round/>
            <a:headEnd len="sm" w="sm" type="none"/>
            <a:tailEnd len="med" w="med" type="triangle"/>
          </a:ln>
        </p:spPr>
      </p:cxnSp>
      <p:sp>
        <p:nvSpPr>
          <p:cNvPr id="863" name="Google Shape;863;p25"/>
          <p:cNvSpPr/>
          <p:nvPr/>
        </p:nvSpPr>
        <p:spPr>
          <a:xfrm>
            <a:off x="377200" y="2921508"/>
            <a:ext cx="219300" cy="178200"/>
          </a:xfrm>
          <a:prstGeom prst="roundRect">
            <a:avLst>
              <a:gd fmla="val 46154" name="adj"/>
            </a:avLst>
          </a:prstGeom>
          <a:solidFill>
            <a:srgbClr val="F47B20"/>
          </a:solidFill>
          <a:ln cap="flat" cmpd="sng" w="8575">
            <a:solidFill>
              <a:srgbClr val="F47B2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64" name="Google Shape;864;p25"/>
          <p:cNvSpPr/>
          <p:nvPr/>
        </p:nvSpPr>
        <p:spPr>
          <a:xfrm>
            <a:off x="404633" y="2921508"/>
            <a:ext cx="164700" cy="178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200" lIns="200" spcFirstLastPara="1" rIns="200" wrap="square" tIns="2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600"/>
              <a:buFont typeface="Arial"/>
              <a:buNone/>
            </a:pPr>
            <a:r>
              <a:rPr b="1" i="0" lang="fr" sz="6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3</a:t>
            </a:r>
            <a:endParaRPr b="0" i="0" sz="6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65" name="Google Shape;865;p25"/>
          <p:cNvSpPr/>
          <p:nvPr/>
        </p:nvSpPr>
        <p:spPr>
          <a:xfrm>
            <a:off x="658386" y="2887218"/>
            <a:ext cx="918900" cy="12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200" lIns="200" spcFirstLastPara="1" rIns="200" wrap="square" tIns="2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B376D"/>
              </a:buClr>
              <a:buSzPts val="600"/>
              <a:buFont typeface="Arial"/>
              <a:buNone/>
            </a:pPr>
            <a:r>
              <a:rPr b="1" i="0" lang="fr" sz="600" u="none" cap="none" strike="noStrike">
                <a:solidFill>
                  <a:srgbClr val="0B376D"/>
                </a:solidFill>
                <a:latin typeface="Arial"/>
                <a:ea typeface="Arial"/>
                <a:cs typeface="Arial"/>
                <a:sym typeface="Arial"/>
              </a:rPr>
              <a:t>3. Workflow WMS</a:t>
            </a:r>
            <a:endParaRPr b="0" i="0" sz="6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66" name="Google Shape;866;p25"/>
          <p:cNvSpPr/>
          <p:nvPr/>
        </p:nvSpPr>
        <p:spPr>
          <a:xfrm>
            <a:off x="658386" y="3051810"/>
            <a:ext cx="918900" cy="192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200" lIns="200" spcFirstLastPara="1" rIns="200" wrap="square" tIns="2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B677A"/>
              </a:buClr>
              <a:buSzPts val="500"/>
              <a:buFont typeface="Arial"/>
              <a:buNone/>
            </a:pPr>
            <a:r>
              <a:rPr b="0" i="0" lang="fr" sz="500" u="none" cap="none" strike="noStrike">
                <a:solidFill>
                  <a:srgbClr val="5B677A"/>
                </a:solidFill>
                <a:latin typeface="Arial"/>
                <a:ea typeface="Arial"/>
                <a:cs typeface="Arial"/>
                <a:sym typeface="Arial"/>
              </a:rPr>
              <a:t>création tâche, alerte, validation</a:t>
            </a:r>
            <a:endParaRPr b="0" i="0" sz="5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867" name="Google Shape;867;p25"/>
          <p:cNvCxnSpPr/>
          <p:nvPr/>
        </p:nvCxnSpPr>
        <p:spPr>
          <a:xfrm>
            <a:off x="493789" y="3209544"/>
            <a:ext cx="0" cy="260700"/>
          </a:xfrm>
          <a:prstGeom prst="straightConnector1">
            <a:avLst/>
          </a:prstGeom>
          <a:noFill/>
          <a:ln cap="flat" cmpd="sng" w="13325">
            <a:solidFill>
              <a:srgbClr val="F47B20"/>
            </a:solidFill>
            <a:prstDash val="solid"/>
            <a:round/>
            <a:headEnd len="sm" w="sm" type="none"/>
            <a:tailEnd len="med" w="med" type="triangle"/>
          </a:ln>
        </p:spPr>
      </p:cxnSp>
      <p:sp>
        <p:nvSpPr>
          <p:cNvPr id="868" name="Google Shape;868;p25"/>
          <p:cNvSpPr/>
          <p:nvPr/>
        </p:nvSpPr>
        <p:spPr>
          <a:xfrm>
            <a:off x="377200" y="3662172"/>
            <a:ext cx="219300" cy="178200"/>
          </a:xfrm>
          <a:prstGeom prst="roundRect">
            <a:avLst>
              <a:gd fmla="val 46154" name="adj"/>
            </a:avLst>
          </a:prstGeom>
          <a:solidFill>
            <a:srgbClr val="F47B20"/>
          </a:solidFill>
          <a:ln cap="flat" cmpd="sng" w="8575">
            <a:solidFill>
              <a:srgbClr val="F47B2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69" name="Google Shape;869;p25"/>
          <p:cNvSpPr/>
          <p:nvPr/>
        </p:nvSpPr>
        <p:spPr>
          <a:xfrm>
            <a:off x="404633" y="3662172"/>
            <a:ext cx="164700" cy="178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200" lIns="200" spcFirstLastPara="1" rIns="200" wrap="square" tIns="2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600"/>
              <a:buFont typeface="Arial"/>
              <a:buNone/>
            </a:pPr>
            <a:r>
              <a:rPr b="1" i="0" lang="fr" sz="6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4</a:t>
            </a:r>
            <a:endParaRPr b="0" i="0" sz="6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70" name="Google Shape;870;p25"/>
          <p:cNvSpPr/>
          <p:nvPr/>
        </p:nvSpPr>
        <p:spPr>
          <a:xfrm>
            <a:off x="658386" y="3627882"/>
            <a:ext cx="918900" cy="12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200" lIns="200" spcFirstLastPara="1" rIns="200" wrap="square" tIns="2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B376D"/>
              </a:buClr>
              <a:buSzPts val="600"/>
              <a:buFont typeface="Arial"/>
              <a:buNone/>
            </a:pPr>
            <a:r>
              <a:rPr b="1" i="0" lang="fr" sz="600" u="none" cap="none" strike="noStrike">
                <a:solidFill>
                  <a:srgbClr val="0B376D"/>
                </a:solidFill>
                <a:latin typeface="Arial"/>
                <a:ea typeface="Arial"/>
                <a:cs typeface="Arial"/>
                <a:sym typeface="Arial"/>
              </a:rPr>
              <a:t>4. Bénéfice mesuré</a:t>
            </a:r>
            <a:endParaRPr b="0" i="0" sz="6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71" name="Google Shape;871;p25"/>
          <p:cNvSpPr/>
          <p:nvPr/>
        </p:nvSpPr>
        <p:spPr>
          <a:xfrm>
            <a:off x="658386" y="3792474"/>
            <a:ext cx="918900" cy="192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200" lIns="200" spcFirstLastPara="1" rIns="200" wrap="square" tIns="2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B677A"/>
              </a:buClr>
              <a:buSzPts val="500"/>
              <a:buFont typeface="Arial"/>
              <a:buNone/>
            </a:pPr>
            <a:r>
              <a:rPr b="0" i="0" lang="fr" sz="500" u="none" cap="none" strike="noStrike">
                <a:solidFill>
                  <a:srgbClr val="5B677A"/>
                </a:solidFill>
                <a:latin typeface="Arial"/>
                <a:ea typeface="Arial"/>
                <a:cs typeface="Arial"/>
                <a:sym typeface="Arial"/>
              </a:rPr>
              <a:t>temps ↓ erreurs ↓ service ↑</a:t>
            </a:r>
            <a:endParaRPr b="0" i="0" sz="5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72" name="Google Shape;872;p25"/>
          <p:cNvSpPr/>
          <p:nvPr/>
        </p:nvSpPr>
        <p:spPr>
          <a:xfrm>
            <a:off x="240036" y="4704588"/>
            <a:ext cx="1543200" cy="246900"/>
          </a:xfrm>
          <a:prstGeom prst="roundRect">
            <a:avLst>
              <a:gd fmla="val 27778" name="adj"/>
            </a:avLst>
          </a:prstGeom>
          <a:solidFill>
            <a:srgbClr val="EDF3FA"/>
          </a:solidFill>
          <a:ln cap="flat" cmpd="sng" w="8575">
            <a:solidFill>
              <a:srgbClr val="B8C7D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73" name="Google Shape;873;p25"/>
          <p:cNvSpPr/>
          <p:nvPr/>
        </p:nvSpPr>
        <p:spPr>
          <a:xfrm>
            <a:off x="322335" y="4752594"/>
            <a:ext cx="1371600" cy="96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200" lIns="200" spcFirstLastPara="1" rIns="200" wrap="square" tIns="2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6B3FA0"/>
              </a:buClr>
              <a:buSzPts val="500"/>
              <a:buFont typeface="Arial"/>
              <a:buNone/>
            </a:pPr>
            <a:r>
              <a:rPr b="1" i="0" lang="fr" sz="500" u="none" cap="none" strike="noStrike">
                <a:solidFill>
                  <a:srgbClr val="6B3FA0"/>
                </a:solidFill>
                <a:latin typeface="Arial"/>
                <a:ea typeface="Arial"/>
                <a:cs typeface="Arial"/>
                <a:sym typeface="Arial"/>
              </a:rPr>
              <a:t>Important : IA seulement si règle simple insuffisante</a:t>
            </a:r>
            <a:endParaRPr b="0" i="0" sz="5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74" name="Google Shape;874;p25"/>
          <p:cNvSpPr/>
          <p:nvPr/>
        </p:nvSpPr>
        <p:spPr>
          <a:xfrm>
            <a:off x="1934008" y="706374"/>
            <a:ext cx="3381300" cy="836700"/>
          </a:xfrm>
          <a:prstGeom prst="roundRect">
            <a:avLst>
              <a:gd fmla="val 9836" name="adj"/>
            </a:avLst>
          </a:prstGeom>
          <a:solidFill>
            <a:srgbClr val="FFFFFF"/>
          </a:solidFill>
          <a:ln cap="flat" cmpd="sng" w="8575">
            <a:solidFill>
              <a:srgbClr val="F47B2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75" name="Google Shape;875;p25"/>
          <p:cNvSpPr/>
          <p:nvPr/>
        </p:nvSpPr>
        <p:spPr>
          <a:xfrm>
            <a:off x="1934008" y="706374"/>
            <a:ext cx="3381300" cy="185100"/>
          </a:xfrm>
          <a:prstGeom prst="roundRect">
            <a:avLst>
              <a:gd fmla="val 37037" name="adj"/>
            </a:avLst>
          </a:prstGeom>
          <a:solidFill>
            <a:srgbClr val="F47B20"/>
          </a:solidFill>
          <a:ln cap="flat" cmpd="sng" w="9525">
            <a:solidFill>
              <a:srgbClr val="F47B2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76" name="Google Shape;876;p25"/>
          <p:cNvSpPr/>
          <p:nvPr/>
        </p:nvSpPr>
        <p:spPr>
          <a:xfrm>
            <a:off x="2167186" y="726948"/>
            <a:ext cx="3093000" cy="12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200" lIns="200" spcFirstLastPara="1" rIns="200" wrap="square" tIns="2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600"/>
              <a:buFont typeface="Arial"/>
              <a:buNone/>
            </a:pPr>
            <a:r>
              <a:rPr b="1" i="0" lang="fr" sz="6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Slotting dynamique : meilleur emplacement</a:t>
            </a:r>
            <a:endParaRPr b="0" i="0" sz="6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77" name="Google Shape;877;p25"/>
          <p:cNvSpPr/>
          <p:nvPr/>
        </p:nvSpPr>
        <p:spPr>
          <a:xfrm>
            <a:off x="1961440" y="726948"/>
            <a:ext cx="164700" cy="116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200" lIns="200" spcFirstLastPara="1" rIns="200" wrap="square" tIns="2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700"/>
              <a:buFont typeface="Quattrocento Sans"/>
              <a:buNone/>
            </a:pPr>
            <a:r>
              <a:rPr b="0" i="0" lang="fr" sz="700" u="none" cap="none" strike="noStrike">
                <a:solidFill>
                  <a:srgbClr val="FFFFFF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📍</a:t>
            </a:r>
            <a:endParaRPr b="0" i="0" sz="7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78" name="Google Shape;878;p25"/>
          <p:cNvSpPr/>
          <p:nvPr/>
        </p:nvSpPr>
        <p:spPr>
          <a:xfrm>
            <a:off x="4814444" y="918972"/>
            <a:ext cx="438900" cy="123600"/>
          </a:xfrm>
          <a:prstGeom prst="roundRect">
            <a:avLst>
              <a:gd fmla="val 66667" name="adj"/>
            </a:avLst>
          </a:prstGeom>
          <a:solidFill>
            <a:srgbClr val="FFF2E6"/>
          </a:solidFill>
          <a:ln cap="flat" cmpd="sng" w="8575">
            <a:solidFill>
              <a:srgbClr val="F47B2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79" name="Google Shape;879;p25"/>
          <p:cNvSpPr/>
          <p:nvPr/>
        </p:nvSpPr>
        <p:spPr>
          <a:xfrm>
            <a:off x="4841877" y="918972"/>
            <a:ext cx="384000" cy="12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200" lIns="200" spcFirstLastPara="1" rIns="200" wrap="square" tIns="2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47B20"/>
              </a:buClr>
              <a:buSzPts val="400"/>
              <a:buFont typeface="Arial"/>
              <a:buNone/>
            </a:pPr>
            <a:r>
              <a:rPr b="1" i="0" lang="fr" sz="400" u="none" cap="none" strike="noStrike">
                <a:solidFill>
                  <a:srgbClr val="F47B20"/>
                </a:solidFill>
                <a:latin typeface="Arial"/>
                <a:ea typeface="Arial"/>
                <a:cs typeface="Arial"/>
                <a:sym typeface="Arial"/>
              </a:rPr>
              <a:t>Optimisation / ML</a:t>
            </a:r>
            <a:endParaRPr b="0" i="0" sz="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80" name="Google Shape;880;p25"/>
          <p:cNvSpPr/>
          <p:nvPr/>
        </p:nvSpPr>
        <p:spPr>
          <a:xfrm>
            <a:off x="2023164" y="1042416"/>
            <a:ext cx="3216600" cy="150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200" lIns="200" spcFirstLastPara="1" rIns="200" wrap="square" tIns="2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11827"/>
              </a:buClr>
              <a:buSzPts val="500"/>
              <a:buFont typeface="Arial"/>
              <a:buNone/>
            </a:pPr>
            <a:r>
              <a:rPr b="1" i="0" lang="fr" sz="500" u="none" cap="none" strike="noStrike">
                <a:solidFill>
                  <a:srgbClr val="111827"/>
                </a:solidFill>
                <a:latin typeface="Arial"/>
                <a:ea typeface="Arial"/>
                <a:cs typeface="Arial"/>
                <a:sym typeface="Arial"/>
              </a:rPr>
              <a:t>Moyens : </a:t>
            </a:r>
            <a:r>
              <a:rPr b="0" i="0" lang="fr" sz="500" u="none" cap="none" strike="noStrike">
                <a:solidFill>
                  <a:srgbClr val="111827"/>
                </a:solidFill>
                <a:latin typeface="Arial"/>
                <a:ea typeface="Arial"/>
                <a:cs typeface="Arial"/>
                <a:sym typeface="Arial"/>
              </a:rPr>
              <a:t>Historique commandes, rotation, poids, volume</a:t>
            </a:r>
            <a:endParaRPr b="0" i="0" sz="5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81" name="Google Shape;881;p25"/>
          <p:cNvSpPr/>
          <p:nvPr/>
        </p:nvSpPr>
        <p:spPr>
          <a:xfrm>
            <a:off x="2023164" y="1213866"/>
            <a:ext cx="3216600" cy="157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200" lIns="200" spcFirstLastPara="1" rIns="200" wrap="square" tIns="2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11827"/>
              </a:buClr>
              <a:buSzPts val="500"/>
              <a:buFont typeface="Arial"/>
              <a:buNone/>
            </a:pPr>
            <a:r>
              <a:rPr b="1" i="0" lang="fr" sz="500" u="none" cap="none" strike="noStrike">
                <a:solidFill>
                  <a:srgbClr val="111827"/>
                </a:solidFill>
                <a:latin typeface="Arial"/>
                <a:ea typeface="Arial"/>
                <a:cs typeface="Arial"/>
                <a:sym typeface="Arial"/>
              </a:rPr>
              <a:t>Workflow : </a:t>
            </a:r>
            <a:r>
              <a:rPr b="0" i="0" lang="fr" sz="500" u="none" cap="none" strike="noStrike">
                <a:solidFill>
                  <a:srgbClr val="111827"/>
                </a:solidFill>
                <a:latin typeface="Arial"/>
                <a:ea typeface="Arial"/>
                <a:cs typeface="Arial"/>
                <a:sym typeface="Arial"/>
              </a:rPr>
              <a:t>Analyse demande → emplacement optimal → déplacement</a:t>
            </a:r>
            <a:endParaRPr b="0" i="0" sz="5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82" name="Google Shape;882;p25"/>
          <p:cNvSpPr/>
          <p:nvPr/>
        </p:nvSpPr>
        <p:spPr>
          <a:xfrm>
            <a:off x="2023164" y="1392174"/>
            <a:ext cx="3216600" cy="137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200" lIns="200" spcFirstLastPara="1" rIns="200" wrap="square" tIns="2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11827"/>
              </a:buClr>
              <a:buSzPts val="500"/>
              <a:buFont typeface="Arial"/>
              <a:buNone/>
            </a:pPr>
            <a:r>
              <a:rPr b="1" i="0" lang="fr" sz="500" u="none" cap="none" strike="noStrike">
                <a:solidFill>
                  <a:srgbClr val="111827"/>
                </a:solidFill>
                <a:latin typeface="Arial"/>
                <a:ea typeface="Arial"/>
                <a:cs typeface="Arial"/>
                <a:sym typeface="Arial"/>
              </a:rPr>
              <a:t>Bénéfice : </a:t>
            </a:r>
            <a:r>
              <a:rPr b="0" i="0" lang="fr" sz="500" u="none" cap="none" strike="noStrike">
                <a:solidFill>
                  <a:srgbClr val="111827"/>
                </a:solidFill>
                <a:latin typeface="Arial"/>
                <a:ea typeface="Arial"/>
                <a:cs typeface="Arial"/>
                <a:sym typeface="Arial"/>
              </a:rPr>
              <a:t>Moins de distance, picking plus rapide</a:t>
            </a:r>
            <a:endParaRPr b="0" i="0" sz="5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83" name="Google Shape;883;p25"/>
          <p:cNvSpPr/>
          <p:nvPr/>
        </p:nvSpPr>
        <p:spPr>
          <a:xfrm>
            <a:off x="5465972" y="706374"/>
            <a:ext cx="3381300" cy="836700"/>
          </a:xfrm>
          <a:prstGeom prst="roundRect">
            <a:avLst>
              <a:gd fmla="val 9836" name="adj"/>
            </a:avLst>
          </a:prstGeom>
          <a:solidFill>
            <a:srgbClr val="FFFFFF"/>
          </a:solidFill>
          <a:ln cap="flat" cmpd="sng" w="8575">
            <a:solidFill>
              <a:srgbClr val="F47B2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84" name="Google Shape;884;p25"/>
          <p:cNvSpPr/>
          <p:nvPr/>
        </p:nvSpPr>
        <p:spPr>
          <a:xfrm>
            <a:off x="5465972" y="706374"/>
            <a:ext cx="3381300" cy="185100"/>
          </a:xfrm>
          <a:prstGeom prst="roundRect">
            <a:avLst>
              <a:gd fmla="val 37037" name="adj"/>
            </a:avLst>
          </a:prstGeom>
          <a:solidFill>
            <a:srgbClr val="F47B20"/>
          </a:solidFill>
          <a:ln cap="flat" cmpd="sng" w="9525">
            <a:solidFill>
              <a:srgbClr val="F47B2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85" name="Google Shape;885;p25"/>
          <p:cNvSpPr/>
          <p:nvPr/>
        </p:nvSpPr>
        <p:spPr>
          <a:xfrm>
            <a:off x="5699150" y="726948"/>
            <a:ext cx="3093000" cy="12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200" lIns="200" spcFirstLastPara="1" rIns="200" wrap="square" tIns="2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600"/>
              <a:buFont typeface="Arial"/>
              <a:buNone/>
            </a:pPr>
            <a:r>
              <a:rPr b="1" i="0" lang="fr" sz="6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Réapprovisionnement prédictif picking</a:t>
            </a:r>
            <a:endParaRPr b="0" i="0" sz="6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86" name="Google Shape;886;p25"/>
          <p:cNvSpPr/>
          <p:nvPr/>
        </p:nvSpPr>
        <p:spPr>
          <a:xfrm>
            <a:off x="5493404" y="726948"/>
            <a:ext cx="164700" cy="116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200" lIns="200" spcFirstLastPara="1" rIns="200" wrap="square" tIns="2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700"/>
              <a:buFont typeface="Quattrocento Sans"/>
              <a:buNone/>
            </a:pPr>
            <a:r>
              <a:rPr b="0" i="0" lang="fr" sz="700" u="none" cap="none" strike="noStrike">
                <a:solidFill>
                  <a:srgbClr val="FFFFFF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🔁</a:t>
            </a:r>
            <a:endParaRPr b="0" i="0" sz="7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87" name="Google Shape;887;p25"/>
          <p:cNvSpPr/>
          <p:nvPr/>
        </p:nvSpPr>
        <p:spPr>
          <a:xfrm>
            <a:off x="8346408" y="918972"/>
            <a:ext cx="438900" cy="123600"/>
          </a:xfrm>
          <a:prstGeom prst="roundRect">
            <a:avLst>
              <a:gd fmla="val 66667" name="adj"/>
            </a:avLst>
          </a:prstGeom>
          <a:solidFill>
            <a:srgbClr val="FFF2E6"/>
          </a:solidFill>
          <a:ln cap="flat" cmpd="sng" w="8575">
            <a:solidFill>
              <a:srgbClr val="F47B2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88" name="Google Shape;888;p25"/>
          <p:cNvSpPr/>
          <p:nvPr/>
        </p:nvSpPr>
        <p:spPr>
          <a:xfrm>
            <a:off x="8373841" y="918972"/>
            <a:ext cx="384000" cy="12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200" lIns="200" spcFirstLastPara="1" rIns="200" wrap="square" tIns="2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47B20"/>
              </a:buClr>
              <a:buSzPts val="400"/>
              <a:buFont typeface="Arial"/>
              <a:buNone/>
            </a:pPr>
            <a:r>
              <a:rPr b="1" i="0" lang="fr" sz="400" u="none" cap="none" strike="noStrike">
                <a:solidFill>
                  <a:srgbClr val="F47B20"/>
                </a:solidFill>
                <a:latin typeface="Arial"/>
                <a:ea typeface="Arial"/>
                <a:cs typeface="Arial"/>
                <a:sym typeface="Arial"/>
              </a:rPr>
              <a:t>ML</a:t>
            </a:r>
            <a:endParaRPr b="0" i="0" sz="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89" name="Google Shape;889;p25"/>
          <p:cNvSpPr/>
          <p:nvPr/>
        </p:nvSpPr>
        <p:spPr>
          <a:xfrm>
            <a:off x="5555128" y="1042416"/>
            <a:ext cx="3216600" cy="150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200" lIns="200" spcFirstLastPara="1" rIns="200" wrap="square" tIns="2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11827"/>
              </a:buClr>
              <a:buSzPts val="500"/>
              <a:buFont typeface="Arial"/>
              <a:buNone/>
            </a:pPr>
            <a:r>
              <a:rPr b="1" i="0" lang="fr" sz="500" u="none" cap="none" strike="noStrike">
                <a:solidFill>
                  <a:srgbClr val="111827"/>
                </a:solidFill>
                <a:latin typeface="Arial"/>
                <a:ea typeface="Arial"/>
                <a:cs typeface="Arial"/>
                <a:sym typeface="Arial"/>
              </a:rPr>
              <a:t>Moyens : </a:t>
            </a:r>
            <a:r>
              <a:rPr b="0" i="0" lang="fr" sz="500" u="none" cap="none" strike="noStrike">
                <a:solidFill>
                  <a:srgbClr val="111827"/>
                </a:solidFill>
                <a:latin typeface="Arial"/>
                <a:ea typeface="Arial"/>
                <a:cs typeface="Arial"/>
                <a:sym typeface="Arial"/>
              </a:rPr>
              <a:t>Stock actuel, commandes en cours, délai replenishment</a:t>
            </a:r>
            <a:endParaRPr b="0" i="0" sz="5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90" name="Google Shape;890;p25"/>
          <p:cNvSpPr/>
          <p:nvPr/>
        </p:nvSpPr>
        <p:spPr>
          <a:xfrm>
            <a:off x="5555128" y="1213866"/>
            <a:ext cx="3216600" cy="157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200" lIns="200" spcFirstLastPara="1" rIns="200" wrap="square" tIns="2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11827"/>
              </a:buClr>
              <a:buSzPts val="500"/>
              <a:buFont typeface="Arial"/>
              <a:buNone/>
            </a:pPr>
            <a:r>
              <a:rPr b="1" i="0" lang="fr" sz="500" u="none" cap="none" strike="noStrike">
                <a:solidFill>
                  <a:srgbClr val="111827"/>
                </a:solidFill>
                <a:latin typeface="Arial"/>
                <a:ea typeface="Arial"/>
                <a:cs typeface="Arial"/>
                <a:sym typeface="Arial"/>
              </a:rPr>
              <a:t>Workflow : </a:t>
            </a:r>
            <a:r>
              <a:rPr b="0" i="0" lang="fr" sz="500" u="none" cap="none" strike="noStrike">
                <a:solidFill>
                  <a:srgbClr val="111827"/>
                </a:solidFill>
                <a:latin typeface="Arial"/>
                <a:ea typeface="Arial"/>
                <a:cs typeface="Arial"/>
                <a:sym typeface="Arial"/>
              </a:rPr>
              <a:t>Risque rupture → tâche réserve → zone picking</a:t>
            </a:r>
            <a:endParaRPr b="0" i="0" sz="5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91" name="Google Shape;891;p25"/>
          <p:cNvSpPr/>
          <p:nvPr/>
        </p:nvSpPr>
        <p:spPr>
          <a:xfrm>
            <a:off x="5555128" y="1392174"/>
            <a:ext cx="3216600" cy="137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200" lIns="200" spcFirstLastPara="1" rIns="200" wrap="square" tIns="2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11827"/>
              </a:buClr>
              <a:buSzPts val="500"/>
              <a:buFont typeface="Arial"/>
              <a:buNone/>
            </a:pPr>
            <a:r>
              <a:rPr b="1" i="0" lang="fr" sz="500" u="none" cap="none" strike="noStrike">
                <a:solidFill>
                  <a:srgbClr val="111827"/>
                </a:solidFill>
                <a:latin typeface="Arial"/>
                <a:ea typeface="Arial"/>
                <a:cs typeface="Arial"/>
                <a:sym typeface="Arial"/>
              </a:rPr>
              <a:t>Bénéfice : </a:t>
            </a:r>
            <a:r>
              <a:rPr b="0" i="0" lang="fr" sz="500" u="none" cap="none" strike="noStrike">
                <a:solidFill>
                  <a:srgbClr val="111827"/>
                </a:solidFill>
                <a:latin typeface="Arial"/>
                <a:ea typeface="Arial"/>
                <a:cs typeface="Arial"/>
                <a:sym typeface="Arial"/>
              </a:rPr>
              <a:t>Éviter arrêt picking et commandes bloquées</a:t>
            </a:r>
            <a:endParaRPr b="0" i="0" sz="5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92" name="Google Shape;892;p25"/>
          <p:cNvSpPr/>
          <p:nvPr/>
        </p:nvSpPr>
        <p:spPr>
          <a:xfrm>
            <a:off x="1934008" y="1632204"/>
            <a:ext cx="3381300" cy="836700"/>
          </a:xfrm>
          <a:prstGeom prst="roundRect">
            <a:avLst>
              <a:gd fmla="val 9836" name="adj"/>
            </a:avLst>
          </a:prstGeom>
          <a:solidFill>
            <a:srgbClr val="FFFFFF"/>
          </a:solidFill>
          <a:ln cap="flat" cmpd="sng" w="8575">
            <a:solidFill>
              <a:srgbClr val="F47B2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93" name="Google Shape;893;p25"/>
          <p:cNvSpPr/>
          <p:nvPr/>
        </p:nvSpPr>
        <p:spPr>
          <a:xfrm>
            <a:off x="1934008" y="1632204"/>
            <a:ext cx="3381300" cy="185100"/>
          </a:xfrm>
          <a:prstGeom prst="roundRect">
            <a:avLst>
              <a:gd fmla="val 37037" name="adj"/>
            </a:avLst>
          </a:prstGeom>
          <a:solidFill>
            <a:srgbClr val="F47B20"/>
          </a:solidFill>
          <a:ln cap="flat" cmpd="sng" w="9525">
            <a:solidFill>
              <a:srgbClr val="F47B2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94" name="Google Shape;894;p25"/>
          <p:cNvSpPr/>
          <p:nvPr/>
        </p:nvSpPr>
        <p:spPr>
          <a:xfrm>
            <a:off x="2167186" y="1652778"/>
            <a:ext cx="3093000" cy="12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200" lIns="200" spcFirstLastPara="1" rIns="200" wrap="square" tIns="2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600"/>
              <a:buFont typeface="Arial"/>
              <a:buNone/>
            </a:pPr>
            <a:r>
              <a:rPr b="1" i="0" lang="fr" sz="6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Cycle count ciblé intelligent</a:t>
            </a:r>
            <a:endParaRPr b="0" i="0" sz="6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95" name="Google Shape;895;p25"/>
          <p:cNvSpPr/>
          <p:nvPr/>
        </p:nvSpPr>
        <p:spPr>
          <a:xfrm>
            <a:off x="1961440" y="1652778"/>
            <a:ext cx="164700" cy="116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200" lIns="200" spcFirstLastPara="1" rIns="200" wrap="square" tIns="2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700"/>
              <a:buFont typeface="Quattrocento Sans"/>
              <a:buNone/>
            </a:pPr>
            <a:r>
              <a:rPr b="0" i="0" lang="fr" sz="700" u="none" cap="none" strike="noStrike">
                <a:solidFill>
                  <a:srgbClr val="FFFFFF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📋</a:t>
            </a:r>
            <a:endParaRPr b="0" i="0" sz="7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96" name="Google Shape;896;p25"/>
          <p:cNvSpPr/>
          <p:nvPr/>
        </p:nvSpPr>
        <p:spPr>
          <a:xfrm>
            <a:off x="4814444" y="1844802"/>
            <a:ext cx="438900" cy="123600"/>
          </a:xfrm>
          <a:prstGeom prst="roundRect">
            <a:avLst>
              <a:gd fmla="val 66667" name="adj"/>
            </a:avLst>
          </a:prstGeom>
          <a:solidFill>
            <a:srgbClr val="FFF2E6"/>
          </a:solidFill>
          <a:ln cap="flat" cmpd="sng" w="8575">
            <a:solidFill>
              <a:srgbClr val="F47B2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97" name="Google Shape;897;p25"/>
          <p:cNvSpPr/>
          <p:nvPr/>
        </p:nvSpPr>
        <p:spPr>
          <a:xfrm>
            <a:off x="4841877" y="1844802"/>
            <a:ext cx="384000" cy="12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200" lIns="200" spcFirstLastPara="1" rIns="200" wrap="square" tIns="2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47B20"/>
              </a:buClr>
              <a:buSzPts val="400"/>
              <a:buFont typeface="Arial"/>
              <a:buNone/>
            </a:pPr>
            <a:r>
              <a:rPr b="1" i="0" lang="fr" sz="400" u="none" cap="none" strike="noStrike">
                <a:solidFill>
                  <a:srgbClr val="F47B20"/>
                </a:solidFill>
                <a:latin typeface="Arial"/>
                <a:ea typeface="Arial"/>
                <a:cs typeface="Arial"/>
                <a:sym typeface="Arial"/>
              </a:rPr>
              <a:t>ML + scan</a:t>
            </a:r>
            <a:endParaRPr b="0" i="0" sz="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98" name="Google Shape;898;p25"/>
          <p:cNvSpPr/>
          <p:nvPr/>
        </p:nvSpPr>
        <p:spPr>
          <a:xfrm>
            <a:off x="2023164" y="1968246"/>
            <a:ext cx="3216600" cy="150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200" lIns="200" spcFirstLastPara="1" rIns="200" wrap="square" tIns="2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11827"/>
              </a:buClr>
              <a:buSzPts val="500"/>
              <a:buFont typeface="Arial"/>
              <a:buNone/>
            </a:pPr>
            <a:r>
              <a:rPr b="1" i="0" lang="fr" sz="500" u="none" cap="none" strike="noStrike">
                <a:solidFill>
                  <a:srgbClr val="111827"/>
                </a:solidFill>
                <a:latin typeface="Arial"/>
                <a:ea typeface="Arial"/>
                <a:cs typeface="Arial"/>
                <a:sym typeface="Arial"/>
              </a:rPr>
              <a:t>Moyens : </a:t>
            </a:r>
            <a:r>
              <a:rPr b="0" i="0" lang="fr" sz="500" u="none" cap="none" strike="noStrike">
                <a:solidFill>
                  <a:srgbClr val="111827"/>
                </a:solidFill>
                <a:latin typeface="Arial"/>
                <a:ea typeface="Arial"/>
                <a:cs typeface="Arial"/>
                <a:sym typeface="Arial"/>
              </a:rPr>
              <a:t>Historique écarts, scans, mouvements, RFID</a:t>
            </a:r>
            <a:endParaRPr b="0" i="0" sz="5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99" name="Google Shape;899;p25"/>
          <p:cNvSpPr/>
          <p:nvPr/>
        </p:nvSpPr>
        <p:spPr>
          <a:xfrm>
            <a:off x="2023164" y="2139696"/>
            <a:ext cx="3216600" cy="157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200" lIns="200" spcFirstLastPara="1" rIns="200" wrap="square" tIns="2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11827"/>
              </a:buClr>
              <a:buSzPts val="500"/>
              <a:buFont typeface="Arial"/>
              <a:buNone/>
            </a:pPr>
            <a:r>
              <a:rPr b="1" i="0" lang="fr" sz="500" u="none" cap="none" strike="noStrike">
                <a:solidFill>
                  <a:srgbClr val="111827"/>
                </a:solidFill>
                <a:latin typeface="Arial"/>
                <a:ea typeface="Arial"/>
                <a:cs typeface="Arial"/>
                <a:sym typeface="Arial"/>
              </a:rPr>
              <a:t>Workflow : </a:t>
            </a:r>
            <a:r>
              <a:rPr b="0" i="0" lang="fr" sz="500" u="none" cap="none" strike="noStrike">
                <a:solidFill>
                  <a:srgbClr val="111827"/>
                </a:solidFill>
                <a:latin typeface="Arial"/>
                <a:ea typeface="Arial"/>
                <a:cs typeface="Arial"/>
                <a:sym typeface="Arial"/>
              </a:rPr>
              <a:t>Emplacements à risque → comptage ciblé → correction WMS</a:t>
            </a:r>
            <a:endParaRPr b="0" i="0" sz="5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00" name="Google Shape;900;p25"/>
          <p:cNvSpPr/>
          <p:nvPr/>
        </p:nvSpPr>
        <p:spPr>
          <a:xfrm>
            <a:off x="2023164" y="2318004"/>
            <a:ext cx="3216600" cy="137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200" lIns="200" spcFirstLastPara="1" rIns="200" wrap="square" tIns="2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11827"/>
              </a:buClr>
              <a:buSzPts val="500"/>
              <a:buFont typeface="Arial"/>
              <a:buNone/>
            </a:pPr>
            <a:r>
              <a:rPr b="1" i="0" lang="fr" sz="500" u="none" cap="none" strike="noStrike">
                <a:solidFill>
                  <a:srgbClr val="111827"/>
                </a:solidFill>
                <a:latin typeface="Arial"/>
                <a:ea typeface="Arial"/>
                <a:cs typeface="Arial"/>
                <a:sym typeface="Arial"/>
              </a:rPr>
              <a:t>Bénéfice : </a:t>
            </a:r>
            <a:r>
              <a:rPr b="0" i="0" lang="fr" sz="500" u="none" cap="none" strike="noStrike">
                <a:solidFill>
                  <a:srgbClr val="111827"/>
                </a:solidFill>
                <a:latin typeface="Arial"/>
                <a:ea typeface="Arial"/>
                <a:cs typeface="Arial"/>
                <a:sym typeface="Arial"/>
              </a:rPr>
              <a:t>Inventaire plus juste sans tout compter</a:t>
            </a:r>
            <a:endParaRPr b="0" i="0" sz="5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01" name="Google Shape;901;p25"/>
          <p:cNvSpPr/>
          <p:nvPr/>
        </p:nvSpPr>
        <p:spPr>
          <a:xfrm>
            <a:off x="5465972" y="1632204"/>
            <a:ext cx="3381300" cy="836700"/>
          </a:xfrm>
          <a:prstGeom prst="roundRect">
            <a:avLst>
              <a:gd fmla="val 9836" name="adj"/>
            </a:avLst>
          </a:prstGeom>
          <a:solidFill>
            <a:srgbClr val="FFFFFF"/>
          </a:solidFill>
          <a:ln cap="flat" cmpd="sng" w="8575">
            <a:solidFill>
              <a:srgbClr val="F47B2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02" name="Google Shape;902;p25"/>
          <p:cNvSpPr/>
          <p:nvPr/>
        </p:nvSpPr>
        <p:spPr>
          <a:xfrm>
            <a:off x="5465972" y="1632204"/>
            <a:ext cx="3381300" cy="185100"/>
          </a:xfrm>
          <a:prstGeom prst="roundRect">
            <a:avLst>
              <a:gd fmla="val 37037" name="adj"/>
            </a:avLst>
          </a:prstGeom>
          <a:solidFill>
            <a:srgbClr val="F47B20"/>
          </a:solidFill>
          <a:ln cap="flat" cmpd="sng" w="9525">
            <a:solidFill>
              <a:srgbClr val="F47B2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03" name="Google Shape;903;p25"/>
          <p:cNvSpPr/>
          <p:nvPr/>
        </p:nvSpPr>
        <p:spPr>
          <a:xfrm>
            <a:off x="5699150" y="1652778"/>
            <a:ext cx="3093000" cy="12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200" lIns="200" spcFirstLastPara="1" rIns="200" wrap="square" tIns="2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600"/>
              <a:buFont typeface="Arial"/>
              <a:buNone/>
            </a:pPr>
            <a:r>
              <a:rPr b="1" i="0" lang="fr" sz="6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Article introuvable : recherche alternative</a:t>
            </a:r>
            <a:endParaRPr b="0" i="0" sz="6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04" name="Google Shape;904;p25"/>
          <p:cNvSpPr/>
          <p:nvPr/>
        </p:nvSpPr>
        <p:spPr>
          <a:xfrm>
            <a:off x="5493404" y="1652778"/>
            <a:ext cx="164700" cy="116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200" lIns="200" spcFirstLastPara="1" rIns="200" wrap="square" tIns="2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700"/>
              <a:buFont typeface="Quattrocento Sans"/>
              <a:buNone/>
            </a:pPr>
            <a:r>
              <a:rPr b="0" i="0" lang="fr" sz="700" u="none" cap="none" strike="noStrike">
                <a:solidFill>
                  <a:srgbClr val="FFFFFF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🔍</a:t>
            </a:r>
            <a:endParaRPr b="0" i="0" sz="7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05" name="Google Shape;905;p25"/>
          <p:cNvSpPr/>
          <p:nvPr/>
        </p:nvSpPr>
        <p:spPr>
          <a:xfrm>
            <a:off x="8346408" y="1844802"/>
            <a:ext cx="438900" cy="123600"/>
          </a:xfrm>
          <a:prstGeom prst="roundRect">
            <a:avLst>
              <a:gd fmla="val 66667" name="adj"/>
            </a:avLst>
          </a:prstGeom>
          <a:solidFill>
            <a:srgbClr val="FFF2E6"/>
          </a:solidFill>
          <a:ln cap="flat" cmpd="sng" w="8575">
            <a:solidFill>
              <a:srgbClr val="F47B2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06" name="Google Shape;906;p25"/>
          <p:cNvSpPr/>
          <p:nvPr/>
        </p:nvSpPr>
        <p:spPr>
          <a:xfrm>
            <a:off x="8373841" y="1844802"/>
            <a:ext cx="384000" cy="12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200" lIns="200" spcFirstLastPara="1" rIns="200" wrap="square" tIns="2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47B20"/>
              </a:buClr>
              <a:buSzPts val="400"/>
              <a:buFont typeface="Arial"/>
              <a:buNone/>
            </a:pPr>
            <a:r>
              <a:rPr b="1" i="0" lang="fr" sz="400" u="none" cap="none" strike="noStrike">
                <a:solidFill>
                  <a:srgbClr val="F47B20"/>
                </a:solidFill>
                <a:latin typeface="Arial"/>
                <a:ea typeface="Arial"/>
                <a:cs typeface="Arial"/>
                <a:sym typeface="Arial"/>
              </a:rPr>
              <a:t>Agent IA</a:t>
            </a:r>
            <a:endParaRPr b="0" i="0" sz="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07" name="Google Shape;907;p25"/>
          <p:cNvSpPr/>
          <p:nvPr/>
        </p:nvSpPr>
        <p:spPr>
          <a:xfrm>
            <a:off x="5555128" y="1968246"/>
            <a:ext cx="3216600" cy="150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200" lIns="200" spcFirstLastPara="1" rIns="200" wrap="square" tIns="2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11827"/>
              </a:buClr>
              <a:buSzPts val="500"/>
              <a:buFont typeface="Arial"/>
              <a:buNone/>
            </a:pPr>
            <a:r>
              <a:rPr b="1" i="0" lang="fr" sz="500" u="none" cap="none" strike="noStrike">
                <a:solidFill>
                  <a:srgbClr val="111827"/>
                </a:solidFill>
                <a:latin typeface="Arial"/>
                <a:ea typeface="Arial"/>
                <a:cs typeface="Arial"/>
                <a:sym typeface="Arial"/>
              </a:rPr>
              <a:t>Moyens : </a:t>
            </a:r>
            <a:r>
              <a:rPr b="0" i="0" lang="fr" sz="500" u="none" cap="none" strike="noStrike">
                <a:solidFill>
                  <a:srgbClr val="111827"/>
                </a:solidFill>
                <a:latin typeface="Arial"/>
                <a:ea typeface="Arial"/>
                <a:cs typeface="Arial"/>
                <a:sym typeface="Arial"/>
              </a:rPr>
              <a:t>WMS, RFID/scans, historique mouvements</a:t>
            </a:r>
            <a:endParaRPr b="0" i="0" sz="5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08" name="Google Shape;908;p25"/>
          <p:cNvSpPr/>
          <p:nvPr/>
        </p:nvSpPr>
        <p:spPr>
          <a:xfrm>
            <a:off x="5555128" y="2139696"/>
            <a:ext cx="3216600" cy="157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200" lIns="200" spcFirstLastPara="1" rIns="200" wrap="square" tIns="2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11827"/>
              </a:buClr>
              <a:buSzPts val="500"/>
              <a:buFont typeface="Arial"/>
              <a:buNone/>
            </a:pPr>
            <a:r>
              <a:rPr b="1" i="0" lang="fr" sz="500" u="none" cap="none" strike="noStrike">
                <a:solidFill>
                  <a:srgbClr val="111827"/>
                </a:solidFill>
                <a:latin typeface="Arial"/>
                <a:ea typeface="Arial"/>
                <a:cs typeface="Arial"/>
                <a:sym typeface="Arial"/>
              </a:rPr>
              <a:t>Workflow : </a:t>
            </a:r>
            <a:r>
              <a:rPr b="0" i="0" lang="fr" sz="500" u="none" cap="none" strike="noStrike">
                <a:solidFill>
                  <a:srgbClr val="111827"/>
                </a:solidFill>
                <a:latin typeface="Arial"/>
                <a:ea typeface="Arial"/>
                <a:cs typeface="Arial"/>
                <a:sym typeface="Arial"/>
              </a:rPr>
              <a:t>Absent A12 → recherche B08/C04 → proposition opérateur</a:t>
            </a:r>
            <a:endParaRPr b="0" i="0" sz="5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09" name="Google Shape;909;p25"/>
          <p:cNvSpPr/>
          <p:nvPr/>
        </p:nvSpPr>
        <p:spPr>
          <a:xfrm>
            <a:off x="5555128" y="2318004"/>
            <a:ext cx="3216600" cy="137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200" lIns="200" spcFirstLastPara="1" rIns="200" wrap="square" tIns="2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11827"/>
              </a:buClr>
              <a:buSzPts val="500"/>
              <a:buFont typeface="Arial"/>
              <a:buNone/>
            </a:pPr>
            <a:r>
              <a:rPr b="1" i="0" lang="fr" sz="500" u="none" cap="none" strike="noStrike">
                <a:solidFill>
                  <a:srgbClr val="111827"/>
                </a:solidFill>
                <a:latin typeface="Arial"/>
                <a:ea typeface="Arial"/>
                <a:cs typeface="Arial"/>
                <a:sym typeface="Arial"/>
              </a:rPr>
              <a:t>Bénéfice : </a:t>
            </a:r>
            <a:r>
              <a:rPr b="0" i="0" lang="fr" sz="500" u="none" cap="none" strike="noStrike">
                <a:solidFill>
                  <a:srgbClr val="111827"/>
                </a:solidFill>
                <a:latin typeface="Arial"/>
                <a:ea typeface="Arial"/>
                <a:cs typeface="Arial"/>
                <a:sym typeface="Arial"/>
              </a:rPr>
              <a:t>Moins de temps perdu en recherche manuelle</a:t>
            </a:r>
            <a:endParaRPr b="0" i="0" sz="5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10" name="Google Shape;910;p25"/>
          <p:cNvSpPr/>
          <p:nvPr/>
        </p:nvSpPr>
        <p:spPr>
          <a:xfrm>
            <a:off x="1934008" y="2558034"/>
            <a:ext cx="3381300" cy="836700"/>
          </a:xfrm>
          <a:prstGeom prst="roundRect">
            <a:avLst>
              <a:gd fmla="val 9836" name="adj"/>
            </a:avLst>
          </a:prstGeom>
          <a:solidFill>
            <a:srgbClr val="FFFFFF"/>
          </a:solidFill>
          <a:ln cap="flat" cmpd="sng" w="8575">
            <a:solidFill>
              <a:srgbClr val="F47B2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11" name="Google Shape;911;p25"/>
          <p:cNvSpPr/>
          <p:nvPr/>
        </p:nvSpPr>
        <p:spPr>
          <a:xfrm>
            <a:off x="1934008" y="2558034"/>
            <a:ext cx="3381300" cy="185100"/>
          </a:xfrm>
          <a:prstGeom prst="roundRect">
            <a:avLst>
              <a:gd fmla="val 37037" name="adj"/>
            </a:avLst>
          </a:prstGeom>
          <a:solidFill>
            <a:srgbClr val="F47B20"/>
          </a:solidFill>
          <a:ln cap="flat" cmpd="sng" w="9525">
            <a:solidFill>
              <a:srgbClr val="F47B2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12" name="Google Shape;912;p25"/>
          <p:cNvSpPr/>
          <p:nvPr/>
        </p:nvSpPr>
        <p:spPr>
          <a:xfrm>
            <a:off x="2167186" y="2578608"/>
            <a:ext cx="3093000" cy="12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200" lIns="200" spcFirstLastPara="1" rIns="200" wrap="square" tIns="2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600"/>
              <a:buFont typeface="Arial"/>
              <a:buNone/>
            </a:pPr>
            <a:r>
              <a:rPr b="1" i="0" lang="fr" sz="6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Déplacement interne par AMR/AGV</a:t>
            </a:r>
            <a:endParaRPr b="0" i="0" sz="6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13" name="Google Shape;913;p25"/>
          <p:cNvSpPr/>
          <p:nvPr/>
        </p:nvSpPr>
        <p:spPr>
          <a:xfrm>
            <a:off x="1961440" y="2578608"/>
            <a:ext cx="164700" cy="116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200" lIns="200" spcFirstLastPara="1" rIns="200" wrap="square" tIns="2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700"/>
              <a:buFont typeface="Quattrocento Sans"/>
              <a:buNone/>
            </a:pPr>
            <a:r>
              <a:rPr b="0" i="0" lang="fr" sz="700" u="none" cap="none" strike="noStrike">
                <a:solidFill>
                  <a:srgbClr val="FFFFFF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🤖</a:t>
            </a:r>
            <a:endParaRPr b="0" i="0" sz="7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14" name="Google Shape;914;p25"/>
          <p:cNvSpPr/>
          <p:nvPr/>
        </p:nvSpPr>
        <p:spPr>
          <a:xfrm>
            <a:off x="4814444" y="2770632"/>
            <a:ext cx="438900" cy="123600"/>
          </a:xfrm>
          <a:prstGeom prst="roundRect">
            <a:avLst>
              <a:gd fmla="val 66667" name="adj"/>
            </a:avLst>
          </a:prstGeom>
          <a:solidFill>
            <a:srgbClr val="FFF2E6"/>
          </a:solidFill>
          <a:ln cap="flat" cmpd="sng" w="8575">
            <a:solidFill>
              <a:srgbClr val="F47B2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15" name="Google Shape;915;p25"/>
          <p:cNvSpPr/>
          <p:nvPr/>
        </p:nvSpPr>
        <p:spPr>
          <a:xfrm>
            <a:off x="4841877" y="2770632"/>
            <a:ext cx="384000" cy="12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200" lIns="200" spcFirstLastPara="1" rIns="200" wrap="square" tIns="2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47B20"/>
              </a:buClr>
              <a:buSzPts val="400"/>
              <a:buFont typeface="Arial"/>
              <a:buNone/>
            </a:pPr>
            <a:r>
              <a:rPr b="1" i="0" lang="fr" sz="400" u="none" cap="none" strike="noStrike">
                <a:solidFill>
                  <a:srgbClr val="F47B20"/>
                </a:solidFill>
                <a:latin typeface="Arial"/>
                <a:ea typeface="Arial"/>
                <a:cs typeface="Arial"/>
                <a:sym typeface="Arial"/>
              </a:rPr>
              <a:t>Robotique</a:t>
            </a:r>
            <a:endParaRPr b="0" i="0" sz="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16" name="Google Shape;916;p25"/>
          <p:cNvSpPr/>
          <p:nvPr/>
        </p:nvSpPr>
        <p:spPr>
          <a:xfrm>
            <a:off x="2023164" y="2894076"/>
            <a:ext cx="3216600" cy="150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200" lIns="200" spcFirstLastPara="1" rIns="200" wrap="square" tIns="2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11827"/>
              </a:buClr>
              <a:buSzPts val="500"/>
              <a:buFont typeface="Arial"/>
              <a:buNone/>
            </a:pPr>
            <a:r>
              <a:rPr b="1" i="0" lang="fr" sz="500" u="none" cap="none" strike="noStrike">
                <a:solidFill>
                  <a:srgbClr val="111827"/>
                </a:solidFill>
                <a:latin typeface="Arial"/>
                <a:ea typeface="Arial"/>
                <a:cs typeface="Arial"/>
                <a:sym typeface="Arial"/>
              </a:rPr>
              <a:t>Moyens : </a:t>
            </a:r>
            <a:r>
              <a:rPr b="0" i="0" lang="fr" sz="500" u="none" cap="none" strike="noStrike">
                <a:solidFill>
                  <a:srgbClr val="111827"/>
                </a:solidFill>
                <a:latin typeface="Arial"/>
                <a:ea typeface="Arial"/>
                <a:cs typeface="Arial"/>
                <a:sym typeface="Arial"/>
              </a:rPr>
              <a:t>Robot mobile, WCS/WES, tâches WMS</a:t>
            </a:r>
            <a:endParaRPr b="0" i="0" sz="5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17" name="Google Shape;917;p25"/>
          <p:cNvSpPr/>
          <p:nvPr/>
        </p:nvSpPr>
        <p:spPr>
          <a:xfrm>
            <a:off x="2023164" y="3065526"/>
            <a:ext cx="3216600" cy="157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200" lIns="200" spcFirstLastPara="1" rIns="200" wrap="square" tIns="2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11827"/>
              </a:buClr>
              <a:buSzPts val="500"/>
              <a:buFont typeface="Arial"/>
              <a:buNone/>
            </a:pPr>
            <a:r>
              <a:rPr b="1" i="0" lang="fr" sz="500" u="none" cap="none" strike="noStrike">
                <a:solidFill>
                  <a:srgbClr val="111827"/>
                </a:solidFill>
                <a:latin typeface="Arial"/>
                <a:ea typeface="Arial"/>
                <a:cs typeface="Arial"/>
                <a:sym typeface="Arial"/>
              </a:rPr>
              <a:t>Workflow : </a:t>
            </a:r>
            <a:r>
              <a:rPr b="0" i="0" lang="fr" sz="500" u="none" cap="none" strike="noStrike">
                <a:solidFill>
                  <a:srgbClr val="111827"/>
                </a:solidFill>
                <a:latin typeface="Arial"/>
                <a:ea typeface="Arial"/>
                <a:cs typeface="Arial"/>
                <a:sym typeface="Arial"/>
              </a:rPr>
              <a:t>Tâche transfert → robot → dépôt zone cible → confirmation</a:t>
            </a:r>
            <a:endParaRPr b="0" i="0" sz="5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18" name="Google Shape;918;p25"/>
          <p:cNvSpPr/>
          <p:nvPr/>
        </p:nvSpPr>
        <p:spPr>
          <a:xfrm>
            <a:off x="2023164" y="3243834"/>
            <a:ext cx="3216600" cy="137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200" lIns="200" spcFirstLastPara="1" rIns="200" wrap="square" tIns="2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11827"/>
              </a:buClr>
              <a:buSzPts val="500"/>
              <a:buFont typeface="Arial"/>
              <a:buNone/>
            </a:pPr>
            <a:r>
              <a:rPr b="1" i="0" lang="fr" sz="500" u="none" cap="none" strike="noStrike">
                <a:solidFill>
                  <a:srgbClr val="111827"/>
                </a:solidFill>
                <a:latin typeface="Arial"/>
                <a:ea typeface="Arial"/>
                <a:cs typeface="Arial"/>
                <a:sym typeface="Arial"/>
              </a:rPr>
              <a:t>Bénéfice : </a:t>
            </a:r>
            <a:r>
              <a:rPr b="0" i="0" lang="fr" sz="500" u="none" cap="none" strike="noStrike">
                <a:solidFill>
                  <a:srgbClr val="111827"/>
                </a:solidFill>
                <a:latin typeface="Arial"/>
                <a:ea typeface="Arial"/>
                <a:cs typeface="Arial"/>
                <a:sym typeface="Arial"/>
              </a:rPr>
              <a:t>Moins de manutention répétitive</a:t>
            </a:r>
            <a:endParaRPr b="0" i="0" sz="5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19" name="Google Shape;919;p25"/>
          <p:cNvSpPr/>
          <p:nvPr/>
        </p:nvSpPr>
        <p:spPr>
          <a:xfrm>
            <a:off x="5465972" y="2558034"/>
            <a:ext cx="3381300" cy="836700"/>
          </a:xfrm>
          <a:prstGeom prst="roundRect">
            <a:avLst>
              <a:gd fmla="val 9836" name="adj"/>
            </a:avLst>
          </a:prstGeom>
          <a:solidFill>
            <a:srgbClr val="FFFFFF"/>
          </a:solidFill>
          <a:ln cap="flat" cmpd="sng" w="8575">
            <a:solidFill>
              <a:srgbClr val="F47B2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20" name="Google Shape;920;p25"/>
          <p:cNvSpPr/>
          <p:nvPr/>
        </p:nvSpPr>
        <p:spPr>
          <a:xfrm>
            <a:off x="5465972" y="2558034"/>
            <a:ext cx="3381300" cy="185100"/>
          </a:xfrm>
          <a:prstGeom prst="roundRect">
            <a:avLst>
              <a:gd fmla="val 37037" name="adj"/>
            </a:avLst>
          </a:prstGeom>
          <a:solidFill>
            <a:srgbClr val="F47B20"/>
          </a:solidFill>
          <a:ln cap="flat" cmpd="sng" w="9525">
            <a:solidFill>
              <a:srgbClr val="F47B2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21" name="Google Shape;921;p25"/>
          <p:cNvSpPr/>
          <p:nvPr/>
        </p:nvSpPr>
        <p:spPr>
          <a:xfrm>
            <a:off x="5699150" y="2578608"/>
            <a:ext cx="3093000" cy="12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200" lIns="200" spcFirstLastPara="1" rIns="200" wrap="square" tIns="2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600"/>
              <a:buFont typeface="Arial"/>
              <a:buNone/>
            </a:pPr>
            <a:r>
              <a:rPr b="1" i="0" lang="fr" sz="6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Suivi inventaire par RFID/capteurs</a:t>
            </a:r>
            <a:endParaRPr b="0" i="0" sz="6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22" name="Google Shape;922;p25"/>
          <p:cNvSpPr/>
          <p:nvPr/>
        </p:nvSpPr>
        <p:spPr>
          <a:xfrm>
            <a:off x="5493404" y="2578608"/>
            <a:ext cx="164700" cy="116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200" lIns="200" spcFirstLastPara="1" rIns="200" wrap="square" tIns="2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700"/>
              <a:buFont typeface="Quattrocento Sans"/>
              <a:buNone/>
            </a:pPr>
            <a:r>
              <a:rPr b="0" i="0" lang="fr" sz="700" u="none" cap="none" strike="noStrike">
                <a:solidFill>
                  <a:srgbClr val="FFFFFF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📡</a:t>
            </a:r>
            <a:endParaRPr b="0" i="0" sz="7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23" name="Google Shape;923;p25"/>
          <p:cNvSpPr/>
          <p:nvPr/>
        </p:nvSpPr>
        <p:spPr>
          <a:xfrm>
            <a:off x="8346408" y="2770632"/>
            <a:ext cx="438900" cy="123600"/>
          </a:xfrm>
          <a:prstGeom prst="roundRect">
            <a:avLst>
              <a:gd fmla="val 66667" name="adj"/>
            </a:avLst>
          </a:prstGeom>
          <a:solidFill>
            <a:srgbClr val="FFF2E6"/>
          </a:solidFill>
          <a:ln cap="flat" cmpd="sng" w="8575">
            <a:solidFill>
              <a:srgbClr val="F47B2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24" name="Google Shape;924;p25"/>
          <p:cNvSpPr/>
          <p:nvPr/>
        </p:nvSpPr>
        <p:spPr>
          <a:xfrm>
            <a:off x="8373841" y="2770632"/>
            <a:ext cx="384000" cy="12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200" lIns="200" spcFirstLastPara="1" rIns="200" wrap="square" tIns="2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47B20"/>
              </a:buClr>
              <a:buSzPts val="400"/>
              <a:buFont typeface="Arial"/>
              <a:buNone/>
            </a:pPr>
            <a:r>
              <a:rPr b="1" i="0" lang="fr" sz="400" u="none" cap="none" strike="noStrike">
                <a:solidFill>
                  <a:srgbClr val="F47B20"/>
                </a:solidFill>
                <a:latin typeface="Arial"/>
                <a:ea typeface="Arial"/>
                <a:cs typeface="Arial"/>
                <a:sym typeface="Arial"/>
              </a:rPr>
              <a:t>IoT</a:t>
            </a:r>
            <a:endParaRPr b="0" i="0" sz="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25" name="Google Shape;925;p25"/>
          <p:cNvSpPr/>
          <p:nvPr/>
        </p:nvSpPr>
        <p:spPr>
          <a:xfrm>
            <a:off x="5555128" y="2894076"/>
            <a:ext cx="3216600" cy="150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200" lIns="200" spcFirstLastPara="1" rIns="200" wrap="square" tIns="2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11827"/>
              </a:buClr>
              <a:buSzPts val="500"/>
              <a:buFont typeface="Arial"/>
              <a:buNone/>
            </a:pPr>
            <a:r>
              <a:rPr b="1" i="0" lang="fr" sz="500" u="none" cap="none" strike="noStrike">
                <a:solidFill>
                  <a:srgbClr val="111827"/>
                </a:solidFill>
                <a:latin typeface="Arial"/>
                <a:ea typeface="Arial"/>
                <a:cs typeface="Arial"/>
                <a:sym typeface="Arial"/>
              </a:rPr>
              <a:t>Moyens : </a:t>
            </a:r>
            <a:r>
              <a:rPr b="0" i="0" lang="fr" sz="500" u="none" cap="none" strike="noStrike">
                <a:solidFill>
                  <a:srgbClr val="111827"/>
                </a:solidFill>
                <a:latin typeface="Arial"/>
                <a:ea typeface="Arial"/>
                <a:cs typeface="Arial"/>
                <a:sym typeface="Arial"/>
              </a:rPr>
              <a:t>Portiques RFID, lecteurs mobiles, capteurs</a:t>
            </a:r>
            <a:endParaRPr b="0" i="0" sz="5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26" name="Google Shape;926;p25"/>
          <p:cNvSpPr/>
          <p:nvPr/>
        </p:nvSpPr>
        <p:spPr>
          <a:xfrm>
            <a:off x="5555128" y="3065526"/>
            <a:ext cx="3216600" cy="157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200" lIns="200" spcFirstLastPara="1" rIns="200" wrap="square" tIns="2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11827"/>
              </a:buClr>
              <a:buSzPts val="500"/>
              <a:buFont typeface="Arial"/>
              <a:buNone/>
            </a:pPr>
            <a:r>
              <a:rPr b="1" i="0" lang="fr" sz="500" u="none" cap="none" strike="noStrike">
                <a:solidFill>
                  <a:srgbClr val="111827"/>
                </a:solidFill>
                <a:latin typeface="Arial"/>
                <a:ea typeface="Arial"/>
                <a:cs typeface="Arial"/>
                <a:sym typeface="Arial"/>
              </a:rPr>
              <a:t>Workflow : </a:t>
            </a:r>
            <a:r>
              <a:rPr b="0" i="0" lang="fr" sz="500" u="none" cap="none" strike="noStrike">
                <a:solidFill>
                  <a:srgbClr val="111827"/>
                </a:solidFill>
                <a:latin typeface="Arial"/>
                <a:ea typeface="Arial"/>
                <a:cs typeface="Arial"/>
                <a:sym typeface="Arial"/>
              </a:rPr>
              <a:t>Passage palette → lecture automatique → mise à jour stock</a:t>
            </a:r>
            <a:endParaRPr b="0" i="0" sz="5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27" name="Google Shape;927;p25"/>
          <p:cNvSpPr/>
          <p:nvPr/>
        </p:nvSpPr>
        <p:spPr>
          <a:xfrm>
            <a:off x="5555128" y="3243834"/>
            <a:ext cx="3216600" cy="137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200" lIns="200" spcFirstLastPara="1" rIns="200" wrap="square" tIns="2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11827"/>
              </a:buClr>
              <a:buSzPts val="500"/>
              <a:buFont typeface="Arial"/>
              <a:buNone/>
            </a:pPr>
            <a:r>
              <a:rPr b="1" i="0" lang="fr" sz="500" u="none" cap="none" strike="noStrike">
                <a:solidFill>
                  <a:srgbClr val="111827"/>
                </a:solidFill>
                <a:latin typeface="Arial"/>
                <a:ea typeface="Arial"/>
                <a:cs typeface="Arial"/>
                <a:sym typeface="Arial"/>
              </a:rPr>
              <a:t>Bénéfice : </a:t>
            </a:r>
            <a:r>
              <a:rPr b="0" i="0" lang="fr" sz="500" u="none" cap="none" strike="noStrike">
                <a:solidFill>
                  <a:srgbClr val="111827"/>
                </a:solidFill>
                <a:latin typeface="Arial"/>
                <a:ea typeface="Arial"/>
                <a:cs typeface="Arial"/>
                <a:sym typeface="Arial"/>
              </a:rPr>
              <a:t>Traçabilité et stock quasi temps réel</a:t>
            </a:r>
            <a:endParaRPr b="0" i="0" sz="5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28" name="Google Shape;928;p25"/>
          <p:cNvSpPr/>
          <p:nvPr/>
        </p:nvSpPr>
        <p:spPr>
          <a:xfrm>
            <a:off x="1934008" y="3483864"/>
            <a:ext cx="3381300" cy="836700"/>
          </a:xfrm>
          <a:prstGeom prst="roundRect">
            <a:avLst>
              <a:gd fmla="val 9836" name="adj"/>
            </a:avLst>
          </a:prstGeom>
          <a:solidFill>
            <a:srgbClr val="FFFFFF"/>
          </a:solidFill>
          <a:ln cap="flat" cmpd="sng" w="8575">
            <a:solidFill>
              <a:srgbClr val="F47B2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29" name="Google Shape;929;p25"/>
          <p:cNvSpPr/>
          <p:nvPr/>
        </p:nvSpPr>
        <p:spPr>
          <a:xfrm>
            <a:off x="1934008" y="3483864"/>
            <a:ext cx="3381300" cy="185100"/>
          </a:xfrm>
          <a:prstGeom prst="roundRect">
            <a:avLst>
              <a:gd fmla="val 37037" name="adj"/>
            </a:avLst>
          </a:prstGeom>
          <a:solidFill>
            <a:srgbClr val="F47B20"/>
          </a:solidFill>
          <a:ln cap="flat" cmpd="sng" w="9525">
            <a:solidFill>
              <a:srgbClr val="F47B2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30" name="Google Shape;930;p25"/>
          <p:cNvSpPr/>
          <p:nvPr/>
        </p:nvSpPr>
        <p:spPr>
          <a:xfrm>
            <a:off x="2167186" y="3504438"/>
            <a:ext cx="3093000" cy="12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200" lIns="200" spcFirstLastPara="1" rIns="200" wrap="square" tIns="2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600"/>
              <a:buFont typeface="Arial"/>
              <a:buNone/>
            </a:pPr>
            <a:r>
              <a:rPr b="1" i="0" lang="fr" sz="6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Détection de congestion par zone</a:t>
            </a:r>
            <a:endParaRPr b="0" i="0" sz="6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31" name="Google Shape;931;p25"/>
          <p:cNvSpPr/>
          <p:nvPr/>
        </p:nvSpPr>
        <p:spPr>
          <a:xfrm>
            <a:off x="1961440" y="3504438"/>
            <a:ext cx="164700" cy="116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200" lIns="200" spcFirstLastPara="1" rIns="200" wrap="square" tIns="2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700"/>
              <a:buFont typeface="Quattrocento Sans"/>
              <a:buNone/>
            </a:pPr>
            <a:r>
              <a:rPr b="0" i="0" lang="fr" sz="700" u="none" cap="none" strike="noStrike">
                <a:solidFill>
                  <a:srgbClr val="FFFFFF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🚦</a:t>
            </a:r>
            <a:endParaRPr b="0" i="0" sz="7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32" name="Google Shape;932;p25"/>
          <p:cNvSpPr/>
          <p:nvPr/>
        </p:nvSpPr>
        <p:spPr>
          <a:xfrm>
            <a:off x="4814444" y="3696462"/>
            <a:ext cx="438900" cy="123600"/>
          </a:xfrm>
          <a:prstGeom prst="roundRect">
            <a:avLst>
              <a:gd fmla="val 66667" name="adj"/>
            </a:avLst>
          </a:prstGeom>
          <a:solidFill>
            <a:srgbClr val="FFF2E6"/>
          </a:solidFill>
          <a:ln cap="flat" cmpd="sng" w="8575">
            <a:solidFill>
              <a:srgbClr val="F47B2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33" name="Google Shape;933;p25"/>
          <p:cNvSpPr/>
          <p:nvPr/>
        </p:nvSpPr>
        <p:spPr>
          <a:xfrm>
            <a:off x="4841877" y="3696462"/>
            <a:ext cx="384000" cy="12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200" lIns="200" spcFirstLastPara="1" rIns="200" wrap="square" tIns="2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47B20"/>
              </a:buClr>
              <a:buSzPts val="400"/>
              <a:buFont typeface="Arial"/>
              <a:buNone/>
            </a:pPr>
            <a:r>
              <a:rPr b="1" i="0" lang="fr" sz="400" u="none" cap="none" strike="noStrike">
                <a:solidFill>
                  <a:srgbClr val="F47B20"/>
                </a:solidFill>
                <a:latin typeface="Arial"/>
                <a:ea typeface="Arial"/>
                <a:cs typeface="Arial"/>
                <a:sym typeface="Arial"/>
              </a:rPr>
              <a:t>Analytics / IA</a:t>
            </a:r>
            <a:endParaRPr b="0" i="0" sz="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34" name="Google Shape;934;p25"/>
          <p:cNvSpPr/>
          <p:nvPr/>
        </p:nvSpPr>
        <p:spPr>
          <a:xfrm>
            <a:off x="2023164" y="3819906"/>
            <a:ext cx="3216600" cy="150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200" lIns="200" spcFirstLastPara="1" rIns="200" wrap="square" tIns="2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11827"/>
              </a:buClr>
              <a:buSzPts val="500"/>
              <a:buFont typeface="Arial"/>
              <a:buNone/>
            </a:pPr>
            <a:r>
              <a:rPr b="1" i="0" lang="fr" sz="500" u="none" cap="none" strike="noStrike">
                <a:solidFill>
                  <a:srgbClr val="111827"/>
                </a:solidFill>
                <a:latin typeface="Arial"/>
                <a:ea typeface="Arial"/>
                <a:cs typeface="Arial"/>
                <a:sym typeface="Arial"/>
              </a:rPr>
              <a:t>Moyens : </a:t>
            </a:r>
            <a:r>
              <a:rPr b="0" i="0" lang="fr" sz="500" u="none" cap="none" strike="noStrike">
                <a:solidFill>
                  <a:srgbClr val="111827"/>
                </a:solidFill>
                <a:latin typeface="Arial"/>
                <a:ea typeface="Arial"/>
                <a:cs typeface="Arial"/>
                <a:sym typeface="Arial"/>
              </a:rPr>
              <a:t>Tâches ouvertes, opérateurs, temps d’attente</a:t>
            </a:r>
            <a:endParaRPr b="0" i="0" sz="5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35" name="Google Shape;935;p25"/>
          <p:cNvSpPr/>
          <p:nvPr/>
        </p:nvSpPr>
        <p:spPr>
          <a:xfrm>
            <a:off x="2023164" y="3991356"/>
            <a:ext cx="3216600" cy="157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200" lIns="200" spcFirstLastPara="1" rIns="200" wrap="square" tIns="2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11827"/>
              </a:buClr>
              <a:buSzPts val="500"/>
              <a:buFont typeface="Arial"/>
              <a:buNone/>
            </a:pPr>
            <a:r>
              <a:rPr b="1" i="0" lang="fr" sz="500" u="none" cap="none" strike="noStrike">
                <a:solidFill>
                  <a:srgbClr val="111827"/>
                </a:solidFill>
                <a:latin typeface="Arial"/>
                <a:ea typeface="Arial"/>
                <a:cs typeface="Arial"/>
                <a:sym typeface="Arial"/>
              </a:rPr>
              <a:t>Workflow : </a:t>
            </a:r>
            <a:r>
              <a:rPr b="0" i="0" lang="fr" sz="500" u="none" cap="none" strike="noStrike">
                <a:solidFill>
                  <a:srgbClr val="111827"/>
                </a:solidFill>
                <a:latin typeface="Arial"/>
                <a:ea typeface="Arial"/>
                <a:cs typeface="Arial"/>
                <a:sym typeface="Arial"/>
              </a:rPr>
              <a:t>Zone saturée → alerte → rééquilibrage tâches/équipes</a:t>
            </a:r>
            <a:endParaRPr b="0" i="0" sz="5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36" name="Google Shape;936;p25"/>
          <p:cNvSpPr/>
          <p:nvPr/>
        </p:nvSpPr>
        <p:spPr>
          <a:xfrm>
            <a:off x="2023164" y="4169664"/>
            <a:ext cx="3216600" cy="137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200" lIns="200" spcFirstLastPara="1" rIns="200" wrap="square" tIns="2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11827"/>
              </a:buClr>
              <a:buSzPts val="500"/>
              <a:buFont typeface="Arial"/>
              <a:buNone/>
            </a:pPr>
            <a:r>
              <a:rPr b="1" i="0" lang="fr" sz="500" u="none" cap="none" strike="noStrike">
                <a:solidFill>
                  <a:srgbClr val="111827"/>
                </a:solidFill>
                <a:latin typeface="Arial"/>
                <a:ea typeface="Arial"/>
                <a:cs typeface="Arial"/>
                <a:sym typeface="Arial"/>
              </a:rPr>
              <a:t>Bénéfice : </a:t>
            </a:r>
            <a:r>
              <a:rPr b="0" i="0" lang="fr" sz="500" u="none" cap="none" strike="noStrike">
                <a:solidFill>
                  <a:srgbClr val="111827"/>
                </a:solidFill>
                <a:latin typeface="Arial"/>
                <a:ea typeface="Arial"/>
                <a:cs typeface="Arial"/>
                <a:sym typeface="Arial"/>
              </a:rPr>
              <a:t>Flux plus fluide, moins d’attente</a:t>
            </a:r>
            <a:endParaRPr b="0" i="0" sz="5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37" name="Google Shape;937;p25"/>
          <p:cNvSpPr/>
          <p:nvPr/>
        </p:nvSpPr>
        <p:spPr>
          <a:xfrm>
            <a:off x="5465972" y="3483864"/>
            <a:ext cx="3381300" cy="836700"/>
          </a:xfrm>
          <a:prstGeom prst="roundRect">
            <a:avLst>
              <a:gd fmla="val 9836" name="adj"/>
            </a:avLst>
          </a:prstGeom>
          <a:solidFill>
            <a:srgbClr val="FFFFFF"/>
          </a:solidFill>
          <a:ln cap="flat" cmpd="sng" w="8575">
            <a:solidFill>
              <a:srgbClr val="F47B2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38" name="Google Shape;938;p25"/>
          <p:cNvSpPr/>
          <p:nvPr/>
        </p:nvSpPr>
        <p:spPr>
          <a:xfrm>
            <a:off x="5465972" y="3483864"/>
            <a:ext cx="3381300" cy="185100"/>
          </a:xfrm>
          <a:prstGeom prst="roundRect">
            <a:avLst>
              <a:gd fmla="val 37037" name="adj"/>
            </a:avLst>
          </a:prstGeom>
          <a:solidFill>
            <a:srgbClr val="F47B20"/>
          </a:solidFill>
          <a:ln cap="flat" cmpd="sng" w="9525">
            <a:solidFill>
              <a:srgbClr val="F47B2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39" name="Google Shape;939;p25"/>
          <p:cNvSpPr/>
          <p:nvPr/>
        </p:nvSpPr>
        <p:spPr>
          <a:xfrm>
            <a:off x="5699150" y="3504438"/>
            <a:ext cx="3093000" cy="12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200" lIns="200" spcFirstLastPara="1" rIns="200" wrap="square" tIns="2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600"/>
              <a:buFont typeface="Arial"/>
              <a:buNone/>
            </a:pPr>
            <a:r>
              <a:rPr b="1" i="0" lang="fr" sz="6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Surveillance produits sensibles</a:t>
            </a:r>
            <a:endParaRPr b="0" i="0" sz="6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40" name="Google Shape;940;p25"/>
          <p:cNvSpPr/>
          <p:nvPr/>
        </p:nvSpPr>
        <p:spPr>
          <a:xfrm>
            <a:off x="5493404" y="3504438"/>
            <a:ext cx="164700" cy="116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200" lIns="200" spcFirstLastPara="1" rIns="200" wrap="square" tIns="2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700"/>
              <a:buFont typeface="Quattrocento Sans"/>
              <a:buNone/>
            </a:pPr>
            <a:r>
              <a:rPr b="0" i="0" lang="fr" sz="700" u="none" cap="none" strike="noStrike">
                <a:solidFill>
                  <a:srgbClr val="FFFFFF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🌡️</a:t>
            </a:r>
            <a:endParaRPr b="0" i="0" sz="7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41" name="Google Shape;941;p25"/>
          <p:cNvSpPr/>
          <p:nvPr/>
        </p:nvSpPr>
        <p:spPr>
          <a:xfrm>
            <a:off x="8346408" y="3696462"/>
            <a:ext cx="438900" cy="123600"/>
          </a:xfrm>
          <a:prstGeom prst="roundRect">
            <a:avLst>
              <a:gd fmla="val 66667" name="adj"/>
            </a:avLst>
          </a:prstGeom>
          <a:solidFill>
            <a:srgbClr val="FFF2E6"/>
          </a:solidFill>
          <a:ln cap="flat" cmpd="sng" w="8575">
            <a:solidFill>
              <a:srgbClr val="F47B2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42" name="Google Shape;942;p25"/>
          <p:cNvSpPr/>
          <p:nvPr/>
        </p:nvSpPr>
        <p:spPr>
          <a:xfrm>
            <a:off x="8373841" y="3696462"/>
            <a:ext cx="384000" cy="12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200" lIns="200" spcFirstLastPara="1" rIns="200" wrap="square" tIns="2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47B20"/>
              </a:buClr>
              <a:buSzPts val="400"/>
              <a:buFont typeface="Arial"/>
              <a:buNone/>
            </a:pPr>
            <a:r>
              <a:rPr b="1" i="0" lang="fr" sz="400" u="none" cap="none" strike="noStrike">
                <a:solidFill>
                  <a:srgbClr val="F47B20"/>
                </a:solidFill>
                <a:latin typeface="Arial"/>
                <a:ea typeface="Arial"/>
                <a:cs typeface="Arial"/>
                <a:sym typeface="Arial"/>
              </a:rPr>
              <a:t>IoT + règles</a:t>
            </a:r>
            <a:endParaRPr b="0" i="0" sz="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43" name="Google Shape;943;p25"/>
          <p:cNvSpPr/>
          <p:nvPr/>
        </p:nvSpPr>
        <p:spPr>
          <a:xfrm>
            <a:off x="5555128" y="3819906"/>
            <a:ext cx="3216600" cy="150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200" lIns="200" spcFirstLastPara="1" rIns="200" wrap="square" tIns="2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11827"/>
              </a:buClr>
              <a:buSzPts val="500"/>
              <a:buFont typeface="Arial"/>
              <a:buNone/>
            </a:pPr>
            <a:r>
              <a:rPr b="1" i="0" lang="fr" sz="500" u="none" cap="none" strike="noStrike">
                <a:solidFill>
                  <a:srgbClr val="111827"/>
                </a:solidFill>
                <a:latin typeface="Arial"/>
                <a:ea typeface="Arial"/>
                <a:cs typeface="Arial"/>
                <a:sym typeface="Arial"/>
              </a:rPr>
              <a:t>Moyens : </a:t>
            </a:r>
            <a:r>
              <a:rPr b="0" i="0" lang="fr" sz="500" u="none" cap="none" strike="noStrike">
                <a:solidFill>
                  <a:srgbClr val="111827"/>
                </a:solidFill>
                <a:latin typeface="Arial"/>
                <a:ea typeface="Arial"/>
                <a:cs typeface="Arial"/>
                <a:sym typeface="Arial"/>
              </a:rPr>
              <a:t>Capteurs température/humidité, alertes WMS</a:t>
            </a:r>
            <a:endParaRPr b="0" i="0" sz="5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44" name="Google Shape;944;p25"/>
          <p:cNvSpPr/>
          <p:nvPr/>
        </p:nvSpPr>
        <p:spPr>
          <a:xfrm>
            <a:off x="5555128" y="3991356"/>
            <a:ext cx="3216600" cy="157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200" lIns="200" spcFirstLastPara="1" rIns="200" wrap="square" tIns="2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11827"/>
              </a:buClr>
              <a:buSzPts val="500"/>
              <a:buFont typeface="Arial"/>
              <a:buNone/>
            </a:pPr>
            <a:r>
              <a:rPr b="1" i="0" lang="fr" sz="500" u="none" cap="none" strike="noStrike">
                <a:solidFill>
                  <a:srgbClr val="111827"/>
                </a:solidFill>
                <a:latin typeface="Arial"/>
                <a:ea typeface="Arial"/>
                <a:cs typeface="Arial"/>
                <a:sym typeface="Arial"/>
              </a:rPr>
              <a:t>Workflow : </a:t>
            </a:r>
            <a:r>
              <a:rPr b="0" i="0" lang="fr" sz="500" u="none" cap="none" strike="noStrike">
                <a:solidFill>
                  <a:srgbClr val="111827"/>
                </a:solidFill>
                <a:latin typeface="Arial"/>
                <a:ea typeface="Arial"/>
                <a:cs typeface="Arial"/>
                <a:sym typeface="Arial"/>
              </a:rPr>
              <a:t>Seuil dépassé → blocage stock → action qualité</a:t>
            </a:r>
            <a:endParaRPr b="0" i="0" sz="5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45" name="Google Shape;945;p25"/>
          <p:cNvSpPr/>
          <p:nvPr/>
        </p:nvSpPr>
        <p:spPr>
          <a:xfrm>
            <a:off x="5555128" y="4169664"/>
            <a:ext cx="3216600" cy="137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200" lIns="200" spcFirstLastPara="1" rIns="200" wrap="square" tIns="2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11827"/>
              </a:buClr>
              <a:buSzPts val="500"/>
              <a:buFont typeface="Arial"/>
              <a:buNone/>
            </a:pPr>
            <a:r>
              <a:rPr b="1" i="0" lang="fr" sz="500" u="none" cap="none" strike="noStrike">
                <a:solidFill>
                  <a:srgbClr val="111827"/>
                </a:solidFill>
                <a:latin typeface="Arial"/>
                <a:ea typeface="Arial"/>
                <a:cs typeface="Arial"/>
                <a:sym typeface="Arial"/>
              </a:rPr>
              <a:t>Bénéfice : </a:t>
            </a:r>
            <a:r>
              <a:rPr b="0" i="0" lang="fr" sz="500" u="none" cap="none" strike="noStrike">
                <a:solidFill>
                  <a:srgbClr val="111827"/>
                </a:solidFill>
                <a:latin typeface="Arial"/>
                <a:ea typeface="Arial"/>
                <a:cs typeface="Arial"/>
                <a:sym typeface="Arial"/>
              </a:rPr>
              <a:t>Réduction pertes et meilleure conformité</a:t>
            </a:r>
            <a:endParaRPr b="0" i="0" sz="5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46" name="Google Shape;946;p25"/>
          <p:cNvSpPr/>
          <p:nvPr/>
        </p:nvSpPr>
        <p:spPr>
          <a:xfrm>
            <a:off x="1934008" y="4491990"/>
            <a:ext cx="6960900" cy="459600"/>
          </a:xfrm>
          <a:prstGeom prst="roundRect">
            <a:avLst>
              <a:gd fmla="val 19403" name="adj"/>
            </a:avLst>
          </a:prstGeom>
          <a:solidFill>
            <a:srgbClr val="FFF2E6"/>
          </a:solidFill>
          <a:ln cap="flat" cmpd="sng" w="8575">
            <a:solidFill>
              <a:srgbClr val="F47B2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47" name="Google Shape;947;p25"/>
          <p:cNvSpPr/>
          <p:nvPr/>
        </p:nvSpPr>
        <p:spPr>
          <a:xfrm>
            <a:off x="2078029" y="4608576"/>
            <a:ext cx="6652500" cy="12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200" lIns="200" spcFirstLastPara="1" rIns="200" wrap="square" tIns="2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B376D"/>
              </a:buClr>
              <a:buSzPts val="600"/>
              <a:buFont typeface="Arial"/>
              <a:buNone/>
            </a:pPr>
            <a:r>
              <a:rPr b="1" i="0" lang="fr" sz="600" u="none" cap="none" strike="noStrike">
                <a:solidFill>
                  <a:srgbClr val="0B376D"/>
                </a:solidFill>
                <a:latin typeface="Arial"/>
                <a:ea typeface="Arial"/>
                <a:cs typeface="Arial"/>
                <a:sym typeface="Arial"/>
              </a:rPr>
              <a:t>Validation audit terrain : mesurer temps, erreurs, écarts stock, commandes à l’heure, productivité et coût de non-qualité</a:t>
            </a:r>
            <a:endParaRPr b="0" i="0" sz="6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48" name="Google Shape;948;p25"/>
          <p:cNvSpPr txBox="1"/>
          <p:nvPr>
            <p:ph idx="4294967295" type="sldNum"/>
          </p:nvPr>
        </p:nvSpPr>
        <p:spPr>
          <a:xfrm>
            <a:off x="8607019" y="4896612"/>
            <a:ext cx="600000" cy="2250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0" i="0" lang="fr" sz="500" u="none" cap="none" strike="noStrike">
                <a:solidFill>
                  <a:srgbClr val="6B7280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b="0" i="0" sz="500" u="none" cap="none" strike="noStrike">
              <a:solidFill>
                <a:srgbClr val="6B728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7FAFE"/>
        </a:solidFill>
      </p:bgPr>
    </p:bg>
    <p:spTree>
      <p:nvGrpSpPr>
        <p:cNvPr id="953" name="Shape 9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4" name="Google Shape;954;p26"/>
          <p:cNvSpPr/>
          <p:nvPr/>
        </p:nvSpPr>
        <p:spPr>
          <a:xfrm>
            <a:off x="240036" y="96012"/>
            <a:ext cx="8641500" cy="246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200" lIns="200" spcFirstLastPara="1" rIns="200" wrap="square" tIns="2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B376D"/>
              </a:buClr>
              <a:buSzPts val="1700"/>
              <a:buFont typeface="Play"/>
              <a:buNone/>
            </a:pPr>
            <a:r>
              <a:rPr b="1" i="0" lang="fr" sz="1700" u="none" cap="none" strike="noStrike">
                <a:solidFill>
                  <a:srgbClr val="0B376D"/>
                </a:solidFill>
                <a:latin typeface="Play"/>
                <a:ea typeface="Play"/>
                <a:cs typeface="Play"/>
                <a:sym typeface="Play"/>
              </a:rPr>
              <a:t>EXPÉDITION — USE CASES DÉTAILLÉS</a:t>
            </a:r>
            <a:endParaRPr b="0" i="0" sz="17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55" name="Google Shape;955;p26"/>
          <p:cNvSpPr/>
          <p:nvPr/>
        </p:nvSpPr>
        <p:spPr>
          <a:xfrm>
            <a:off x="514364" y="356616"/>
            <a:ext cx="8092500" cy="171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200" lIns="200" spcFirstLastPara="1" rIns="200" wrap="square" tIns="2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5B677A"/>
              </a:buClr>
              <a:buSzPts val="800"/>
              <a:buFont typeface="Arial"/>
              <a:buNone/>
            </a:pPr>
            <a:r>
              <a:rPr b="0" i="0" lang="fr" sz="800" u="none" cap="none" strike="noStrike">
                <a:solidFill>
                  <a:srgbClr val="5B677A"/>
                </a:solidFill>
                <a:latin typeface="Arial"/>
                <a:ea typeface="Arial"/>
                <a:cs typeface="Arial"/>
                <a:sym typeface="Arial"/>
              </a:rPr>
              <a:t>Objectif : préparer les bonnes commandes, dans le bon ordre, avec moins d’erreurs et de retards</a:t>
            </a:r>
            <a:endParaRPr b="0" i="0" sz="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956" name="Google Shape;956;p26"/>
          <p:cNvCxnSpPr/>
          <p:nvPr/>
        </p:nvCxnSpPr>
        <p:spPr>
          <a:xfrm>
            <a:off x="308618" y="603504"/>
            <a:ext cx="8538600" cy="0"/>
          </a:xfrm>
          <a:prstGeom prst="straightConnector1">
            <a:avLst/>
          </a:prstGeom>
          <a:noFill/>
          <a:ln cap="flat" cmpd="sng" w="9525">
            <a:solidFill>
              <a:srgbClr val="B8C7D9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957" name="Google Shape;957;p26"/>
          <p:cNvSpPr/>
          <p:nvPr/>
        </p:nvSpPr>
        <p:spPr>
          <a:xfrm>
            <a:off x="240036" y="706374"/>
            <a:ext cx="1543200" cy="445800"/>
          </a:xfrm>
          <a:prstGeom prst="roundRect">
            <a:avLst>
              <a:gd fmla="val 20000" name="adj"/>
            </a:avLst>
          </a:prstGeom>
          <a:solidFill>
            <a:srgbClr val="B91C1C"/>
          </a:solidFill>
          <a:ln cap="flat" cmpd="sng" w="9525">
            <a:solidFill>
              <a:srgbClr val="B91C1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58" name="Google Shape;958;p26"/>
          <p:cNvSpPr/>
          <p:nvPr/>
        </p:nvSpPr>
        <p:spPr>
          <a:xfrm>
            <a:off x="336051" y="754380"/>
            <a:ext cx="342900" cy="363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200" lIns="200" spcFirstLastPara="1" rIns="200" wrap="square" tIns="2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Quattrocento Sans"/>
              <a:buNone/>
            </a:pPr>
            <a:r>
              <a:rPr b="0" i="0" lang="fr" sz="1400" u="none" cap="none" strike="noStrike">
                <a:solidFill>
                  <a:srgbClr val="FFFFFF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📦</a:t>
            </a:r>
            <a:endParaRPr b="0" i="0" sz="1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59" name="Google Shape;959;p26"/>
          <p:cNvSpPr/>
          <p:nvPr/>
        </p:nvSpPr>
        <p:spPr>
          <a:xfrm>
            <a:off x="733826" y="761238"/>
            <a:ext cx="980700" cy="171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200" lIns="200" spcFirstLastPara="1" rIns="200" wrap="square" tIns="2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Play"/>
              <a:buNone/>
            </a:pPr>
            <a:r>
              <a:rPr b="1" i="0" lang="fr" sz="1000" u="none" cap="none" strike="noStrike">
                <a:solidFill>
                  <a:srgbClr val="FFFFFF"/>
                </a:solidFill>
                <a:latin typeface="Play"/>
                <a:ea typeface="Play"/>
                <a:cs typeface="Play"/>
                <a:sym typeface="Play"/>
              </a:rPr>
              <a:t>LOGIQUE</a:t>
            </a:r>
            <a:endParaRPr b="0" i="0" sz="10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60" name="Google Shape;960;p26"/>
          <p:cNvSpPr/>
          <p:nvPr/>
        </p:nvSpPr>
        <p:spPr>
          <a:xfrm>
            <a:off x="733826" y="973836"/>
            <a:ext cx="980700" cy="137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200" lIns="200" spcFirstLastPara="1" rIns="200" wrap="square" tIns="2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600"/>
              <a:buFont typeface="Arial"/>
              <a:buNone/>
            </a:pPr>
            <a:r>
              <a:rPr b="0" i="0" lang="fr" sz="6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Problème → dispositif → action</a:t>
            </a:r>
            <a:endParaRPr b="0" i="0" sz="6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61" name="Google Shape;961;p26"/>
          <p:cNvSpPr/>
          <p:nvPr/>
        </p:nvSpPr>
        <p:spPr>
          <a:xfrm>
            <a:off x="240036" y="1248156"/>
            <a:ext cx="1543200" cy="3326100"/>
          </a:xfrm>
          <a:prstGeom prst="roundRect">
            <a:avLst>
              <a:gd fmla="val 5333" name="adj"/>
            </a:avLst>
          </a:prstGeom>
          <a:solidFill>
            <a:srgbClr val="FFFFFF"/>
          </a:solidFill>
          <a:ln cap="flat" cmpd="sng" w="8575">
            <a:solidFill>
              <a:srgbClr val="B91C1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62" name="Google Shape;962;p26"/>
          <p:cNvSpPr/>
          <p:nvPr/>
        </p:nvSpPr>
        <p:spPr>
          <a:xfrm>
            <a:off x="377200" y="1440180"/>
            <a:ext cx="219300" cy="178200"/>
          </a:xfrm>
          <a:prstGeom prst="roundRect">
            <a:avLst>
              <a:gd fmla="val 46154" name="adj"/>
            </a:avLst>
          </a:prstGeom>
          <a:solidFill>
            <a:srgbClr val="B91C1C"/>
          </a:solidFill>
          <a:ln cap="flat" cmpd="sng" w="8575">
            <a:solidFill>
              <a:srgbClr val="B91C1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63" name="Google Shape;963;p26"/>
          <p:cNvSpPr/>
          <p:nvPr/>
        </p:nvSpPr>
        <p:spPr>
          <a:xfrm>
            <a:off x="404633" y="1440180"/>
            <a:ext cx="164700" cy="178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200" lIns="200" spcFirstLastPara="1" rIns="200" wrap="square" tIns="2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600"/>
              <a:buFont typeface="Arial"/>
              <a:buNone/>
            </a:pPr>
            <a:r>
              <a:rPr b="1" i="0" lang="fr" sz="6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1</a:t>
            </a:r>
            <a:endParaRPr b="0" i="0" sz="6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64" name="Google Shape;964;p26"/>
          <p:cNvSpPr/>
          <p:nvPr/>
        </p:nvSpPr>
        <p:spPr>
          <a:xfrm>
            <a:off x="658386" y="1405890"/>
            <a:ext cx="918900" cy="12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200" lIns="200" spcFirstLastPara="1" rIns="200" wrap="square" tIns="2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B376D"/>
              </a:buClr>
              <a:buSzPts val="600"/>
              <a:buFont typeface="Arial"/>
              <a:buNone/>
            </a:pPr>
            <a:r>
              <a:rPr b="1" i="0" lang="fr" sz="600" u="none" cap="none" strike="noStrike">
                <a:solidFill>
                  <a:srgbClr val="0B376D"/>
                </a:solidFill>
                <a:latin typeface="Arial"/>
                <a:ea typeface="Arial"/>
                <a:cs typeface="Arial"/>
                <a:sym typeface="Arial"/>
              </a:rPr>
              <a:t>1. Problème observé</a:t>
            </a:r>
            <a:endParaRPr b="0" i="0" sz="6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65" name="Google Shape;965;p26"/>
          <p:cNvSpPr/>
          <p:nvPr/>
        </p:nvSpPr>
        <p:spPr>
          <a:xfrm>
            <a:off x="658386" y="1570482"/>
            <a:ext cx="918900" cy="192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200" lIns="200" spcFirstLastPara="1" rIns="200" wrap="square" tIns="2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B677A"/>
              </a:buClr>
              <a:buSzPts val="500"/>
              <a:buFont typeface="Arial"/>
              <a:buNone/>
            </a:pPr>
            <a:r>
              <a:rPr b="0" i="0" lang="fr" sz="500" u="none" cap="none" strike="noStrike">
                <a:solidFill>
                  <a:srgbClr val="5B677A"/>
                </a:solidFill>
                <a:latin typeface="Arial"/>
                <a:ea typeface="Arial"/>
                <a:cs typeface="Arial"/>
                <a:sym typeface="Arial"/>
              </a:rPr>
              <a:t>ex. attente, erreur, rupture</a:t>
            </a:r>
            <a:endParaRPr b="0" i="0" sz="5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966" name="Google Shape;966;p26"/>
          <p:cNvCxnSpPr/>
          <p:nvPr/>
        </p:nvCxnSpPr>
        <p:spPr>
          <a:xfrm>
            <a:off x="493789" y="1728216"/>
            <a:ext cx="0" cy="260700"/>
          </a:xfrm>
          <a:prstGeom prst="straightConnector1">
            <a:avLst/>
          </a:prstGeom>
          <a:noFill/>
          <a:ln cap="flat" cmpd="sng" w="13325">
            <a:solidFill>
              <a:srgbClr val="B91C1C"/>
            </a:solidFill>
            <a:prstDash val="solid"/>
            <a:round/>
            <a:headEnd len="sm" w="sm" type="none"/>
            <a:tailEnd len="med" w="med" type="triangle"/>
          </a:ln>
        </p:spPr>
      </p:cxnSp>
      <p:sp>
        <p:nvSpPr>
          <p:cNvPr id="967" name="Google Shape;967;p26"/>
          <p:cNvSpPr/>
          <p:nvPr/>
        </p:nvSpPr>
        <p:spPr>
          <a:xfrm>
            <a:off x="377200" y="2180844"/>
            <a:ext cx="219300" cy="178200"/>
          </a:xfrm>
          <a:prstGeom prst="roundRect">
            <a:avLst>
              <a:gd fmla="val 46154" name="adj"/>
            </a:avLst>
          </a:prstGeom>
          <a:solidFill>
            <a:srgbClr val="B91C1C"/>
          </a:solidFill>
          <a:ln cap="flat" cmpd="sng" w="8575">
            <a:solidFill>
              <a:srgbClr val="B91C1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68" name="Google Shape;968;p26"/>
          <p:cNvSpPr/>
          <p:nvPr/>
        </p:nvSpPr>
        <p:spPr>
          <a:xfrm>
            <a:off x="404633" y="2180844"/>
            <a:ext cx="164700" cy="178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200" lIns="200" spcFirstLastPara="1" rIns="200" wrap="square" tIns="2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600"/>
              <a:buFont typeface="Arial"/>
              <a:buNone/>
            </a:pPr>
            <a:r>
              <a:rPr b="1" i="0" lang="fr" sz="6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2</a:t>
            </a:r>
            <a:endParaRPr b="0" i="0" sz="6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69" name="Google Shape;969;p26"/>
          <p:cNvSpPr/>
          <p:nvPr/>
        </p:nvSpPr>
        <p:spPr>
          <a:xfrm>
            <a:off x="658386" y="2146554"/>
            <a:ext cx="918900" cy="12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200" lIns="200" spcFirstLastPara="1" rIns="200" wrap="square" tIns="2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B376D"/>
              </a:buClr>
              <a:buSzPts val="600"/>
              <a:buFont typeface="Arial"/>
              <a:buNone/>
            </a:pPr>
            <a:r>
              <a:rPr b="1" i="0" lang="fr" sz="600" u="none" cap="none" strike="noStrike">
                <a:solidFill>
                  <a:srgbClr val="0B376D"/>
                </a:solidFill>
                <a:latin typeface="Arial"/>
                <a:ea typeface="Arial"/>
                <a:cs typeface="Arial"/>
                <a:sym typeface="Arial"/>
              </a:rPr>
              <a:t>2. Dispositif concret</a:t>
            </a:r>
            <a:endParaRPr b="0" i="0" sz="6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70" name="Google Shape;970;p26"/>
          <p:cNvSpPr/>
          <p:nvPr/>
        </p:nvSpPr>
        <p:spPr>
          <a:xfrm>
            <a:off x="658386" y="2311146"/>
            <a:ext cx="918900" cy="192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200" lIns="200" spcFirstLastPara="1" rIns="200" wrap="square" tIns="2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B677A"/>
              </a:buClr>
              <a:buSzPts val="500"/>
              <a:buFont typeface="Arial"/>
              <a:buNone/>
            </a:pPr>
            <a:r>
              <a:rPr b="0" i="0" lang="fr" sz="500" u="none" cap="none" strike="noStrike">
                <a:solidFill>
                  <a:srgbClr val="5B677A"/>
                </a:solidFill>
                <a:latin typeface="Arial"/>
                <a:ea typeface="Arial"/>
                <a:cs typeface="Arial"/>
                <a:sym typeface="Arial"/>
              </a:rPr>
              <a:t>scan, caméra, RFID, robot, ML</a:t>
            </a:r>
            <a:endParaRPr b="0" i="0" sz="5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971" name="Google Shape;971;p26"/>
          <p:cNvCxnSpPr/>
          <p:nvPr/>
        </p:nvCxnSpPr>
        <p:spPr>
          <a:xfrm>
            <a:off x="493789" y="2468880"/>
            <a:ext cx="0" cy="260700"/>
          </a:xfrm>
          <a:prstGeom prst="straightConnector1">
            <a:avLst/>
          </a:prstGeom>
          <a:noFill/>
          <a:ln cap="flat" cmpd="sng" w="13325">
            <a:solidFill>
              <a:srgbClr val="B91C1C"/>
            </a:solidFill>
            <a:prstDash val="solid"/>
            <a:round/>
            <a:headEnd len="sm" w="sm" type="none"/>
            <a:tailEnd len="med" w="med" type="triangle"/>
          </a:ln>
        </p:spPr>
      </p:cxnSp>
      <p:sp>
        <p:nvSpPr>
          <p:cNvPr id="972" name="Google Shape;972;p26"/>
          <p:cNvSpPr/>
          <p:nvPr/>
        </p:nvSpPr>
        <p:spPr>
          <a:xfrm>
            <a:off x="377200" y="2921508"/>
            <a:ext cx="219300" cy="178200"/>
          </a:xfrm>
          <a:prstGeom prst="roundRect">
            <a:avLst>
              <a:gd fmla="val 46154" name="adj"/>
            </a:avLst>
          </a:prstGeom>
          <a:solidFill>
            <a:srgbClr val="B91C1C"/>
          </a:solidFill>
          <a:ln cap="flat" cmpd="sng" w="8575">
            <a:solidFill>
              <a:srgbClr val="B91C1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73" name="Google Shape;973;p26"/>
          <p:cNvSpPr/>
          <p:nvPr/>
        </p:nvSpPr>
        <p:spPr>
          <a:xfrm>
            <a:off x="404633" y="2921508"/>
            <a:ext cx="164700" cy="178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200" lIns="200" spcFirstLastPara="1" rIns="200" wrap="square" tIns="2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600"/>
              <a:buFont typeface="Arial"/>
              <a:buNone/>
            </a:pPr>
            <a:r>
              <a:rPr b="1" i="0" lang="fr" sz="6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3</a:t>
            </a:r>
            <a:endParaRPr b="0" i="0" sz="6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74" name="Google Shape;974;p26"/>
          <p:cNvSpPr/>
          <p:nvPr/>
        </p:nvSpPr>
        <p:spPr>
          <a:xfrm>
            <a:off x="658386" y="2887218"/>
            <a:ext cx="918900" cy="12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200" lIns="200" spcFirstLastPara="1" rIns="200" wrap="square" tIns="2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B376D"/>
              </a:buClr>
              <a:buSzPts val="600"/>
              <a:buFont typeface="Arial"/>
              <a:buNone/>
            </a:pPr>
            <a:r>
              <a:rPr b="1" i="0" lang="fr" sz="600" u="none" cap="none" strike="noStrike">
                <a:solidFill>
                  <a:srgbClr val="0B376D"/>
                </a:solidFill>
                <a:latin typeface="Arial"/>
                <a:ea typeface="Arial"/>
                <a:cs typeface="Arial"/>
                <a:sym typeface="Arial"/>
              </a:rPr>
              <a:t>3. Workflow WMS</a:t>
            </a:r>
            <a:endParaRPr b="0" i="0" sz="6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75" name="Google Shape;975;p26"/>
          <p:cNvSpPr/>
          <p:nvPr/>
        </p:nvSpPr>
        <p:spPr>
          <a:xfrm>
            <a:off x="658386" y="3051810"/>
            <a:ext cx="918900" cy="192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200" lIns="200" spcFirstLastPara="1" rIns="200" wrap="square" tIns="2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B677A"/>
              </a:buClr>
              <a:buSzPts val="500"/>
              <a:buFont typeface="Arial"/>
              <a:buNone/>
            </a:pPr>
            <a:r>
              <a:rPr b="0" i="0" lang="fr" sz="500" u="none" cap="none" strike="noStrike">
                <a:solidFill>
                  <a:srgbClr val="5B677A"/>
                </a:solidFill>
                <a:latin typeface="Arial"/>
                <a:ea typeface="Arial"/>
                <a:cs typeface="Arial"/>
                <a:sym typeface="Arial"/>
              </a:rPr>
              <a:t>création tâche, alerte, validation</a:t>
            </a:r>
            <a:endParaRPr b="0" i="0" sz="5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976" name="Google Shape;976;p26"/>
          <p:cNvCxnSpPr/>
          <p:nvPr/>
        </p:nvCxnSpPr>
        <p:spPr>
          <a:xfrm>
            <a:off x="493789" y="3209544"/>
            <a:ext cx="0" cy="260700"/>
          </a:xfrm>
          <a:prstGeom prst="straightConnector1">
            <a:avLst/>
          </a:prstGeom>
          <a:noFill/>
          <a:ln cap="flat" cmpd="sng" w="13325">
            <a:solidFill>
              <a:srgbClr val="B91C1C"/>
            </a:solidFill>
            <a:prstDash val="solid"/>
            <a:round/>
            <a:headEnd len="sm" w="sm" type="none"/>
            <a:tailEnd len="med" w="med" type="triangle"/>
          </a:ln>
        </p:spPr>
      </p:cxnSp>
      <p:sp>
        <p:nvSpPr>
          <p:cNvPr id="977" name="Google Shape;977;p26"/>
          <p:cNvSpPr/>
          <p:nvPr/>
        </p:nvSpPr>
        <p:spPr>
          <a:xfrm>
            <a:off x="377200" y="3662172"/>
            <a:ext cx="219300" cy="178200"/>
          </a:xfrm>
          <a:prstGeom prst="roundRect">
            <a:avLst>
              <a:gd fmla="val 46154" name="adj"/>
            </a:avLst>
          </a:prstGeom>
          <a:solidFill>
            <a:srgbClr val="B91C1C"/>
          </a:solidFill>
          <a:ln cap="flat" cmpd="sng" w="8575">
            <a:solidFill>
              <a:srgbClr val="B91C1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78" name="Google Shape;978;p26"/>
          <p:cNvSpPr/>
          <p:nvPr/>
        </p:nvSpPr>
        <p:spPr>
          <a:xfrm>
            <a:off x="404633" y="3662172"/>
            <a:ext cx="164700" cy="178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200" lIns="200" spcFirstLastPara="1" rIns="200" wrap="square" tIns="2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600"/>
              <a:buFont typeface="Arial"/>
              <a:buNone/>
            </a:pPr>
            <a:r>
              <a:rPr b="1" i="0" lang="fr" sz="6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4</a:t>
            </a:r>
            <a:endParaRPr b="0" i="0" sz="6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79" name="Google Shape;979;p26"/>
          <p:cNvSpPr/>
          <p:nvPr/>
        </p:nvSpPr>
        <p:spPr>
          <a:xfrm>
            <a:off x="658386" y="3627882"/>
            <a:ext cx="918900" cy="12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200" lIns="200" spcFirstLastPara="1" rIns="200" wrap="square" tIns="2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B376D"/>
              </a:buClr>
              <a:buSzPts val="600"/>
              <a:buFont typeface="Arial"/>
              <a:buNone/>
            </a:pPr>
            <a:r>
              <a:rPr b="1" i="0" lang="fr" sz="600" u="none" cap="none" strike="noStrike">
                <a:solidFill>
                  <a:srgbClr val="0B376D"/>
                </a:solidFill>
                <a:latin typeface="Arial"/>
                <a:ea typeface="Arial"/>
                <a:cs typeface="Arial"/>
                <a:sym typeface="Arial"/>
              </a:rPr>
              <a:t>4. Bénéfice mesuré</a:t>
            </a:r>
            <a:endParaRPr b="0" i="0" sz="6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80" name="Google Shape;980;p26"/>
          <p:cNvSpPr/>
          <p:nvPr/>
        </p:nvSpPr>
        <p:spPr>
          <a:xfrm>
            <a:off x="658386" y="3792474"/>
            <a:ext cx="918900" cy="192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200" lIns="200" spcFirstLastPara="1" rIns="200" wrap="square" tIns="2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B677A"/>
              </a:buClr>
              <a:buSzPts val="500"/>
              <a:buFont typeface="Arial"/>
              <a:buNone/>
            </a:pPr>
            <a:r>
              <a:rPr b="0" i="0" lang="fr" sz="500" u="none" cap="none" strike="noStrike">
                <a:solidFill>
                  <a:srgbClr val="5B677A"/>
                </a:solidFill>
                <a:latin typeface="Arial"/>
                <a:ea typeface="Arial"/>
                <a:cs typeface="Arial"/>
                <a:sym typeface="Arial"/>
              </a:rPr>
              <a:t>temps ↓ erreurs ↓ service ↑</a:t>
            </a:r>
            <a:endParaRPr b="0" i="0" sz="5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81" name="Google Shape;981;p26"/>
          <p:cNvSpPr/>
          <p:nvPr/>
        </p:nvSpPr>
        <p:spPr>
          <a:xfrm>
            <a:off x="240036" y="4704588"/>
            <a:ext cx="1543200" cy="246900"/>
          </a:xfrm>
          <a:prstGeom prst="roundRect">
            <a:avLst>
              <a:gd fmla="val 27778" name="adj"/>
            </a:avLst>
          </a:prstGeom>
          <a:solidFill>
            <a:srgbClr val="EDF3FA"/>
          </a:solidFill>
          <a:ln cap="flat" cmpd="sng" w="8575">
            <a:solidFill>
              <a:srgbClr val="B8C7D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82" name="Google Shape;982;p26"/>
          <p:cNvSpPr/>
          <p:nvPr/>
        </p:nvSpPr>
        <p:spPr>
          <a:xfrm>
            <a:off x="322335" y="4752594"/>
            <a:ext cx="1371600" cy="96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200" lIns="200" spcFirstLastPara="1" rIns="200" wrap="square" tIns="2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6B3FA0"/>
              </a:buClr>
              <a:buSzPts val="500"/>
              <a:buFont typeface="Arial"/>
              <a:buNone/>
            </a:pPr>
            <a:r>
              <a:rPr b="1" i="0" lang="fr" sz="500" u="none" cap="none" strike="noStrike">
                <a:solidFill>
                  <a:srgbClr val="6B3FA0"/>
                </a:solidFill>
                <a:latin typeface="Arial"/>
                <a:ea typeface="Arial"/>
                <a:cs typeface="Arial"/>
                <a:sym typeface="Arial"/>
              </a:rPr>
              <a:t>Important : IA seulement si règle simple insuffisante</a:t>
            </a:r>
            <a:endParaRPr b="0" i="0" sz="5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83" name="Google Shape;983;p26"/>
          <p:cNvSpPr/>
          <p:nvPr/>
        </p:nvSpPr>
        <p:spPr>
          <a:xfrm>
            <a:off x="1934008" y="706374"/>
            <a:ext cx="3381300" cy="836700"/>
          </a:xfrm>
          <a:prstGeom prst="roundRect">
            <a:avLst>
              <a:gd fmla="val 9836" name="adj"/>
            </a:avLst>
          </a:prstGeom>
          <a:solidFill>
            <a:srgbClr val="FFFFFF"/>
          </a:solidFill>
          <a:ln cap="flat" cmpd="sng" w="8575">
            <a:solidFill>
              <a:srgbClr val="B91C1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84" name="Google Shape;984;p26"/>
          <p:cNvSpPr/>
          <p:nvPr/>
        </p:nvSpPr>
        <p:spPr>
          <a:xfrm>
            <a:off x="1934008" y="706374"/>
            <a:ext cx="3381300" cy="185100"/>
          </a:xfrm>
          <a:prstGeom prst="roundRect">
            <a:avLst>
              <a:gd fmla="val 37037" name="adj"/>
            </a:avLst>
          </a:prstGeom>
          <a:solidFill>
            <a:srgbClr val="B91C1C"/>
          </a:solidFill>
          <a:ln cap="flat" cmpd="sng" w="9525">
            <a:solidFill>
              <a:srgbClr val="B91C1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85" name="Google Shape;985;p26"/>
          <p:cNvSpPr/>
          <p:nvPr/>
        </p:nvSpPr>
        <p:spPr>
          <a:xfrm>
            <a:off x="2167186" y="726948"/>
            <a:ext cx="3093000" cy="12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200" lIns="200" spcFirstLastPara="1" rIns="200" wrap="square" tIns="2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600"/>
              <a:buFont typeface="Arial"/>
              <a:buNone/>
            </a:pPr>
            <a:r>
              <a:rPr b="1" i="0" lang="fr" sz="6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Wave par priorité et heure limite</a:t>
            </a:r>
            <a:endParaRPr b="0" i="0" sz="6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86" name="Google Shape;986;p26"/>
          <p:cNvSpPr/>
          <p:nvPr/>
        </p:nvSpPr>
        <p:spPr>
          <a:xfrm>
            <a:off x="1961440" y="726948"/>
            <a:ext cx="164700" cy="116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200" lIns="200" spcFirstLastPara="1" rIns="200" wrap="square" tIns="2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700"/>
              <a:buFont typeface="Quattrocento Sans"/>
              <a:buNone/>
            </a:pPr>
            <a:r>
              <a:rPr b="0" i="0" lang="fr" sz="700" u="none" cap="none" strike="noStrike">
                <a:solidFill>
                  <a:srgbClr val="FFFFFF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🌊</a:t>
            </a:r>
            <a:endParaRPr b="0" i="0" sz="7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87" name="Google Shape;987;p26"/>
          <p:cNvSpPr/>
          <p:nvPr/>
        </p:nvSpPr>
        <p:spPr>
          <a:xfrm>
            <a:off x="4814444" y="918972"/>
            <a:ext cx="438900" cy="123600"/>
          </a:xfrm>
          <a:prstGeom prst="roundRect">
            <a:avLst>
              <a:gd fmla="val 66667" name="adj"/>
            </a:avLst>
          </a:prstGeom>
          <a:solidFill>
            <a:srgbClr val="FDECEC"/>
          </a:solidFill>
          <a:ln cap="flat" cmpd="sng" w="8575">
            <a:solidFill>
              <a:srgbClr val="B91C1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88" name="Google Shape;988;p26"/>
          <p:cNvSpPr/>
          <p:nvPr/>
        </p:nvSpPr>
        <p:spPr>
          <a:xfrm>
            <a:off x="4841877" y="918972"/>
            <a:ext cx="384000" cy="12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200" lIns="200" spcFirstLastPara="1" rIns="200" wrap="square" tIns="2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B91C1C"/>
              </a:buClr>
              <a:buSzPts val="400"/>
              <a:buFont typeface="Arial"/>
              <a:buNone/>
            </a:pPr>
            <a:r>
              <a:rPr b="1" i="0" lang="fr" sz="400" u="none" cap="none" strike="noStrike">
                <a:solidFill>
                  <a:srgbClr val="B91C1C"/>
                </a:solidFill>
                <a:latin typeface="Arial"/>
                <a:ea typeface="Arial"/>
                <a:cs typeface="Arial"/>
                <a:sym typeface="Arial"/>
              </a:rPr>
              <a:t>Optimisation</a:t>
            </a:r>
            <a:endParaRPr b="0" i="0" sz="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89" name="Google Shape;989;p26"/>
          <p:cNvSpPr/>
          <p:nvPr/>
        </p:nvSpPr>
        <p:spPr>
          <a:xfrm>
            <a:off x="2023164" y="1042416"/>
            <a:ext cx="3216600" cy="150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200" lIns="200" spcFirstLastPara="1" rIns="200" wrap="square" tIns="2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11827"/>
              </a:buClr>
              <a:buSzPts val="500"/>
              <a:buFont typeface="Arial"/>
              <a:buNone/>
            </a:pPr>
            <a:r>
              <a:rPr b="1" i="0" lang="fr" sz="500" u="none" cap="none" strike="noStrike">
                <a:solidFill>
                  <a:srgbClr val="111827"/>
                </a:solidFill>
                <a:latin typeface="Arial"/>
                <a:ea typeface="Arial"/>
                <a:cs typeface="Arial"/>
                <a:sym typeface="Arial"/>
              </a:rPr>
              <a:t>Moyens : </a:t>
            </a:r>
            <a:r>
              <a:rPr b="0" i="0" lang="fr" sz="500" u="none" cap="none" strike="noStrike">
                <a:solidFill>
                  <a:srgbClr val="111827"/>
                </a:solidFill>
                <a:latin typeface="Arial"/>
                <a:ea typeface="Arial"/>
                <a:cs typeface="Arial"/>
                <a:sym typeface="Arial"/>
              </a:rPr>
              <a:t>WMS, règles de priorité, cut-off transport</a:t>
            </a:r>
            <a:endParaRPr b="0" i="0" sz="5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90" name="Google Shape;990;p26"/>
          <p:cNvSpPr/>
          <p:nvPr/>
        </p:nvSpPr>
        <p:spPr>
          <a:xfrm>
            <a:off x="2023164" y="1213866"/>
            <a:ext cx="3216600" cy="157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200" lIns="200" spcFirstLastPara="1" rIns="200" wrap="square" tIns="2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11827"/>
              </a:buClr>
              <a:buSzPts val="500"/>
              <a:buFont typeface="Arial"/>
              <a:buNone/>
            </a:pPr>
            <a:r>
              <a:rPr b="1" i="0" lang="fr" sz="500" u="none" cap="none" strike="noStrike">
                <a:solidFill>
                  <a:srgbClr val="111827"/>
                </a:solidFill>
                <a:latin typeface="Arial"/>
                <a:ea typeface="Arial"/>
                <a:cs typeface="Arial"/>
                <a:sym typeface="Arial"/>
              </a:rPr>
              <a:t>Workflow : </a:t>
            </a:r>
            <a:r>
              <a:rPr b="0" i="0" lang="fr" sz="500" u="none" cap="none" strike="noStrike">
                <a:solidFill>
                  <a:srgbClr val="111827"/>
                </a:solidFill>
                <a:latin typeface="Arial"/>
                <a:ea typeface="Arial"/>
                <a:cs typeface="Arial"/>
                <a:sym typeface="Arial"/>
              </a:rPr>
              <a:t>Commandes → regroupement wave → tâches picking</a:t>
            </a:r>
            <a:endParaRPr b="0" i="0" sz="5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91" name="Google Shape;991;p26"/>
          <p:cNvSpPr/>
          <p:nvPr/>
        </p:nvSpPr>
        <p:spPr>
          <a:xfrm>
            <a:off x="2023164" y="1392174"/>
            <a:ext cx="3216600" cy="137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200" lIns="200" spcFirstLastPara="1" rIns="200" wrap="square" tIns="2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11827"/>
              </a:buClr>
              <a:buSzPts val="500"/>
              <a:buFont typeface="Arial"/>
              <a:buNone/>
            </a:pPr>
            <a:r>
              <a:rPr b="1" i="0" lang="fr" sz="500" u="none" cap="none" strike="noStrike">
                <a:solidFill>
                  <a:srgbClr val="111827"/>
                </a:solidFill>
                <a:latin typeface="Arial"/>
                <a:ea typeface="Arial"/>
                <a:cs typeface="Arial"/>
                <a:sym typeface="Arial"/>
              </a:rPr>
              <a:t>Bénéfice : </a:t>
            </a:r>
            <a:r>
              <a:rPr b="0" i="0" lang="fr" sz="500" u="none" cap="none" strike="noStrike">
                <a:solidFill>
                  <a:srgbClr val="111827"/>
                </a:solidFill>
                <a:latin typeface="Arial"/>
                <a:ea typeface="Arial"/>
                <a:cs typeface="Arial"/>
                <a:sym typeface="Arial"/>
              </a:rPr>
              <a:t>Plus de commandes expédiées à l’heure</a:t>
            </a:r>
            <a:endParaRPr b="0" i="0" sz="5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92" name="Google Shape;992;p26"/>
          <p:cNvSpPr/>
          <p:nvPr/>
        </p:nvSpPr>
        <p:spPr>
          <a:xfrm>
            <a:off x="5465972" y="706374"/>
            <a:ext cx="3381300" cy="836700"/>
          </a:xfrm>
          <a:prstGeom prst="roundRect">
            <a:avLst>
              <a:gd fmla="val 9836" name="adj"/>
            </a:avLst>
          </a:prstGeom>
          <a:solidFill>
            <a:srgbClr val="FFFFFF"/>
          </a:solidFill>
          <a:ln cap="flat" cmpd="sng" w="8575">
            <a:solidFill>
              <a:srgbClr val="B91C1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93" name="Google Shape;993;p26"/>
          <p:cNvSpPr/>
          <p:nvPr/>
        </p:nvSpPr>
        <p:spPr>
          <a:xfrm>
            <a:off x="5465972" y="706374"/>
            <a:ext cx="3381300" cy="185100"/>
          </a:xfrm>
          <a:prstGeom prst="roundRect">
            <a:avLst>
              <a:gd fmla="val 37037" name="adj"/>
            </a:avLst>
          </a:prstGeom>
          <a:solidFill>
            <a:srgbClr val="B91C1C"/>
          </a:solidFill>
          <a:ln cap="flat" cmpd="sng" w="9525">
            <a:solidFill>
              <a:srgbClr val="B91C1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94" name="Google Shape;994;p26"/>
          <p:cNvSpPr/>
          <p:nvPr/>
        </p:nvSpPr>
        <p:spPr>
          <a:xfrm>
            <a:off x="5699150" y="726948"/>
            <a:ext cx="3093000" cy="12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200" lIns="200" spcFirstLastPara="1" rIns="200" wrap="square" tIns="2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600"/>
              <a:buFont typeface="Arial"/>
              <a:buNone/>
            </a:pPr>
            <a:r>
              <a:rPr b="1" i="0" lang="fr" sz="6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Allocation intelligente du stock</a:t>
            </a:r>
            <a:endParaRPr b="0" i="0" sz="6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95" name="Google Shape;995;p26"/>
          <p:cNvSpPr/>
          <p:nvPr/>
        </p:nvSpPr>
        <p:spPr>
          <a:xfrm>
            <a:off x="5493404" y="726948"/>
            <a:ext cx="164700" cy="116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200" lIns="200" spcFirstLastPara="1" rIns="200" wrap="square" tIns="2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700"/>
              <a:buFont typeface="Quattrocento Sans"/>
              <a:buNone/>
            </a:pPr>
            <a:r>
              <a:rPr b="0" i="0" lang="fr" sz="700" u="none" cap="none" strike="noStrike">
                <a:solidFill>
                  <a:srgbClr val="FFFFFF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🎯</a:t>
            </a:r>
            <a:endParaRPr b="0" i="0" sz="7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96" name="Google Shape;996;p26"/>
          <p:cNvSpPr/>
          <p:nvPr/>
        </p:nvSpPr>
        <p:spPr>
          <a:xfrm>
            <a:off x="8346408" y="918972"/>
            <a:ext cx="438900" cy="123600"/>
          </a:xfrm>
          <a:prstGeom prst="roundRect">
            <a:avLst>
              <a:gd fmla="val 66667" name="adj"/>
            </a:avLst>
          </a:prstGeom>
          <a:solidFill>
            <a:srgbClr val="FDECEC"/>
          </a:solidFill>
          <a:ln cap="flat" cmpd="sng" w="8575">
            <a:solidFill>
              <a:srgbClr val="B91C1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97" name="Google Shape;997;p26"/>
          <p:cNvSpPr/>
          <p:nvPr/>
        </p:nvSpPr>
        <p:spPr>
          <a:xfrm>
            <a:off x="8373841" y="918972"/>
            <a:ext cx="384000" cy="12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200" lIns="200" spcFirstLastPara="1" rIns="200" wrap="square" tIns="2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B91C1C"/>
              </a:buClr>
              <a:buSzPts val="400"/>
              <a:buFont typeface="Arial"/>
              <a:buNone/>
            </a:pPr>
            <a:r>
              <a:rPr b="1" i="0" lang="fr" sz="400" u="none" cap="none" strike="noStrike">
                <a:solidFill>
                  <a:srgbClr val="B91C1C"/>
                </a:solidFill>
                <a:latin typeface="Arial"/>
                <a:ea typeface="Arial"/>
                <a:cs typeface="Arial"/>
                <a:sym typeface="Arial"/>
              </a:rPr>
              <a:t>Règles / IA</a:t>
            </a:r>
            <a:endParaRPr b="0" i="0" sz="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98" name="Google Shape;998;p26"/>
          <p:cNvSpPr/>
          <p:nvPr/>
        </p:nvSpPr>
        <p:spPr>
          <a:xfrm>
            <a:off x="5555128" y="1042416"/>
            <a:ext cx="3216600" cy="150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200" lIns="200" spcFirstLastPara="1" rIns="200" wrap="square" tIns="2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11827"/>
              </a:buClr>
              <a:buSzPts val="500"/>
              <a:buFont typeface="Arial"/>
              <a:buNone/>
            </a:pPr>
            <a:r>
              <a:rPr b="1" i="0" lang="fr" sz="500" u="none" cap="none" strike="noStrike">
                <a:solidFill>
                  <a:srgbClr val="111827"/>
                </a:solidFill>
                <a:latin typeface="Arial"/>
                <a:ea typeface="Arial"/>
                <a:cs typeface="Arial"/>
                <a:sym typeface="Arial"/>
              </a:rPr>
              <a:t>Moyens : </a:t>
            </a:r>
            <a:r>
              <a:rPr b="0" i="0" lang="fr" sz="500" u="none" cap="none" strike="noStrike">
                <a:solidFill>
                  <a:srgbClr val="111827"/>
                </a:solidFill>
                <a:latin typeface="Arial"/>
                <a:ea typeface="Arial"/>
                <a:cs typeface="Arial"/>
                <a:sym typeface="Arial"/>
              </a:rPr>
              <a:t>Disponibilité, lot, DLC, emplacement, priorité client</a:t>
            </a:r>
            <a:endParaRPr b="0" i="0" sz="5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99" name="Google Shape;999;p26"/>
          <p:cNvSpPr/>
          <p:nvPr/>
        </p:nvSpPr>
        <p:spPr>
          <a:xfrm>
            <a:off x="5555128" y="1213866"/>
            <a:ext cx="3216600" cy="157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200" lIns="200" spcFirstLastPara="1" rIns="200" wrap="square" tIns="2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11827"/>
              </a:buClr>
              <a:buSzPts val="500"/>
              <a:buFont typeface="Arial"/>
              <a:buNone/>
            </a:pPr>
            <a:r>
              <a:rPr b="1" i="0" lang="fr" sz="500" u="none" cap="none" strike="noStrike">
                <a:solidFill>
                  <a:srgbClr val="111827"/>
                </a:solidFill>
                <a:latin typeface="Arial"/>
                <a:ea typeface="Arial"/>
                <a:cs typeface="Arial"/>
                <a:sym typeface="Arial"/>
              </a:rPr>
              <a:t>Workflow : </a:t>
            </a:r>
            <a:r>
              <a:rPr b="0" i="0" lang="fr" sz="500" u="none" cap="none" strike="noStrike">
                <a:solidFill>
                  <a:srgbClr val="111827"/>
                </a:solidFill>
                <a:latin typeface="Arial"/>
                <a:ea typeface="Arial"/>
                <a:cs typeface="Arial"/>
                <a:sym typeface="Arial"/>
              </a:rPr>
              <a:t>Commande → meilleur stock → réservation → tâche</a:t>
            </a:r>
            <a:endParaRPr b="0" i="0" sz="5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00" name="Google Shape;1000;p26"/>
          <p:cNvSpPr/>
          <p:nvPr/>
        </p:nvSpPr>
        <p:spPr>
          <a:xfrm>
            <a:off x="5555128" y="1392174"/>
            <a:ext cx="3216600" cy="137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200" lIns="200" spcFirstLastPara="1" rIns="200" wrap="square" tIns="2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11827"/>
              </a:buClr>
              <a:buSzPts val="500"/>
              <a:buFont typeface="Arial"/>
              <a:buNone/>
            </a:pPr>
            <a:r>
              <a:rPr b="1" i="0" lang="fr" sz="500" u="none" cap="none" strike="noStrike">
                <a:solidFill>
                  <a:srgbClr val="111827"/>
                </a:solidFill>
                <a:latin typeface="Arial"/>
                <a:ea typeface="Arial"/>
                <a:cs typeface="Arial"/>
                <a:sym typeface="Arial"/>
              </a:rPr>
              <a:t>Bénéfice : </a:t>
            </a:r>
            <a:r>
              <a:rPr b="0" i="0" lang="fr" sz="500" u="none" cap="none" strike="noStrike">
                <a:solidFill>
                  <a:srgbClr val="111827"/>
                </a:solidFill>
                <a:latin typeface="Arial"/>
                <a:ea typeface="Arial"/>
                <a:cs typeface="Arial"/>
                <a:sym typeface="Arial"/>
              </a:rPr>
              <a:t>Moins de ruptures et moins de conflits stock</a:t>
            </a:r>
            <a:endParaRPr b="0" i="0" sz="5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01" name="Google Shape;1001;p26"/>
          <p:cNvSpPr/>
          <p:nvPr/>
        </p:nvSpPr>
        <p:spPr>
          <a:xfrm>
            <a:off x="1934008" y="1632204"/>
            <a:ext cx="3381300" cy="836700"/>
          </a:xfrm>
          <a:prstGeom prst="roundRect">
            <a:avLst>
              <a:gd fmla="val 9836" name="adj"/>
            </a:avLst>
          </a:prstGeom>
          <a:solidFill>
            <a:srgbClr val="FFFFFF"/>
          </a:solidFill>
          <a:ln cap="flat" cmpd="sng" w="8575">
            <a:solidFill>
              <a:srgbClr val="B91C1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02" name="Google Shape;1002;p26"/>
          <p:cNvSpPr/>
          <p:nvPr/>
        </p:nvSpPr>
        <p:spPr>
          <a:xfrm>
            <a:off x="1934008" y="1632204"/>
            <a:ext cx="3381300" cy="185100"/>
          </a:xfrm>
          <a:prstGeom prst="roundRect">
            <a:avLst>
              <a:gd fmla="val 37037" name="adj"/>
            </a:avLst>
          </a:prstGeom>
          <a:solidFill>
            <a:srgbClr val="B91C1C"/>
          </a:solidFill>
          <a:ln cap="flat" cmpd="sng" w="9525">
            <a:solidFill>
              <a:srgbClr val="B91C1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03" name="Google Shape;1003;p26"/>
          <p:cNvSpPr/>
          <p:nvPr/>
        </p:nvSpPr>
        <p:spPr>
          <a:xfrm>
            <a:off x="2167186" y="1652778"/>
            <a:ext cx="3093000" cy="12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200" lIns="200" spcFirstLastPara="1" rIns="200" wrap="square" tIns="2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600"/>
              <a:buFont typeface="Arial"/>
              <a:buNone/>
            </a:pPr>
            <a:r>
              <a:rPr b="1" i="0" lang="fr" sz="6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Affectation opérateur / robot</a:t>
            </a:r>
            <a:endParaRPr b="0" i="0" sz="6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04" name="Google Shape;1004;p26"/>
          <p:cNvSpPr/>
          <p:nvPr/>
        </p:nvSpPr>
        <p:spPr>
          <a:xfrm>
            <a:off x="1961440" y="1652778"/>
            <a:ext cx="164700" cy="116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200" lIns="200" spcFirstLastPara="1" rIns="200" wrap="square" tIns="2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700"/>
              <a:buFont typeface="Quattrocento Sans"/>
              <a:buNone/>
            </a:pPr>
            <a:r>
              <a:rPr b="0" i="0" lang="fr" sz="700" u="none" cap="none" strike="noStrike">
                <a:solidFill>
                  <a:srgbClr val="FFFFFF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👷</a:t>
            </a:r>
            <a:endParaRPr b="0" i="0" sz="7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05" name="Google Shape;1005;p26"/>
          <p:cNvSpPr/>
          <p:nvPr/>
        </p:nvSpPr>
        <p:spPr>
          <a:xfrm>
            <a:off x="4814444" y="1844802"/>
            <a:ext cx="438900" cy="123600"/>
          </a:xfrm>
          <a:prstGeom prst="roundRect">
            <a:avLst>
              <a:gd fmla="val 66667" name="adj"/>
            </a:avLst>
          </a:prstGeom>
          <a:solidFill>
            <a:srgbClr val="FDECEC"/>
          </a:solidFill>
          <a:ln cap="flat" cmpd="sng" w="8575">
            <a:solidFill>
              <a:srgbClr val="B91C1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06" name="Google Shape;1006;p26"/>
          <p:cNvSpPr/>
          <p:nvPr/>
        </p:nvSpPr>
        <p:spPr>
          <a:xfrm>
            <a:off x="4841877" y="1844802"/>
            <a:ext cx="384000" cy="12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200" lIns="200" spcFirstLastPara="1" rIns="200" wrap="square" tIns="2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B91C1C"/>
              </a:buClr>
              <a:buSzPts val="400"/>
              <a:buFont typeface="Arial"/>
              <a:buNone/>
            </a:pPr>
            <a:r>
              <a:rPr b="1" i="0" lang="fr" sz="400" u="none" cap="none" strike="noStrike">
                <a:solidFill>
                  <a:srgbClr val="B91C1C"/>
                </a:solidFill>
                <a:latin typeface="Arial"/>
                <a:ea typeface="Arial"/>
                <a:cs typeface="Arial"/>
                <a:sym typeface="Arial"/>
              </a:rPr>
              <a:t>Optimisation / IA</a:t>
            </a:r>
            <a:endParaRPr b="0" i="0" sz="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07" name="Google Shape;1007;p26"/>
          <p:cNvSpPr/>
          <p:nvPr/>
        </p:nvSpPr>
        <p:spPr>
          <a:xfrm>
            <a:off x="2023164" y="1968246"/>
            <a:ext cx="3216600" cy="150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200" lIns="200" spcFirstLastPara="1" rIns="200" wrap="square" tIns="2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11827"/>
              </a:buClr>
              <a:buSzPts val="500"/>
              <a:buFont typeface="Arial"/>
              <a:buNone/>
            </a:pPr>
            <a:r>
              <a:rPr b="1" i="0" lang="fr" sz="500" u="none" cap="none" strike="noStrike">
                <a:solidFill>
                  <a:srgbClr val="111827"/>
                </a:solidFill>
                <a:latin typeface="Arial"/>
                <a:ea typeface="Arial"/>
                <a:cs typeface="Arial"/>
                <a:sym typeface="Arial"/>
              </a:rPr>
              <a:t>Moyens : </a:t>
            </a:r>
            <a:r>
              <a:rPr b="0" i="0" lang="fr" sz="500" u="none" cap="none" strike="noStrike">
                <a:solidFill>
                  <a:srgbClr val="111827"/>
                </a:solidFill>
                <a:latin typeface="Arial"/>
                <a:ea typeface="Arial"/>
                <a:cs typeface="Arial"/>
                <a:sym typeface="Arial"/>
              </a:rPr>
              <a:t>Distance, charge, compétence, disponibilité, robot</a:t>
            </a:r>
            <a:endParaRPr b="0" i="0" sz="5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08" name="Google Shape;1008;p26"/>
          <p:cNvSpPr/>
          <p:nvPr/>
        </p:nvSpPr>
        <p:spPr>
          <a:xfrm>
            <a:off x="2023164" y="2139696"/>
            <a:ext cx="3216600" cy="157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200" lIns="200" spcFirstLastPara="1" rIns="200" wrap="square" tIns="2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11827"/>
              </a:buClr>
              <a:buSzPts val="500"/>
              <a:buFont typeface="Arial"/>
              <a:buNone/>
            </a:pPr>
            <a:r>
              <a:rPr b="1" i="0" lang="fr" sz="500" u="none" cap="none" strike="noStrike">
                <a:solidFill>
                  <a:srgbClr val="111827"/>
                </a:solidFill>
                <a:latin typeface="Arial"/>
                <a:ea typeface="Arial"/>
                <a:cs typeface="Arial"/>
                <a:sym typeface="Arial"/>
              </a:rPr>
              <a:t>Workflow : </a:t>
            </a:r>
            <a:r>
              <a:rPr b="0" i="0" lang="fr" sz="500" u="none" cap="none" strike="noStrike">
                <a:solidFill>
                  <a:srgbClr val="111827"/>
                </a:solidFill>
                <a:latin typeface="Arial"/>
                <a:ea typeface="Arial"/>
                <a:cs typeface="Arial"/>
                <a:sym typeface="Arial"/>
              </a:rPr>
              <a:t>Tâches → meilleur exécutant → notification terminal</a:t>
            </a:r>
            <a:endParaRPr b="0" i="0" sz="5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09" name="Google Shape;1009;p26"/>
          <p:cNvSpPr/>
          <p:nvPr/>
        </p:nvSpPr>
        <p:spPr>
          <a:xfrm>
            <a:off x="2023164" y="2318004"/>
            <a:ext cx="3216600" cy="137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200" lIns="200" spcFirstLastPara="1" rIns="200" wrap="square" tIns="2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11827"/>
              </a:buClr>
              <a:buSzPts val="500"/>
              <a:buFont typeface="Arial"/>
              <a:buNone/>
            </a:pPr>
            <a:r>
              <a:rPr b="1" i="0" lang="fr" sz="500" u="none" cap="none" strike="noStrike">
                <a:solidFill>
                  <a:srgbClr val="111827"/>
                </a:solidFill>
                <a:latin typeface="Arial"/>
                <a:ea typeface="Arial"/>
                <a:cs typeface="Arial"/>
                <a:sym typeface="Arial"/>
              </a:rPr>
              <a:t>Bénéfice : </a:t>
            </a:r>
            <a:r>
              <a:rPr b="0" i="0" lang="fr" sz="500" u="none" cap="none" strike="noStrike">
                <a:solidFill>
                  <a:srgbClr val="111827"/>
                </a:solidFill>
                <a:latin typeface="Arial"/>
                <a:ea typeface="Arial"/>
                <a:cs typeface="Arial"/>
                <a:sym typeface="Arial"/>
              </a:rPr>
              <a:t>Meilleure productivité et charge équilibrée</a:t>
            </a:r>
            <a:endParaRPr b="0" i="0" sz="5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10" name="Google Shape;1010;p26"/>
          <p:cNvSpPr/>
          <p:nvPr/>
        </p:nvSpPr>
        <p:spPr>
          <a:xfrm>
            <a:off x="5465972" y="1632204"/>
            <a:ext cx="3381300" cy="836700"/>
          </a:xfrm>
          <a:prstGeom prst="roundRect">
            <a:avLst>
              <a:gd fmla="val 9836" name="adj"/>
            </a:avLst>
          </a:prstGeom>
          <a:solidFill>
            <a:srgbClr val="FFFFFF"/>
          </a:solidFill>
          <a:ln cap="flat" cmpd="sng" w="8575">
            <a:solidFill>
              <a:srgbClr val="B91C1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11" name="Google Shape;1011;p26"/>
          <p:cNvSpPr/>
          <p:nvPr/>
        </p:nvSpPr>
        <p:spPr>
          <a:xfrm>
            <a:off x="5465972" y="1632204"/>
            <a:ext cx="3381300" cy="185100"/>
          </a:xfrm>
          <a:prstGeom prst="roundRect">
            <a:avLst>
              <a:gd fmla="val 37037" name="adj"/>
            </a:avLst>
          </a:prstGeom>
          <a:solidFill>
            <a:srgbClr val="B91C1C"/>
          </a:solidFill>
          <a:ln cap="flat" cmpd="sng" w="9525">
            <a:solidFill>
              <a:srgbClr val="B91C1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12" name="Google Shape;1012;p26"/>
          <p:cNvSpPr/>
          <p:nvPr/>
        </p:nvSpPr>
        <p:spPr>
          <a:xfrm>
            <a:off x="5699150" y="1652778"/>
            <a:ext cx="3093000" cy="12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200" lIns="200" spcFirstLastPara="1" rIns="200" wrap="square" tIns="2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600"/>
              <a:buFont typeface="Arial"/>
              <a:buNone/>
            </a:pPr>
            <a:r>
              <a:rPr b="1" i="0" lang="fr" sz="6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Picking guidé RF / Pick-to-Light</a:t>
            </a:r>
            <a:endParaRPr b="0" i="0" sz="6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13" name="Google Shape;1013;p26"/>
          <p:cNvSpPr/>
          <p:nvPr/>
        </p:nvSpPr>
        <p:spPr>
          <a:xfrm>
            <a:off x="5493404" y="1652778"/>
            <a:ext cx="164700" cy="116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200" lIns="200" spcFirstLastPara="1" rIns="200" wrap="square" tIns="2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700"/>
              <a:buFont typeface="Quattrocento Sans"/>
              <a:buNone/>
            </a:pPr>
            <a:r>
              <a:rPr b="0" i="0" lang="fr" sz="700" u="none" cap="none" strike="noStrike">
                <a:solidFill>
                  <a:srgbClr val="FFFFFF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💡</a:t>
            </a:r>
            <a:endParaRPr b="0" i="0" sz="7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14" name="Google Shape;1014;p26"/>
          <p:cNvSpPr/>
          <p:nvPr/>
        </p:nvSpPr>
        <p:spPr>
          <a:xfrm>
            <a:off x="8346408" y="1844802"/>
            <a:ext cx="438900" cy="123600"/>
          </a:xfrm>
          <a:prstGeom prst="roundRect">
            <a:avLst>
              <a:gd fmla="val 66667" name="adj"/>
            </a:avLst>
          </a:prstGeom>
          <a:solidFill>
            <a:srgbClr val="FDECEC"/>
          </a:solidFill>
          <a:ln cap="flat" cmpd="sng" w="8575">
            <a:solidFill>
              <a:srgbClr val="B91C1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15" name="Google Shape;1015;p26"/>
          <p:cNvSpPr/>
          <p:nvPr/>
        </p:nvSpPr>
        <p:spPr>
          <a:xfrm>
            <a:off x="8373841" y="1844802"/>
            <a:ext cx="384000" cy="12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200" lIns="200" spcFirstLastPara="1" rIns="200" wrap="square" tIns="2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B91C1C"/>
              </a:buClr>
              <a:buSzPts val="400"/>
              <a:buFont typeface="Arial"/>
              <a:buNone/>
            </a:pPr>
            <a:r>
              <a:rPr b="1" i="0" lang="fr" sz="400" u="none" cap="none" strike="noStrike">
                <a:solidFill>
                  <a:srgbClr val="B91C1C"/>
                </a:solidFill>
                <a:latin typeface="Arial"/>
                <a:ea typeface="Arial"/>
                <a:cs typeface="Arial"/>
                <a:sym typeface="Arial"/>
              </a:rPr>
              <a:t>Automatisation</a:t>
            </a:r>
            <a:endParaRPr b="0" i="0" sz="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16" name="Google Shape;1016;p26"/>
          <p:cNvSpPr/>
          <p:nvPr/>
        </p:nvSpPr>
        <p:spPr>
          <a:xfrm>
            <a:off x="5555128" y="1968246"/>
            <a:ext cx="3216600" cy="150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200" lIns="200" spcFirstLastPara="1" rIns="200" wrap="square" tIns="2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11827"/>
              </a:buClr>
              <a:buSzPts val="500"/>
              <a:buFont typeface="Arial"/>
              <a:buNone/>
            </a:pPr>
            <a:r>
              <a:rPr b="1" i="0" lang="fr" sz="500" u="none" cap="none" strike="noStrike">
                <a:solidFill>
                  <a:srgbClr val="111827"/>
                </a:solidFill>
                <a:latin typeface="Arial"/>
                <a:ea typeface="Arial"/>
                <a:cs typeface="Arial"/>
                <a:sym typeface="Arial"/>
              </a:rPr>
              <a:t>Moyens : </a:t>
            </a:r>
            <a:r>
              <a:rPr b="0" i="0" lang="fr" sz="500" u="none" cap="none" strike="noStrike">
                <a:solidFill>
                  <a:srgbClr val="111827"/>
                </a:solidFill>
                <a:latin typeface="Arial"/>
                <a:ea typeface="Arial"/>
                <a:cs typeface="Arial"/>
                <a:sym typeface="Arial"/>
              </a:rPr>
              <a:t>Terminal RF, scan emplacement, Pick-to-Light</a:t>
            </a:r>
            <a:endParaRPr b="0" i="0" sz="5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17" name="Google Shape;1017;p26"/>
          <p:cNvSpPr/>
          <p:nvPr/>
        </p:nvSpPr>
        <p:spPr>
          <a:xfrm>
            <a:off x="5555128" y="2139696"/>
            <a:ext cx="3216600" cy="157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200" lIns="200" spcFirstLastPara="1" rIns="200" wrap="square" tIns="2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11827"/>
              </a:buClr>
              <a:buSzPts val="500"/>
              <a:buFont typeface="Arial"/>
              <a:buNone/>
            </a:pPr>
            <a:r>
              <a:rPr b="1" i="0" lang="fr" sz="500" u="none" cap="none" strike="noStrike">
                <a:solidFill>
                  <a:srgbClr val="111827"/>
                </a:solidFill>
                <a:latin typeface="Arial"/>
                <a:ea typeface="Arial"/>
                <a:cs typeface="Arial"/>
                <a:sym typeface="Arial"/>
              </a:rPr>
              <a:t>Workflow : </a:t>
            </a:r>
            <a:r>
              <a:rPr b="0" i="0" lang="fr" sz="500" u="none" cap="none" strike="noStrike">
                <a:solidFill>
                  <a:srgbClr val="111827"/>
                </a:solidFill>
                <a:latin typeface="Arial"/>
                <a:ea typeface="Arial"/>
                <a:cs typeface="Arial"/>
                <a:sym typeface="Arial"/>
              </a:rPr>
              <a:t>Lumière/terminal → prélèvement → scan validation</a:t>
            </a:r>
            <a:endParaRPr b="0" i="0" sz="5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18" name="Google Shape;1018;p26"/>
          <p:cNvSpPr/>
          <p:nvPr/>
        </p:nvSpPr>
        <p:spPr>
          <a:xfrm>
            <a:off x="5555128" y="2318004"/>
            <a:ext cx="3216600" cy="137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200" lIns="200" spcFirstLastPara="1" rIns="200" wrap="square" tIns="2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11827"/>
              </a:buClr>
              <a:buSzPts val="500"/>
              <a:buFont typeface="Arial"/>
              <a:buNone/>
            </a:pPr>
            <a:r>
              <a:rPr b="1" i="0" lang="fr" sz="500" u="none" cap="none" strike="noStrike">
                <a:solidFill>
                  <a:srgbClr val="111827"/>
                </a:solidFill>
                <a:latin typeface="Arial"/>
                <a:ea typeface="Arial"/>
                <a:cs typeface="Arial"/>
                <a:sym typeface="Arial"/>
              </a:rPr>
              <a:t>Bénéfice : </a:t>
            </a:r>
            <a:r>
              <a:rPr b="0" i="0" lang="fr" sz="500" u="none" cap="none" strike="noStrike">
                <a:solidFill>
                  <a:srgbClr val="111827"/>
                </a:solidFill>
                <a:latin typeface="Arial"/>
                <a:ea typeface="Arial"/>
                <a:cs typeface="Arial"/>
                <a:sym typeface="Arial"/>
              </a:rPr>
              <a:t>Moins d’erreurs de prélèvement</a:t>
            </a:r>
            <a:endParaRPr b="0" i="0" sz="5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19" name="Google Shape;1019;p26"/>
          <p:cNvSpPr/>
          <p:nvPr/>
        </p:nvSpPr>
        <p:spPr>
          <a:xfrm>
            <a:off x="1934008" y="2558034"/>
            <a:ext cx="3381300" cy="836700"/>
          </a:xfrm>
          <a:prstGeom prst="roundRect">
            <a:avLst>
              <a:gd fmla="val 9836" name="adj"/>
            </a:avLst>
          </a:prstGeom>
          <a:solidFill>
            <a:srgbClr val="FFFFFF"/>
          </a:solidFill>
          <a:ln cap="flat" cmpd="sng" w="8575">
            <a:solidFill>
              <a:srgbClr val="B91C1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20" name="Google Shape;1020;p26"/>
          <p:cNvSpPr/>
          <p:nvPr/>
        </p:nvSpPr>
        <p:spPr>
          <a:xfrm>
            <a:off x="1934008" y="2558034"/>
            <a:ext cx="3381300" cy="185100"/>
          </a:xfrm>
          <a:prstGeom prst="roundRect">
            <a:avLst>
              <a:gd fmla="val 37037" name="adj"/>
            </a:avLst>
          </a:prstGeom>
          <a:solidFill>
            <a:srgbClr val="B91C1C"/>
          </a:solidFill>
          <a:ln cap="flat" cmpd="sng" w="9525">
            <a:solidFill>
              <a:srgbClr val="B91C1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21" name="Google Shape;1021;p26"/>
          <p:cNvSpPr/>
          <p:nvPr/>
        </p:nvSpPr>
        <p:spPr>
          <a:xfrm>
            <a:off x="2167186" y="2578608"/>
            <a:ext cx="3093000" cy="12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200" lIns="200" spcFirstLastPara="1" rIns="200" wrap="square" tIns="2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600"/>
              <a:buFont typeface="Arial"/>
              <a:buNone/>
            </a:pPr>
            <a:r>
              <a:rPr b="1" i="0" lang="fr" sz="6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Optimisation parcours picking</a:t>
            </a:r>
            <a:endParaRPr b="0" i="0" sz="6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22" name="Google Shape;1022;p26"/>
          <p:cNvSpPr/>
          <p:nvPr/>
        </p:nvSpPr>
        <p:spPr>
          <a:xfrm>
            <a:off x="1961440" y="2578608"/>
            <a:ext cx="164700" cy="116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200" lIns="200" spcFirstLastPara="1" rIns="200" wrap="square" tIns="2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700"/>
              <a:buFont typeface="Quattrocento Sans"/>
              <a:buNone/>
            </a:pPr>
            <a:r>
              <a:rPr b="0" i="0" lang="fr" sz="700" u="none" cap="none" strike="noStrike">
                <a:solidFill>
                  <a:srgbClr val="FFFFFF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🗺️</a:t>
            </a:r>
            <a:endParaRPr b="0" i="0" sz="7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23" name="Google Shape;1023;p26"/>
          <p:cNvSpPr/>
          <p:nvPr/>
        </p:nvSpPr>
        <p:spPr>
          <a:xfrm>
            <a:off x="4814444" y="2770632"/>
            <a:ext cx="438900" cy="123600"/>
          </a:xfrm>
          <a:prstGeom prst="roundRect">
            <a:avLst>
              <a:gd fmla="val 66667" name="adj"/>
            </a:avLst>
          </a:prstGeom>
          <a:solidFill>
            <a:srgbClr val="FDECEC"/>
          </a:solidFill>
          <a:ln cap="flat" cmpd="sng" w="8575">
            <a:solidFill>
              <a:srgbClr val="B91C1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24" name="Google Shape;1024;p26"/>
          <p:cNvSpPr/>
          <p:nvPr/>
        </p:nvSpPr>
        <p:spPr>
          <a:xfrm>
            <a:off x="4841877" y="2770632"/>
            <a:ext cx="384000" cy="12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200" lIns="200" spcFirstLastPara="1" rIns="200" wrap="square" tIns="2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B91C1C"/>
              </a:buClr>
              <a:buSzPts val="400"/>
              <a:buFont typeface="Arial"/>
              <a:buNone/>
            </a:pPr>
            <a:r>
              <a:rPr b="1" i="0" lang="fr" sz="400" u="none" cap="none" strike="noStrike">
                <a:solidFill>
                  <a:srgbClr val="B91C1C"/>
                </a:solidFill>
                <a:latin typeface="Arial"/>
                <a:ea typeface="Arial"/>
                <a:cs typeface="Arial"/>
                <a:sym typeface="Arial"/>
              </a:rPr>
              <a:t>Optimisation</a:t>
            </a:r>
            <a:endParaRPr b="0" i="0" sz="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25" name="Google Shape;1025;p26"/>
          <p:cNvSpPr/>
          <p:nvPr/>
        </p:nvSpPr>
        <p:spPr>
          <a:xfrm>
            <a:off x="2023164" y="2894076"/>
            <a:ext cx="3216600" cy="150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200" lIns="200" spcFirstLastPara="1" rIns="200" wrap="square" tIns="2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11827"/>
              </a:buClr>
              <a:buSzPts val="500"/>
              <a:buFont typeface="Arial"/>
              <a:buNone/>
            </a:pPr>
            <a:r>
              <a:rPr b="1" i="0" lang="fr" sz="500" u="none" cap="none" strike="noStrike">
                <a:solidFill>
                  <a:srgbClr val="111827"/>
                </a:solidFill>
                <a:latin typeface="Arial"/>
                <a:ea typeface="Arial"/>
                <a:cs typeface="Arial"/>
                <a:sym typeface="Arial"/>
              </a:rPr>
              <a:t>Moyens : </a:t>
            </a:r>
            <a:r>
              <a:rPr b="0" i="0" lang="fr" sz="500" u="none" cap="none" strike="noStrike">
                <a:solidFill>
                  <a:srgbClr val="111827"/>
                </a:solidFill>
                <a:latin typeface="Arial"/>
                <a:ea typeface="Arial"/>
                <a:cs typeface="Arial"/>
                <a:sym typeface="Arial"/>
              </a:rPr>
              <a:t>Carte entrepôt, liste tâches, contraintes allées</a:t>
            </a:r>
            <a:endParaRPr b="0" i="0" sz="5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26" name="Google Shape;1026;p26"/>
          <p:cNvSpPr/>
          <p:nvPr/>
        </p:nvSpPr>
        <p:spPr>
          <a:xfrm>
            <a:off x="2023164" y="3065526"/>
            <a:ext cx="3216600" cy="157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200" lIns="200" spcFirstLastPara="1" rIns="200" wrap="square" tIns="2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11827"/>
              </a:buClr>
              <a:buSzPts val="500"/>
              <a:buFont typeface="Arial"/>
              <a:buNone/>
            </a:pPr>
            <a:r>
              <a:rPr b="1" i="0" lang="fr" sz="500" u="none" cap="none" strike="noStrike">
                <a:solidFill>
                  <a:srgbClr val="111827"/>
                </a:solidFill>
                <a:latin typeface="Arial"/>
                <a:ea typeface="Arial"/>
                <a:cs typeface="Arial"/>
                <a:sym typeface="Arial"/>
              </a:rPr>
              <a:t>Workflow : </a:t>
            </a:r>
            <a:r>
              <a:rPr b="0" i="0" lang="fr" sz="500" u="none" cap="none" strike="noStrike">
                <a:solidFill>
                  <a:srgbClr val="111827"/>
                </a:solidFill>
                <a:latin typeface="Arial"/>
                <a:ea typeface="Arial"/>
                <a:cs typeface="Arial"/>
                <a:sym typeface="Arial"/>
              </a:rPr>
              <a:t>Liste picking → séquence optimale → tournée courte</a:t>
            </a:r>
            <a:endParaRPr b="0" i="0" sz="5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27" name="Google Shape;1027;p26"/>
          <p:cNvSpPr/>
          <p:nvPr/>
        </p:nvSpPr>
        <p:spPr>
          <a:xfrm>
            <a:off x="2023164" y="3243834"/>
            <a:ext cx="3216600" cy="137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200" lIns="200" spcFirstLastPara="1" rIns="200" wrap="square" tIns="2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11827"/>
              </a:buClr>
              <a:buSzPts val="500"/>
              <a:buFont typeface="Arial"/>
              <a:buNone/>
            </a:pPr>
            <a:r>
              <a:rPr b="1" i="0" lang="fr" sz="500" u="none" cap="none" strike="noStrike">
                <a:solidFill>
                  <a:srgbClr val="111827"/>
                </a:solidFill>
                <a:latin typeface="Arial"/>
                <a:ea typeface="Arial"/>
                <a:cs typeface="Arial"/>
                <a:sym typeface="Arial"/>
              </a:rPr>
              <a:t>Bénéfice : </a:t>
            </a:r>
            <a:r>
              <a:rPr b="0" i="0" lang="fr" sz="500" u="none" cap="none" strike="noStrike">
                <a:solidFill>
                  <a:srgbClr val="111827"/>
                </a:solidFill>
                <a:latin typeface="Arial"/>
                <a:ea typeface="Arial"/>
                <a:cs typeface="Arial"/>
                <a:sym typeface="Arial"/>
              </a:rPr>
              <a:t>Moins de marche, préparation plus rapide</a:t>
            </a:r>
            <a:endParaRPr b="0" i="0" sz="5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28" name="Google Shape;1028;p26"/>
          <p:cNvSpPr/>
          <p:nvPr/>
        </p:nvSpPr>
        <p:spPr>
          <a:xfrm>
            <a:off x="5465972" y="2558034"/>
            <a:ext cx="3381300" cy="836700"/>
          </a:xfrm>
          <a:prstGeom prst="roundRect">
            <a:avLst>
              <a:gd fmla="val 9836" name="adj"/>
            </a:avLst>
          </a:prstGeom>
          <a:solidFill>
            <a:srgbClr val="FFFFFF"/>
          </a:solidFill>
          <a:ln cap="flat" cmpd="sng" w="8575">
            <a:solidFill>
              <a:srgbClr val="B91C1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29" name="Google Shape;1029;p26"/>
          <p:cNvSpPr/>
          <p:nvPr/>
        </p:nvSpPr>
        <p:spPr>
          <a:xfrm>
            <a:off x="5465972" y="2558034"/>
            <a:ext cx="3381300" cy="185100"/>
          </a:xfrm>
          <a:prstGeom prst="roundRect">
            <a:avLst>
              <a:gd fmla="val 37037" name="adj"/>
            </a:avLst>
          </a:prstGeom>
          <a:solidFill>
            <a:srgbClr val="B91C1C"/>
          </a:solidFill>
          <a:ln cap="flat" cmpd="sng" w="9525">
            <a:solidFill>
              <a:srgbClr val="B91C1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30" name="Google Shape;1030;p26"/>
          <p:cNvSpPr/>
          <p:nvPr/>
        </p:nvSpPr>
        <p:spPr>
          <a:xfrm>
            <a:off x="5699150" y="2578608"/>
            <a:ext cx="3093000" cy="12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200" lIns="200" spcFirstLastPara="1" rIns="200" wrap="square" tIns="2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600"/>
              <a:buFont typeface="Arial"/>
              <a:buNone/>
            </a:pPr>
            <a:r>
              <a:rPr b="1" i="0" lang="fr" sz="6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Contrôle picking par poids / vision</a:t>
            </a:r>
            <a:endParaRPr b="0" i="0" sz="6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31" name="Google Shape;1031;p26"/>
          <p:cNvSpPr/>
          <p:nvPr/>
        </p:nvSpPr>
        <p:spPr>
          <a:xfrm>
            <a:off x="5493404" y="2578608"/>
            <a:ext cx="164700" cy="116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200" lIns="200" spcFirstLastPara="1" rIns="200" wrap="square" tIns="2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700"/>
              <a:buFont typeface="Quattrocento Sans"/>
              <a:buNone/>
            </a:pPr>
            <a:r>
              <a:rPr b="0" i="0" lang="fr" sz="700" u="none" cap="none" strike="noStrike">
                <a:solidFill>
                  <a:srgbClr val="FFFFFF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⚖️</a:t>
            </a:r>
            <a:endParaRPr b="0" i="0" sz="7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32" name="Google Shape;1032;p26"/>
          <p:cNvSpPr/>
          <p:nvPr/>
        </p:nvSpPr>
        <p:spPr>
          <a:xfrm>
            <a:off x="8346408" y="2770632"/>
            <a:ext cx="438900" cy="123600"/>
          </a:xfrm>
          <a:prstGeom prst="roundRect">
            <a:avLst>
              <a:gd fmla="val 66667" name="adj"/>
            </a:avLst>
          </a:prstGeom>
          <a:solidFill>
            <a:srgbClr val="FDECEC"/>
          </a:solidFill>
          <a:ln cap="flat" cmpd="sng" w="8575">
            <a:solidFill>
              <a:srgbClr val="B91C1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33" name="Google Shape;1033;p26"/>
          <p:cNvSpPr/>
          <p:nvPr/>
        </p:nvSpPr>
        <p:spPr>
          <a:xfrm>
            <a:off x="8373841" y="2770632"/>
            <a:ext cx="384000" cy="12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200" lIns="200" spcFirstLastPara="1" rIns="200" wrap="square" tIns="2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B91C1C"/>
              </a:buClr>
              <a:buSzPts val="400"/>
              <a:buFont typeface="Arial"/>
              <a:buNone/>
            </a:pPr>
            <a:r>
              <a:rPr b="1" i="0" lang="fr" sz="400" u="none" cap="none" strike="noStrike">
                <a:solidFill>
                  <a:srgbClr val="B91C1C"/>
                </a:solidFill>
                <a:latin typeface="Arial"/>
                <a:ea typeface="Arial"/>
                <a:cs typeface="Arial"/>
                <a:sym typeface="Arial"/>
              </a:rPr>
              <a:t>Scan + vision</a:t>
            </a:r>
            <a:endParaRPr b="0" i="0" sz="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34" name="Google Shape;1034;p26"/>
          <p:cNvSpPr/>
          <p:nvPr/>
        </p:nvSpPr>
        <p:spPr>
          <a:xfrm>
            <a:off x="5555128" y="2894076"/>
            <a:ext cx="3216600" cy="150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200" lIns="200" spcFirstLastPara="1" rIns="200" wrap="square" tIns="2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11827"/>
              </a:buClr>
              <a:buSzPts val="500"/>
              <a:buFont typeface="Arial"/>
              <a:buNone/>
            </a:pPr>
            <a:r>
              <a:rPr b="1" i="0" lang="fr" sz="500" u="none" cap="none" strike="noStrike">
                <a:solidFill>
                  <a:srgbClr val="111827"/>
                </a:solidFill>
                <a:latin typeface="Arial"/>
                <a:ea typeface="Arial"/>
                <a:cs typeface="Arial"/>
                <a:sym typeface="Arial"/>
              </a:rPr>
              <a:t>Moyens : </a:t>
            </a:r>
            <a:r>
              <a:rPr b="0" i="0" lang="fr" sz="500" u="none" cap="none" strike="noStrike">
                <a:solidFill>
                  <a:srgbClr val="111827"/>
                </a:solidFill>
                <a:latin typeface="Arial"/>
                <a:ea typeface="Arial"/>
                <a:cs typeface="Arial"/>
                <a:sym typeface="Arial"/>
              </a:rPr>
              <a:t>Balance, caméra, scan produit/emplacement</a:t>
            </a:r>
            <a:endParaRPr b="0" i="0" sz="5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35" name="Google Shape;1035;p26"/>
          <p:cNvSpPr/>
          <p:nvPr/>
        </p:nvSpPr>
        <p:spPr>
          <a:xfrm>
            <a:off x="5555128" y="3065526"/>
            <a:ext cx="3216600" cy="157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200" lIns="200" spcFirstLastPara="1" rIns="200" wrap="square" tIns="2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11827"/>
              </a:buClr>
              <a:buSzPts val="500"/>
              <a:buFont typeface="Arial"/>
              <a:buNone/>
            </a:pPr>
            <a:r>
              <a:rPr b="1" i="0" lang="fr" sz="500" u="none" cap="none" strike="noStrike">
                <a:solidFill>
                  <a:srgbClr val="111827"/>
                </a:solidFill>
                <a:latin typeface="Arial"/>
                <a:ea typeface="Arial"/>
                <a:cs typeface="Arial"/>
                <a:sym typeface="Arial"/>
              </a:rPr>
              <a:t>Workflow : </a:t>
            </a:r>
            <a:r>
              <a:rPr b="0" i="0" lang="fr" sz="500" u="none" cap="none" strike="noStrike">
                <a:solidFill>
                  <a:srgbClr val="111827"/>
                </a:solidFill>
                <a:latin typeface="Arial"/>
                <a:ea typeface="Arial"/>
                <a:cs typeface="Arial"/>
                <a:sym typeface="Arial"/>
              </a:rPr>
              <a:t>Produit pris → contrôle poids/image → alerte écart</a:t>
            </a:r>
            <a:endParaRPr b="0" i="0" sz="5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36" name="Google Shape;1036;p26"/>
          <p:cNvSpPr/>
          <p:nvPr/>
        </p:nvSpPr>
        <p:spPr>
          <a:xfrm>
            <a:off x="5555128" y="3243834"/>
            <a:ext cx="3216600" cy="137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200" lIns="200" spcFirstLastPara="1" rIns="200" wrap="square" tIns="2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11827"/>
              </a:buClr>
              <a:buSzPts val="500"/>
              <a:buFont typeface="Arial"/>
              <a:buNone/>
            </a:pPr>
            <a:r>
              <a:rPr b="1" i="0" lang="fr" sz="500" u="none" cap="none" strike="noStrike">
                <a:solidFill>
                  <a:srgbClr val="111827"/>
                </a:solidFill>
                <a:latin typeface="Arial"/>
                <a:ea typeface="Arial"/>
                <a:cs typeface="Arial"/>
                <a:sym typeface="Arial"/>
              </a:rPr>
              <a:t>Bénéfice : </a:t>
            </a:r>
            <a:r>
              <a:rPr b="0" i="0" lang="fr" sz="500" u="none" cap="none" strike="noStrike">
                <a:solidFill>
                  <a:srgbClr val="111827"/>
                </a:solidFill>
                <a:latin typeface="Arial"/>
                <a:ea typeface="Arial"/>
                <a:cs typeface="Arial"/>
                <a:sym typeface="Arial"/>
              </a:rPr>
              <a:t>Réduction erreurs avant packing</a:t>
            </a:r>
            <a:endParaRPr b="0" i="0" sz="5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37" name="Google Shape;1037;p26"/>
          <p:cNvSpPr/>
          <p:nvPr/>
        </p:nvSpPr>
        <p:spPr>
          <a:xfrm>
            <a:off x="1934008" y="3483864"/>
            <a:ext cx="3381300" cy="836700"/>
          </a:xfrm>
          <a:prstGeom prst="roundRect">
            <a:avLst>
              <a:gd fmla="val 9836" name="adj"/>
            </a:avLst>
          </a:prstGeom>
          <a:solidFill>
            <a:srgbClr val="FFFFFF"/>
          </a:solidFill>
          <a:ln cap="flat" cmpd="sng" w="8575">
            <a:solidFill>
              <a:srgbClr val="B91C1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38" name="Google Shape;1038;p26"/>
          <p:cNvSpPr/>
          <p:nvPr/>
        </p:nvSpPr>
        <p:spPr>
          <a:xfrm>
            <a:off x="1934008" y="3483864"/>
            <a:ext cx="3381300" cy="185100"/>
          </a:xfrm>
          <a:prstGeom prst="roundRect">
            <a:avLst>
              <a:gd fmla="val 37037" name="adj"/>
            </a:avLst>
          </a:prstGeom>
          <a:solidFill>
            <a:srgbClr val="B91C1C"/>
          </a:solidFill>
          <a:ln cap="flat" cmpd="sng" w="9525">
            <a:solidFill>
              <a:srgbClr val="B91C1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39" name="Google Shape;1039;p26"/>
          <p:cNvSpPr/>
          <p:nvPr/>
        </p:nvSpPr>
        <p:spPr>
          <a:xfrm>
            <a:off x="2167186" y="3504438"/>
            <a:ext cx="3093000" cy="12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200" lIns="200" spcFirstLastPara="1" rIns="200" wrap="square" tIns="2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600"/>
              <a:buFont typeface="Arial"/>
              <a:buNone/>
            </a:pPr>
            <a:r>
              <a:rPr b="1" i="0" lang="fr" sz="6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Emballage recommandé automatiquement</a:t>
            </a:r>
            <a:endParaRPr b="0" i="0" sz="6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40" name="Google Shape;1040;p26"/>
          <p:cNvSpPr/>
          <p:nvPr/>
        </p:nvSpPr>
        <p:spPr>
          <a:xfrm>
            <a:off x="1961440" y="3504438"/>
            <a:ext cx="164700" cy="116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200" lIns="200" spcFirstLastPara="1" rIns="200" wrap="square" tIns="2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700"/>
              <a:buFont typeface="Quattrocento Sans"/>
              <a:buNone/>
            </a:pPr>
            <a:r>
              <a:rPr b="0" i="0" lang="fr" sz="700" u="none" cap="none" strike="noStrike">
                <a:solidFill>
                  <a:srgbClr val="FFFFFF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📦</a:t>
            </a:r>
            <a:endParaRPr b="0" i="0" sz="7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41" name="Google Shape;1041;p26"/>
          <p:cNvSpPr/>
          <p:nvPr/>
        </p:nvSpPr>
        <p:spPr>
          <a:xfrm>
            <a:off x="4814444" y="3696462"/>
            <a:ext cx="438900" cy="123600"/>
          </a:xfrm>
          <a:prstGeom prst="roundRect">
            <a:avLst>
              <a:gd fmla="val 66667" name="adj"/>
            </a:avLst>
          </a:prstGeom>
          <a:solidFill>
            <a:srgbClr val="FDECEC"/>
          </a:solidFill>
          <a:ln cap="flat" cmpd="sng" w="8575">
            <a:solidFill>
              <a:srgbClr val="B91C1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42" name="Google Shape;1042;p26"/>
          <p:cNvSpPr/>
          <p:nvPr/>
        </p:nvSpPr>
        <p:spPr>
          <a:xfrm>
            <a:off x="4841877" y="3696462"/>
            <a:ext cx="384000" cy="12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200" lIns="200" spcFirstLastPara="1" rIns="200" wrap="square" tIns="2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B91C1C"/>
              </a:buClr>
              <a:buSzPts val="400"/>
              <a:buFont typeface="Arial"/>
              <a:buNone/>
            </a:pPr>
            <a:r>
              <a:rPr b="1" i="0" lang="fr" sz="400" u="none" cap="none" strike="noStrike">
                <a:solidFill>
                  <a:srgbClr val="B91C1C"/>
                </a:solidFill>
                <a:latin typeface="Arial"/>
                <a:ea typeface="Arial"/>
                <a:cs typeface="Arial"/>
                <a:sym typeface="Arial"/>
              </a:rPr>
              <a:t>ML / règles</a:t>
            </a:r>
            <a:endParaRPr b="0" i="0" sz="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43" name="Google Shape;1043;p26"/>
          <p:cNvSpPr/>
          <p:nvPr/>
        </p:nvSpPr>
        <p:spPr>
          <a:xfrm>
            <a:off x="2023164" y="3819906"/>
            <a:ext cx="3216600" cy="150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200" lIns="200" spcFirstLastPara="1" rIns="200" wrap="square" tIns="2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11827"/>
              </a:buClr>
              <a:buSzPts val="500"/>
              <a:buFont typeface="Arial"/>
              <a:buNone/>
            </a:pPr>
            <a:r>
              <a:rPr b="1" i="0" lang="fr" sz="500" u="none" cap="none" strike="noStrike">
                <a:solidFill>
                  <a:srgbClr val="111827"/>
                </a:solidFill>
                <a:latin typeface="Arial"/>
                <a:ea typeface="Arial"/>
                <a:cs typeface="Arial"/>
                <a:sym typeface="Arial"/>
              </a:rPr>
              <a:t>Moyens : </a:t>
            </a:r>
            <a:r>
              <a:rPr b="0" i="0" lang="fr" sz="500" u="none" cap="none" strike="noStrike">
                <a:solidFill>
                  <a:srgbClr val="111827"/>
                </a:solidFill>
                <a:latin typeface="Arial"/>
                <a:ea typeface="Arial"/>
                <a:cs typeface="Arial"/>
                <a:sym typeface="Arial"/>
              </a:rPr>
              <a:t>Dimensions, poids, fragilité, historique casse</a:t>
            </a:r>
            <a:endParaRPr b="0" i="0" sz="5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44" name="Google Shape;1044;p26"/>
          <p:cNvSpPr/>
          <p:nvPr/>
        </p:nvSpPr>
        <p:spPr>
          <a:xfrm>
            <a:off x="2023164" y="3991356"/>
            <a:ext cx="3216600" cy="157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200" lIns="200" spcFirstLastPara="1" rIns="200" wrap="square" tIns="2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11827"/>
              </a:buClr>
              <a:buSzPts val="500"/>
              <a:buFont typeface="Arial"/>
              <a:buNone/>
            </a:pPr>
            <a:r>
              <a:rPr b="1" i="0" lang="fr" sz="500" u="none" cap="none" strike="noStrike">
                <a:solidFill>
                  <a:srgbClr val="111827"/>
                </a:solidFill>
                <a:latin typeface="Arial"/>
                <a:ea typeface="Arial"/>
                <a:cs typeface="Arial"/>
                <a:sym typeface="Arial"/>
              </a:rPr>
              <a:t>Workflow : </a:t>
            </a:r>
            <a:r>
              <a:rPr b="0" i="0" lang="fr" sz="500" u="none" cap="none" strike="noStrike">
                <a:solidFill>
                  <a:srgbClr val="111827"/>
                </a:solidFill>
                <a:latin typeface="Arial"/>
                <a:ea typeface="Arial"/>
                <a:cs typeface="Arial"/>
                <a:sym typeface="Arial"/>
              </a:rPr>
              <a:t>Articles → carton conseillé → validation packing</a:t>
            </a:r>
            <a:endParaRPr b="0" i="0" sz="5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45" name="Google Shape;1045;p26"/>
          <p:cNvSpPr/>
          <p:nvPr/>
        </p:nvSpPr>
        <p:spPr>
          <a:xfrm>
            <a:off x="2023164" y="4169664"/>
            <a:ext cx="3216600" cy="137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200" lIns="200" spcFirstLastPara="1" rIns="200" wrap="square" tIns="2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11827"/>
              </a:buClr>
              <a:buSzPts val="500"/>
              <a:buFont typeface="Arial"/>
              <a:buNone/>
            </a:pPr>
            <a:r>
              <a:rPr b="1" i="0" lang="fr" sz="500" u="none" cap="none" strike="noStrike">
                <a:solidFill>
                  <a:srgbClr val="111827"/>
                </a:solidFill>
                <a:latin typeface="Arial"/>
                <a:ea typeface="Arial"/>
                <a:cs typeface="Arial"/>
                <a:sym typeface="Arial"/>
              </a:rPr>
              <a:t>Bénéfice : </a:t>
            </a:r>
            <a:r>
              <a:rPr b="0" i="0" lang="fr" sz="500" u="none" cap="none" strike="noStrike">
                <a:solidFill>
                  <a:srgbClr val="111827"/>
                </a:solidFill>
                <a:latin typeface="Arial"/>
                <a:ea typeface="Arial"/>
                <a:cs typeface="Arial"/>
                <a:sym typeface="Arial"/>
              </a:rPr>
              <a:t>Moins de casse et coût emballage réduit</a:t>
            </a:r>
            <a:endParaRPr b="0" i="0" sz="5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46" name="Google Shape;1046;p26"/>
          <p:cNvSpPr/>
          <p:nvPr/>
        </p:nvSpPr>
        <p:spPr>
          <a:xfrm>
            <a:off x="5465972" y="3483864"/>
            <a:ext cx="3381300" cy="836700"/>
          </a:xfrm>
          <a:prstGeom prst="roundRect">
            <a:avLst>
              <a:gd fmla="val 9836" name="adj"/>
            </a:avLst>
          </a:prstGeom>
          <a:solidFill>
            <a:srgbClr val="FFFFFF"/>
          </a:solidFill>
          <a:ln cap="flat" cmpd="sng" w="8575">
            <a:solidFill>
              <a:srgbClr val="B91C1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47" name="Google Shape;1047;p26"/>
          <p:cNvSpPr/>
          <p:nvPr/>
        </p:nvSpPr>
        <p:spPr>
          <a:xfrm>
            <a:off x="5465972" y="3483864"/>
            <a:ext cx="3381300" cy="185100"/>
          </a:xfrm>
          <a:prstGeom prst="roundRect">
            <a:avLst>
              <a:gd fmla="val 37037" name="adj"/>
            </a:avLst>
          </a:prstGeom>
          <a:solidFill>
            <a:srgbClr val="B91C1C"/>
          </a:solidFill>
          <a:ln cap="flat" cmpd="sng" w="9525">
            <a:solidFill>
              <a:srgbClr val="B91C1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48" name="Google Shape;1048;p26"/>
          <p:cNvSpPr/>
          <p:nvPr/>
        </p:nvSpPr>
        <p:spPr>
          <a:xfrm>
            <a:off x="5699150" y="3504438"/>
            <a:ext cx="3093000" cy="12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200" lIns="200" spcFirstLastPara="1" rIns="200" wrap="square" tIns="2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600"/>
              <a:buFont typeface="Arial"/>
              <a:buNone/>
            </a:pPr>
            <a:r>
              <a:rPr b="1" i="0" lang="fr" sz="6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Chargement camion contrôlé</a:t>
            </a:r>
            <a:endParaRPr b="0" i="0" sz="6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49" name="Google Shape;1049;p26"/>
          <p:cNvSpPr/>
          <p:nvPr/>
        </p:nvSpPr>
        <p:spPr>
          <a:xfrm>
            <a:off x="5493404" y="3504438"/>
            <a:ext cx="164700" cy="116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200" lIns="200" spcFirstLastPara="1" rIns="200" wrap="square" tIns="2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700"/>
              <a:buFont typeface="Quattrocento Sans"/>
              <a:buNone/>
            </a:pPr>
            <a:r>
              <a:rPr b="0" i="0" lang="fr" sz="700" u="none" cap="none" strike="noStrike">
                <a:solidFill>
                  <a:srgbClr val="FFFFFF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🚚</a:t>
            </a:r>
            <a:endParaRPr b="0" i="0" sz="7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50" name="Google Shape;1050;p26"/>
          <p:cNvSpPr/>
          <p:nvPr/>
        </p:nvSpPr>
        <p:spPr>
          <a:xfrm>
            <a:off x="8346408" y="3696462"/>
            <a:ext cx="438900" cy="123600"/>
          </a:xfrm>
          <a:prstGeom prst="roundRect">
            <a:avLst>
              <a:gd fmla="val 66667" name="adj"/>
            </a:avLst>
          </a:prstGeom>
          <a:solidFill>
            <a:srgbClr val="FDECEC"/>
          </a:solidFill>
          <a:ln cap="flat" cmpd="sng" w="8575">
            <a:solidFill>
              <a:srgbClr val="B91C1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51" name="Google Shape;1051;p26"/>
          <p:cNvSpPr/>
          <p:nvPr/>
        </p:nvSpPr>
        <p:spPr>
          <a:xfrm>
            <a:off x="8373841" y="3696462"/>
            <a:ext cx="384000" cy="12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200" lIns="200" spcFirstLastPara="1" rIns="200" wrap="square" tIns="2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B91C1C"/>
              </a:buClr>
              <a:buSzPts val="400"/>
              <a:buFont typeface="Arial"/>
              <a:buNone/>
            </a:pPr>
            <a:r>
              <a:rPr b="1" i="0" lang="fr" sz="400" u="none" cap="none" strike="noStrike">
                <a:solidFill>
                  <a:srgbClr val="B91C1C"/>
                </a:solidFill>
                <a:latin typeface="Arial"/>
                <a:ea typeface="Arial"/>
                <a:cs typeface="Arial"/>
                <a:sym typeface="Arial"/>
              </a:rPr>
              <a:t>Scan / caméra</a:t>
            </a:r>
            <a:endParaRPr b="0" i="0" sz="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52" name="Google Shape;1052;p26"/>
          <p:cNvSpPr/>
          <p:nvPr/>
        </p:nvSpPr>
        <p:spPr>
          <a:xfrm>
            <a:off x="5555128" y="3819906"/>
            <a:ext cx="3216600" cy="150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200" lIns="200" spcFirstLastPara="1" rIns="200" wrap="square" tIns="2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11827"/>
              </a:buClr>
              <a:buSzPts val="500"/>
              <a:buFont typeface="Arial"/>
              <a:buNone/>
            </a:pPr>
            <a:r>
              <a:rPr b="1" i="0" lang="fr" sz="500" u="none" cap="none" strike="noStrike">
                <a:solidFill>
                  <a:srgbClr val="111827"/>
                </a:solidFill>
                <a:latin typeface="Arial"/>
                <a:ea typeface="Arial"/>
                <a:cs typeface="Arial"/>
                <a:sym typeface="Arial"/>
              </a:rPr>
              <a:t>Moyens : </a:t>
            </a:r>
            <a:r>
              <a:rPr b="0" i="0" lang="fr" sz="500" u="none" cap="none" strike="noStrike">
                <a:solidFill>
                  <a:srgbClr val="111827"/>
                </a:solidFill>
                <a:latin typeface="Arial"/>
                <a:ea typeface="Arial"/>
                <a:cs typeface="Arial"/>
                <a:sym typeface="Arial"/>
              </a:rPr>
              <a:t>Scan dock, caméra quai, preuve de chargement</a:t>
            </a:r>
            <a:endParaRPr b="0" i="0" sz="5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53" name="Google Shape;1053;p26"/>
          <p:cNvSpPr/>
          <p:nvPr/>
        </p:nvSpPr>
        <p:spPr>
          <a:xfrm>
            <a:off x="5555128" y="3991356"/>
            <a:ext cx="3216600" cy="157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200" lIns="200" spcFirstLastPara="1" rIns="200" wrap="square" tIns="2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11827"/>
              </a:buClr>
              <a:buSzPts val="500"/>
              <a:buFont typeface="Arial"/>
              <a:buNone/>
            </a:pPr>
            <a:r>
              <a:rPr b="1" i="0" lang="fr" sz="500" u="none" cap="none" strike="noStrike">
                <a:solidFill>
                  <a:srgbClr val="111827"/>
                </a:solidFill>
                <a:latin typeface="Arial"/>
                <a:ea typeface="Arial"/>
                <a:cs typeface="Arial"/>
                <a:sym typeface="Arial"/>
              </a:rPr>
              <a:t>Workflow : </a:t>
            </a:r>
            <a:r>
              <a:rPr b="0" i="0" lang="fr" sz="500" u="none" cap="none" strike="noStrike">
                <a:solidFill>
                  <a:srgbClr val="111827"/>
                </a:solidFill>
                <a:latin typeface="Arial"/>
                <a:ea typeface="Arial"/>
                <a:cs typeface="Arial"/>
                <a:sym typeface="Arial"/>
              </a:rPr>
              <a:t>Palette → scan camion → contrôle livraison → départ</a:t>
            </a:r>
            <a:endParaRPr b="0" i="0" sz="5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54" name="Google Shape;1054;p26"/>
          <p:cNvSpPr/>
          <p:nvPr/>
        </p:nvSpPr>
        <p:spPr>
          <a:xfrm>
            <a:off x="5555128" y="4169664"/>
            <a:ext cx="3216600" cy="137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200" lIns="200" spcFirstLastPara="1" rIns="200" wrap="square" tIns="2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11827"/>
              </a:buClr>
              <a:buSzPts val="500"/>
              <a:buFont typeface="Arial"/>
              <a:buNone/>
            </a:pPr>
            <a:r>
              <a:rPr b="1" i="0" lang="fr" sz="500" u="none" cap="none" strike="noStrike">
                <a:solidFill>
                  <a:srgbClr val="111827"/>
                </a:solidFill>
                <a:latin typeface="Arial"/>
                <a:ea typeface="Arial"/>
                <a:cs typeface="Arial"/>
                <a:sym typeface="Arial"/>
              </a:rPr>
              <a:t>Bénéfice : </a:t>
            </a:r>
            <a:r>
              <a:rPr b="0" i="0" lang="fr" sz="500" u="none" cap="none" strike="noStrike">
                <a:solidFill>
                  <a:srgbClr val="111827"/>
                </a:solidFill>
                <a:latin typeface="Arial"/>
                <a:ea typeface="Arial"/>
                <a:cs typeface="Arial"/>
                <a:sym typeface="Arial"/>
              </a:rPr>
              <a:t>Moins d’erreurs d’expédition et meilleure preuve</a:t>
            </a:r>
            <a:endParaRPr b="0" i="0" sz="5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55" name="Google Shape;1055;p26"/>
          <p:cNvSpPr/>
          <p:nvPr/>
        </p:nvSpPr>
        <p:spPr>
          <a:xfrm>
            <a:off x="1934008" y="4491990"/>
            <a:ext cx="6960900" cy="459600"/>
          </a:xfrm>
          <a:prstGeom prst="roundRect">
            <a:avLst>
              <a:gd fmla="val 19403" name="adj"/>
            </a:avLst>
          </a:prstGeom>
          <a:solidFill>
            <a:srgbClr val="FDECEC"/>
          </a:solidFill>
          <a:ln cap="flat" cmpd="sng" w="8575">
            <a:solidFill>
              <a:srgbClr val="B91C1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56" name="Google Shape;1056;p26"/>
          <p:cNvSpPr/>
          <p:nvPr/>
        </p:nvSpPr>
        <p:spPr>
          <a:xfrm>
            <a:off x="2078029" y="4608576"/>
            <a:ext cx="6652500" cy="12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200" lIns="200" spcFirstLastPara="1" rIns="200" wrap="square" tIns="2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B376D"/>
              </a:buClr>
              <a:buSzPts val="600"/>
              <a:buFont typeface="Arial"/>
              <a:buNone/>
            </a:pPr>
            <a:r>
              <a:rPr b="1" i="0" lang="fr" sz="600" u="none" cap="none" strike="noStrike">
                <a:solidFill>
                  <a:srgbClr val="0B376D"/>
                </a:solidFill>
                <a:latin typeface="Arial"/>
                <a:ea typeface="Arial"/>
                <a:cs typeface="Arial"/>
                <a:sym typeface="Arial"/>
              </a:rPr>
              <a:t>Validation audit terrain : mesurer temps, erreurs, écarts stock, commandes à l’heure, productivité et coût de non-qualité</a:t>
            </a:r>
            <a:endParaRPr b="0" i="0" sz="6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57" name="Google Shape;1057;p26"/>
          <p:cNvSpPr txBox="1"/>
          <p:nvPr>
            <p:ph idx="4294967295" type="sldNum"/>
          </p:nvPr>
        </p:nvSpPr>
        <p:spPr>
          <a:xfrm>
            <a:off x="8607019" y="4896612"/>
            <a:ext cx="600000" cy="2250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0" i="0" lang="fr" sz="500" u="none" cap="none" strike="noStrike">
                <a:solidFill>
                  <a:srgbClr val="6B7280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b="0" i="0" sz="500" u="none" cap="none" strike="noStrike">
              <a:solidFill>
                <a:srgbClr val="6B728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